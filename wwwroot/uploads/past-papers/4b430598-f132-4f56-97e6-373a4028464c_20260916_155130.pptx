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96"/>
  </p:notesMasterIdLst>
  <p:sldIdLst>
    <p:sldId id="257" r:id="rId3"/>
    <p:sldId id="256" r:id="rId4"/>
    <p:sldId id="259" r:id="rId5"/>
    <p:sldId id="260" r:id="rId6"/>
    <p:sldId id="261" r:id="rId7"/>
    <p:sldId id="262" r:id="rId8"/>
    <p:sldId id="263" r:id="rId9"/>
    <p:sldId id="264" r:id="rId10"/>
    <p:sldId id="265" r:id="rId11"/>
    <p:sldId id="267" r:id="rId12"/>
    <p:sldId id="268" r:id="rId13"/>
    <p:sldId id="266" r:id="rId14"/>
    <p:sldId id="269" r:id="rId15"/>
    <p:sldId id="270" r:id="rId16"/>
    <p:sldId id="271"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8" r:id="rId90"/>
    <p:sldId id="347" r:id="rId91"/>
    <p:sldId id="349" r:id="rId92"/>
    <p:sldId id="350" r:id="rId93"/>
    <p:sldId id="346" r:id="rId94"/>
    <p:sldId id="351" r:id="rId9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d Mustakim" initials="MM" lastIdx="1" clrIdx="0">
    <p:extLst>
      <p:ext uri="{19B8F6BF-5375-455C-9EA6-DF929625EA0E}">
        <p15:presenceInfo xmlns:p15="http://schemas.microsoft.com/office/powerpoint/2012/main" userId="3ff0edb38d0de0f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F5FB"/>
    <a:srgbClr val="E7F0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667" autoAdjust="0"/>
  </p:normalViewPr>
  <p:slideViewPr>
    <p:cSldViewPr snapToGrid="0">
      <p:cViewPr varScale="1">
        <p:scale>
          <a:sx n="57" d="100"/>
          <a:sy n="57" d="100"/>
        </p:scale>
        <p:origin x="101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commentAuthors" Target="commentAuthor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presProps" Target="presProps.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54942C-513D-48C2-9FA7-7BD8922C4939}" type="datetimeFigureOut">
              <a:rPr lang="en-US" smtClean="0"/>
              <a:t>2/24/2026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99A6A1-EC6A-4FC3-A719-B2CE0A816128}" type="slidenum">
              <a:rPr lang="en-US" smtClean="0"/>
              <a:t>‹#›</a:t>
            </a:fld>
            <a:endParaRPr lang="en-US" dirty="0"/>
          </a:p>
        </p:txBody>
      </p:sp>
    </p:spTree>
    <p:extLst>
      <p:ext uri="{BB962C8B-B14F-4D97-AF65-F5344CB8AC3E}">
        <p14:creationId xmlns:p14="http://schemas.microsoft.com/office/powerpoint/2010/main" val="2959932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99A6A1-EC6A-4FC3-A719-B2CE0A816128}" type="slidenum">
              <a:rPr lang="en-US" smtClean="0"/>
              <a:t>62</a:t>
            </a:fld>
            <a:endParaRPr lang="en-US" dirty="0"/>
          </a:p>
        </p:txBody>
      </p:sp>
    </p:spTree>
    <p:extLst>
      <p:ext uri="{BB962C8B-B14F-4D97-AF65-F5344CB8AC3E}">
        <p14:creationId xmlns:p14="http://schemas.microsoft.com/office/powerpoint/2010/main" val="23226366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C0346A-B8F0-2ED9-FFA2-9178CE498389}"/>
              </a:ext>
            </a:extLst>
          </p:cNvPr>
          <p:cNvSpPr>
            <a:spLocks noGrp="1"/>
          </p:cNvSpPr>
          <p:nvPr>
            <p:ph idx="1"/>
          </p:nvPr>
        </p:nvSpPr>
        <p:spPr>
          <a:xfrm>
            <a:off x="838200" y="1880710"/>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6">
            <a:extLst>
              <a:ext uri="{FF2B5EF4-FFF2-40B4-BE49-F238E27FC236}">
                <a16:creationId xmlns:a16="http://schemas.microsoft.com/office/drawing/2014/main" id="{F0B54E8B-078B-8F6A-AFBC-96DE2135FB3C}"/>
              </a:ext>
            </a:extLst>
          </p:cNvPr>
          <p:cNvSpPr/>
          <p:nvPr userDrawn="1"/>
        </p:nvSpPr>
        <p:spPr>
          <a:xfrm>
            <a:off x="0" y="1"/>
            <a:ext cx="12192000" cy="1178804"/>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8" name="Picture 7">
            <a:extLst>
              <a:ext uri="{FF2B5EF4-FFF2-40B4-BE49-F238E27FC236}">
                <a16:creationId xmlns:a16="http://schemas.microsoft.com/office/drawing/2014/main" id="{DDF9A1DC-8194-37EB-C166-96360B5F1CCF}"/>
              </a:ext>
            </a:extLst>
          </p:cNvPr>
          <p:cNvPicPr>
            <a:picLocks noChangeAspect="1"/>
          </p:cNvPicPr>
          <p:nvPr userDrawn="1"/>
        </p:nvPicPr>
        <p:blipFill>
          <a:blip r:embed="rId2"/>
          <a:stretch>
            <a:fillRect/>
          </a:stretch>
        </p:blipFill>
        <p:spPr>
          <a:xfrm>
            <a:off x="10906699" y="136525"/>
            <a:ext cx="1135350" cy="1352959"/>
          </a:xfrm>
          <a:prstGeom prst="rect">
            <a:avLst/>
          </a:prstGeom>
        </p:spPr>
      </p:pic>
      <p:grpSp>
        <p:nvGrpSpPr>
          <p:cNvPr id="9" name="Group 5">
            <a:extLst>
              <a:ext uri="{FF2B5EF4-FFF2-40B4-BE49-F238E27FC236}">
                <a16:creationId xmlns:a16="http://schemas.microsoft.com/office/drawing/2014/main" id="{04814CB3-16A4-E698-55CA-D1C942D42AD8}"/>
              </a:ext>
            </a:extLst>
          </p:cNvPr>
          <p:cNvGrpSpPr/>
          <p:nvPr userDrawn="1"/>
        </p:nvGrpSpPr>
        <p:grpSpPr>
          <a:xfrm>
            <a:off x="-25399" y="-3538"/>
            <a:ext cx="1135350" cy="1178804"/>
            <a:chOff x="-52792" y="-79841"/>
            <a:chExt cx="2287992" cy="2087407"/>
          </a:xfrm>
        </p:grpSpPr>
        <p:sp>
          <p:nvSpPr>
            <p:cNvPr id="10" name="Freeform 6">
              <a:extLst>
                <a:ext uri="{FF2B5EF4-FFF2-40B4-BE49-F238E27FC236}">
                  <a16:creationId xmlns:a16="http://schemas.microsoft.com/office/drawing/2014/main" id="{7651DB4B-E640-FA98-86D3-FD24FCBAF25F}"/>
                </a:ext>
              </a:extLst>
            </p:cNvPr>
            <p:cNvSpPr/>
            <p:nvPr/>
          </p:nvSpPr>
          <p:spPr>
            <a:xfrm rot="10800000" flipH="1">
              <a:off x="455210" y="-79841"/>
              <a:ext cx="1779990" cy="2087407"/>
            </a:xfrm>
            <a:custGeom>
              <a:avLst/>
              <a:gdLst/>
              <a:ahLst/>
              <a:cxnLst/>
              <a:rect l="l" t="t" r="r" b="b"/>
              <a:pathLst>
                <a:path w="1779989" h="2087407">
                  <a:moveTo>
                    <a:pt x="1779989" y="0"/>
                  </a:moveTo>
                  <a:lnTo>
                    <a:pt x="0" y="0"/>
                  </a:lnTo>
                  <a:lnTo>
                    <a:pt x="0" y="2087407"/>
                  </a:lnTo>
                  <a:lnTo>
                    <a:pt x="1779989" y="2087407"/>
                  </a:lnTo>
                  <a:lnTo>
                    <a:pt x="1779989" y="0"/>
                  </a:lnTo>
                  <a:close/>
                </a:path>
              </a:pathLst>
            </a:custGeom>
            <a:blipFill>
              <a:blip r:embed="rId3">
                <a:alphaModFix amt="43999"/>
                <a:extLst>
                  <a:ext uri="{96DAC541-7B7A-43D3-8B79-37D633B846F1}">
                    <asvg:svgBlip xmlns:asvg="http://schemas.microsoft.com/office/drawing/2016/SVG/main" r:embed="rId4"/>
                  </a:ext>
                </a:extLst>
              </a:blip>
              <a:stretch>
                <a:fillRect/>
              </a:stretch>
            </a:blipFill>
          </p:spPr>
          <p:txBody>
            <a:bodyPr/>
            <a:lstStyle/>
            <a:p>
              <a:endParaRPr lang="en-GB" dirty="0"/>
            </a:p>
          </p:txBody>
        </p:sp>
        <p:sp>
          <p:nvSpPr>
            <p:cNvPr id="11" name="Freeform 7">
              <a:extLst>
                <a:ext uri="{FF2B5EF4-FFF2-40B4-BE49-F238E27FC236}">
                  <a16:creationId xmlns:a16="http://schemas.microsoft.com/office/drawing/2014/main" id="{43973B66-820F-6DCD-C7B3-193C838F9AD4}"/>
                </a:ext>
              </a:extLst>
            </p:cNvPr>
            <p:cNvSpPr/>
            <p:nvPr/>
          </p:nvSpPr>
          <p:spPr>
            <a:xfrm rot="10800000" flipH="1">
              <a:off x="-52792" y="234032"/>
              <a:ext cx="1244691" cy="1459659"/>
            </a:xfrm>
            <a:custGeom>
              <a:avLst/>
              <a:gdLst/>
              <a:ahLst/>
              <a:cxnLst/>
              <a:rect l="l" t="t" r="r" b="b"/>
              <a:pathLst>
                <a:path w="1244691" h="1459659">
                  <a:moveTo>
                    <a:pt x="1244690" y="0"/>
                  </a:moveTo>
                  <a:lnTo>
                    <a:pt x="0" y="0"/>
                  </a:lnTo>
                  <a:lnTo>
                    <a:pt x="0" y="1459659"/>
                  </a:lnTo>
                  <a:lnTo>
                    <a:pt x="1244690" y="1459659"/>
                  </a:lnTo>
                  <a:lnTo>
                    <a:pt x="1244690" y="0"/>
                  </a:lnTo>
                  <a:close/>
                </a:path>
              </a:pathLst>
            </a:custGeom>
            <a:blipFill>
              <a:blip r:embed="rId3">
                <a:alphaModFix amt="43999"/>
                <a:extLst>
                  <a:ext uri="{96DAC541-7B7A-43D3-8B79-37D633B846F1}">
                    <asvg:svgBlip xmlns:asvg="http://schemas.microsoft.com/office/drawing/2016/SVG/main" r:embed="rId4"/>
                  </a:ext>
                </a:extLst>
              </a:blip>
              <a:stretch>
                <a:fillRect/>
              </a:stretch>
            </a:blipFill>
          </p:spPr>
          <p:txBody>
            <a:bodyPr/>
            <a:lstStyle/>
            <a:p>
              <a:endParaRPr lang="en-GB" dirty="0"/>
            </a:p>
          </p:txBody>
        </p:sp>
      </p:grpSp>
    </p:spTree>
    <p:extLst>
      <p:ext uri="{BB962C8B-B14F-4D97-AF65-F5344CB8AC3E}">
        <p14:creationId xmlns:p14="http://schemas.microsoft.com/office/powerpoint/2010/main" val="2381966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7E336C0-9D87-913C-BF2F-46D0494BA7F3}"/>
              </a:ext>
            </a:extLst>
          </p:cNvPr>
          <p:cNvSpPr>
            <a:spLocks noGrp="1"/>
          </p:cNvSpPr>
          <p:nvPr>
            <p:ph type="subTitle" idx="1"/>
          </p:nvPr>
        </p:nvSpPr>
        <p:spPr>
          <a:xfrm>
            <a:off x="393405" y="1584251"/>
            <a:ext cx="11430000" cy="5018568"/>
          </a:xfrm>
        </p:spPr>
        <p:txBody>
          <a:bodyPr>
            <a:normAutofit/>
          </a:bodyPr>
          <a:lstStyle>
            <a:lvl1pPr marL="0" indent="0" algn="ctr">
              <a:buNone/>
              <a:defRPr sz="3200">
                <a:latin typeface="Bell MT" panose="020205030603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Tree>
    <p:extLst>
      <p:ext uri="{BB962C8B-B14F-4D97-AF65-F5344CB8AC3E}">
        <p14:creationId xmlns:p14="http://schemas.microsoft.com/office/powerpoint/2010/main" val="3872947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520C2-4BC6-8AB3-B8B3-13B61F9E7354}"/>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9B02882-912A-9CA2-8451-0F48FCC40B6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29FA43-4C63-8BC1-1B9F-5FEBFEDBD5A0}"/>
              </a:ext>
            </a:extLst>
          </p:cNvPr>
          <p:cNvSpPr>
            <a:spLocks noGrp="1"/>
          </p:cNvSpPr>
          <p:nvPr>
            <p:ph type="dt" sz="half" idx="10"/>
          </p:nvPr>
        </p:nvSpPr>
        <p:spPr/>
        <p:txBody>
          <a:bodyPr/>
          <a:lstStyle/>
          <a:p>
            <a:fld id="{3F70A73E-771E-4224-99E7-5B4176882B6A}" type="datetimeFigureOut">
              <a:rPr lang="en-GB" smtClean="0"/>
              <a:t>24/02/2026</a:t>
            </a:fld>
            <a:endParaRPr lang="en-GB" dirty="0"/>
          </a:p>
        </p:txBody>
      </p:sp>
      <p:sp>
        <p:nvSpPr>
          <p:cNvPr id="5" name="Footer Placeholder 4">
            <a:extLst>
              <a:ext uri="{FF2B5EF4-FFF2-40B4-BE49-F238E27FC236}">
                <a16:creationId xmlns:a16="http://schemas.microsoft.com/office/drawing/2014/main" id="{B1A70CF0-F4A4-78CB-DD32-6AFB9CBBE2B1}"/>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14E67ED7-D7FC-FB52-011A-75894C744A2F}"/>
              </a:ext>
            </a:extLst>
          </p:cNvPr>
          <p:cNvSpPr>
            <a:spLocks noGrp="1"/>
          </p:cNvSpPr>
          <p:nvPr>
            <p:ph type="sldNum" sz="quarter" idx="12"/>
          </p:nvPr>
        </p:nvSpPr>
        <p:spPr/>
        <p:txBody>
          <a:bodyPr/>
          <a:lstStyle/>
          <a:p>
            <a:fld id="{BB3E0091-1910-42A7-AB7A-6685A1C4C107}" type="slidenum">
              <a:rPr lang="en-GB" smtClean="0"/>
              <a:t>‹#›</a:t>
            </a:fld>
            <a:endParaRPr lang="en-GB" dirty="0"/>
          </a:p>
        </p:txBody>
      </p:sp>
    </p:spTree>
    <p:extLst>
      <p:ext uri="{BB962C8B-B14F-4D97-AF65-F5344CB8AC3E}">
        <p14:creationId xmlns:p14="http://schemas.microsoft.com/office/powerpoint/2010/main" val="3292188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06B8B-7450-9405-8E52-11A2BF2FEBFF}"/>
              </a:ext>
            </a:extLst>
          </p:cNvPr>
          <p:cNvSpPr>
            <a:spLocks noGrp="1"/>
          </p:cNvSpPr>
          <p:nvPr>
            <p:ph type="title"/>
          </p:nvPr>
        </p:nvSpPr>
        <p:spPr>
          <a:xfrm>
            <a:off x="838200" y="290697"/>
            <a:ext cx="10515600" cy="132556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A2B07C8-47E7-496A-4D2E-A8472F8674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5A104D4-9F95-6B0D-3E7E-96EF8D7160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25880A0-5FA9-5E5E-68A3-387ABB218E40}"/>
              </a:ext>
            </a:extLst>
          </p:cNvPr>
          <p:cNvSpPr>
            <a:spLocks noGrp="1"/>
          </p:cNvSpPr>
          <p:nvPr>
            <p:ph type="dt" sz="half" idx="10"/>
          </p:nvPr>
        </p:nvSpPr>
        <p:spPr/>
        <p:txBody>
          <a:bodyPr/>
          <a:lstStyle/>
          <a:p>
            <a:fld id="{3F70A73E-771E-4224-99E7-5B4176882B6A}" type="datetimeFigureOut">
              <a:rPr lang="en-GB" smtClean="0"/>
              <a:t>24/02/2026</a:t>
            </a:fld>
            <a:endParaRPr lang="en-GB" dirty="0"/>
          </a:p>
        </p:txBody>
      </p:sp>
      <p:sp>
        <p:nvSpPr>
          <p:cNvPr id="6" name="Footer Placeholder 5">
            <a:extLst>
              <a:ext uri="{FF2B5EF4-FFF2-40B4-BE49-F238E27FC236}">
                <a16:creationId xmlns:a16="http://schemas.microsoft.com/office/drawing/2014/main" id="{F5A30CA7-7069-898F-2D73-D600C06E2459}"/>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D64EC04D-28E9-AE17-8E0B-5786DBC2D413}"/>
              </a:ext>
            </a:extLst>
          </p:cNvPr>
          <p:cNvSpPr>
            <a:spLocks noGrp="1"/>
          </p:cNvSpPr>
          <p:nvPr>
            <p:ph type="sldNum" sz="quarter" idx="12"/>
          </p:nvPr>
        </p:nvSpPr>
        <p:spPr/>
        <p:txBody>
          <a:bodyPr/>
          <a:lstStyle/>
          <a:p>
            <a:fld id="{BB3E0091-1910-42A7-AB7A-6685A1C4C107}" type="slidenum">
              <a:rPr lang="en-GB" smtClean="0"/>
              <a:t>‹#›</a:t>
            </a:fld>
            <a:endParaRPr lang="en-GB" dirty="0"/>
          </a:p>
        </p:txBody>
      </p:sp>
    </p:spTree>
    <p:extLst>
      <p:ext uri="{BB962C8B-B14F-4D97-AF65-F5344CB8AC3E}">
        <p14:creationId xmlns:p14="http://schemas.microsoft.com/office/powerpoint/2010/main" val="2664284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4E756-0932-1340-4318-962152FA7360}"/>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5499490-93C0-9E45-DD41-E1D10F199D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9606C8-CDBA-C601-4F07-67FD4A5A61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910131A-4FA6-66D8-8023-CE124CE52D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2DAD33-EB50-6214-0635-7C6AD0F1C2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869F0FA-FA1F-4028-D3DE-9E9F2D90C788}"/>
              </a:ext>
            </a:extLst>
          </p:cNvPr>
          <p:cNvSpPr>
            <a:spLocks noGrp="1"/>
          </p:cNvSpPr>
          <p:nvPr>
            <p:ph type="dt" sz="half" idx="10"/>
          </p:nvPr>
        </p:nvSpPr>
        <p:spPr/>
        <p:txBody>
          <a:bodyPr/>
          <a:lstStyle/>
          <a:p>
            <a:fld id="{3F70A73E-771E-4224-99E7-5B4176882B6A}" type="datetimeFigureOut">
              <a:rPr lang="en-GB" smtClean="0"/>
              <a:t>24/02/2026</a:t>
            </a:fld>
            <a:endParaRPr lang="en-GB" dirty="0"/>
          </a:p>
        </p:txBody>
      </p:sp>
      <p:sp>
        <p:nvSpPr>
          <p:cNvPr id="8" name="Footer Placeholder 7">
            <a:extLst>
              <a:ext uri="{FF2B5EF4-FFF2-40B4-BE49-F238E27FC236}">
                <a16:creationId xmlns:a16="http://schemas.microsoft.com/office/drawing/2014/main" id="{E8BDBFBA-F2C5-E1B8-11F6-EDD5FC1304D1}"/>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E9153647-C39E-CD39-5013-5D23FDFEC37E}"/>
              </a:ext>
            </a:extLst>
          </p:cNvPr>
          <p:cNvSpPr>
            <a:spLocks noGrp="1"/>
          </p:cNvSpPr>
          <p:nvPr>
            <p:ph type="sldNum" sz="quarter" idx="12"/>
          </p:nvPr>
        </p:nvSpPr>
        <p:spPr/>
        <p:txBody>
          <a:bodyPr/>
          <a:lstStyle/>
          <a:p>
            <a:fld id="{BB3E0091-1910-42A7-AB7A-6685A1C4C107}" type="slidenum">
              <a:rPr lang="en-GB" smtClean="0"/>
              <a:t>‹#›</a:t>
            </a:fld>
            <a:endParaRPr lang="en-GB" dirty="0"/>
          </a:p>
        </p:txBody>
      </p:sp>
    </p:spTree>
    <p:extLst>
      <p:ext uri="{BB962C8B-B14F-4D97-AF65-F5344CB8AC3E}">
        <p14:creationId xmlns:p14="http://schemas.microsoft.com/office/powerpoint/2010/main" val="109451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D7FB7-20E0-9CD6-58C8-90C483AB0A10}"/>
              </a:ext>
            </a:extLst>
          </p:cNvPr>
          <p:cNvSpPr>
            <a:spLocks noGrp="1"/>
          </p:cNvSpPr>
          <p:nvPr>
            <p:ph type="title"/>
          </p:nvPr>
        </p:nvSpPr>
        <p:spPr>
          <a:xfrm>
            <a:off x="838200" y="290697"/>
            <a:ext cx="10515600" cy="1325563"/>
          </a:xfrm>
          <a:prstGeom prst="rect">
            <a:avLst/>
          </a:prstGeom>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90B9253-09E3-AA55-49E0-8ABD82D7B4FD}"/>
              </a:ext>
            </a:extLst>
          </p:cNvPr>
          <p:cNvSpPr>
            <a:spLocks noGrp="1"/>
          </p:cNvSpPr>
          <p:nvPr>
            <p:ph type="dt" sz="half" idx="10"/>
          </p:nvPr>
        </p:nvSpPr>
        <p:spPr/>
        <p:txBody>
          <a:bodyPr/>
          <a:lstStyle/>
          <a:p>
            <a:fld id="{3F70A73E-771E-4224-99E7-5B4176882B6A}" type="datetimeFigureOut">
              <a:rPr lang="en-GB" smtClean="0"/>
              <a:t>24/02/2026</a:t>
            </a:fld>
            <a:endParaRPr lang="en-GB" dirty="0"/>
          </a:p>
        </p:txBody>
      </p:sp>
      <p:sp>
        <p:nvSpPr>
          <p:cNvPr id="4" name="Footer Placeholder 3">
            <a:extLst>
              <a:ext uri="{FF2B5EF4-FFF2-40B4-BE49-F238E27FC236}">
                <a16:creationId xmlns:a16="http://schemas.microsoft.com/office/drawing/2014/main" id="{E74971B3-E2A4-68B6-0F0C-15D9B9CBAF8F}"/>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13D77C09-9484-E18E-0E42-61C1C9CBD4FB}"/>
              </a:ext>
            </a:extLst>
          </p:cNvPr>
          <p:cNvSpPr>
            <a:spLocks noGrp="1"/>
          </p:cNvSpPr>
          <p:nvPr>
            <p:ph type="sldNum" sz="quarter" idx="12"/>
          </p:nvPr>
        </p:nvSpPr>
        <p:spPr/>
        <p:txBody>
          <a:bodyPr/>
          <a:lstStyle/>
          <a:p>
            <a:fld id="{BB3E0091-1910-42A7-AB7A-6685A1C4C107}" type="slidenum">
              <a:rPr lang="en-GB" smtClean="0"/>
              <a:t>‹#›</a:t>
            </a:fld>
            <a:endParaRPr lang="en-GB" dirty="0"/>
          </a:p>
        </p:txBody>
      </p:sp>
    </p:spTree>
    <p:extLst>
      <p:ext uri="{BB962C8B-B14F-4D97-AF65-F5344CB8AC3E}">
        <p14:creationId xmlns:p14="http://schemas.microsoft.com/office/powerpoint/2010/main" val="1993455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28F7F7-EA90-6427-5F54-98EDBC45D09E}"/>
              </a:ext>
            </a:extLst>
          </p:cNvPr>
          <p:cNvSpPr>
            <a:spLocks noGrp="1"/>
          </p:cNvSpPr>
          <p:nvPr>
            <p:ph type="dt" sz="half" idx="10"/>
          </p:nvPr>
        </p:nvSpPr>
        <p:spPr/>
        <p:txBody>
          <a:bodyPr/>
          <a:lstStyle/>
          <a:p>
            <a:fld id="{3F70A73E-771E-4224-99E7-5B4176882B6A}" type="datetimeFigureOut">
              <a:rPr lang="en-GB" smtClean="0"/>
              <a:t>24/02/2026</a:t>
            </a:fld>
            <a:endParaRPr lang="en-GB" dirty="0"/>
          </a:p>
        </p:txBody>
      </p:sp>
      <p:sp>
        <p:nvSpPr>
          <p:cNvPr id="3" name="Footer Placeholder 2">
            <a:extLst>
              <a:ext uri="{FF2B5EF4-FFF2-40B4-BE49-F238E27FC236}">
                <a16:creationId xmlns:a16="http://schemas.microsoft.com/office/drawing/2014/main" id="{726104BD-6A54-884F-6199-C32CC38B572A}"/>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8E63E5E2-FF30-DBA9-483D-6BEEC9306B57}"/>
              </a:ext>
            </a:extLst>
          </p:cNvPr>
          <p:cNvSpPr>
            <a:spLocks noGrp="1"/>
          </p:cNvSpPr>
          <p:nvPr>
            <p:ph type="sldNum" sz="quarter" idx="12"/>
          </p:nvPr>
        </p:nvSpPr>
        <p:spPr/>
        <p:txBody>
          <a:bodyPr/>
          <a:lstStyle/>
          <a:p>
            <a:fld id="{BB3E0091-1910-42A7-AB7A-6685A1C4C107}" type="slidenum">
              <a:rPr lang="en-GB" smtClean="0"/>
              <a:t>‹#›</a:t>
            </a:fld>
            <a:endParaRPr lang="en-GB" dirty="0"/>
          </a:p>
        </p:txBody>
      </p:sp>
    </p:spTree>
    <p:extLst>
      <p:ext uri="{BB962C8B-B14F-4D97-AF65-F5344CB8AC3E}">
        <p14:creationId xmlns:p14="http://schemas.microsoft.com/office/powerpoint/2010/main" val="3038581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324A5-6555-0807-C759-C686F3FAC13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23C8BF-1BF9-94F2-AA1C-06A91B286E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E3072E2-232A-D50E-47DA-E658CF64BA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704CC7-6710-D345-6062-79EFDF9014AE}"/>
              </a:ext>
            </a:extLst>
          </p:cNvPr>
          <p:cNvSpPr>
            <a:spLocks noGrp="1"/>
          </p:cNvSpPr>
          <p:nvPr>
            <p:ph type="dt" sz="half" idx="10"/>
          </p:nvPr>
        </p:nvSpPr>
        <p:spPr/>
        <p:txBody>
          <a:bodyPr/>
          <a:lstStyle/>
          <a:p>
            <a:fld id="{3F70A73E-771E-4224-99E7-5B4176882B6A}" type="datetimeFigureOut">
              <a:rPr lang="en-GB" smtClean="0"/>
              <a:t>24/02/2026</a:t>
            </a:fld>
            <a:endParaRPr lang="en-GB" dirty="0"/>
          </a:p>
        </p:txBody>
      </p:sp>
      <p:sp>
        <p:nvSpPr>
          <p:cNvPr id="6" name="Footer Placeholder 5">
            <a:extLst>
              <a:ext uri="{FF2B5EF4-FFF2-40B4-BE49-F238E27FC236}">
                <a16:creationId xmlns:a16="http://schemas.microsoft.com/office/drawing/2014/main" id="{1F86A4E6-3FFF-6E4E-D553-0073258D27E3}"/>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6ED164FB-6A06-B001-4A43-AA179C95940A}"/>
              </a:ext>
            </a:extLst>
          </p:cNvPr>
          <p:cNvSpPr>
            <a:spLocks noGrp="1"/>
          </p:cNvSpPr>
          <p:nvPr>
            <p:ph type="sldNum" sz="quarter" idx="12"/>
          </p:nvPr>
        </p:nvSpPr>
        <p:spPr/>
        <p:txBody>
          <a:bodyPr/>
          <a:lstStyle/>
          <a:p>
            <a:fld id="{BB3E0091-1910-42A7-AB7A-6685A1C4C107}" type="slidenum">
              <a:rPr lang="en-GB" smtClean="0"/>
              <a:t>‹#›</a:t>
            </a:fld>
            <a:endParaRPr lang="en-GB" dirty="0"/>
          </a:p>
        </p:txBody>
      </p:sp>
    </p:spTree>
    <p:extLst>
      <p:ext uri="{BB962C8B-B14F-4D97-AF65-F5344CB8AC3E}">
        <p14:creationId xmlns:p14="http://schemas.microsoft.com/office/powerpoint/2010/main" val="1143257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8A1AE-85AF-702C-BBDF-0C589FDF262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69ECAE5-90A5-4ADA-3A74-49AE1E765B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D0035645-FCC1-F269-68EB-EEF9AFFCCA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878373-E9D2-F455-3D47-46F35A0ED1BD}"/>
              </a:ext>
            </a:extLst>
          </p:cNvPr>
          <p:cNvSpPr>
            <a:spLocks noGrp="1"/>
          </p:cNvSpPr>
          <p:nvPr>
            <p:ph type="dt" sz="half" idx="10"/>
          </p:nvPr>
        </p:nvSpPr>
        <p:spPr/>
        <p:txBody>
          <a:bodyPr/>
          <a:lstStyle/>
          <a:p>
            <a:fld id="{3F70A73E-771E-4224-99E7-5B4176882B6A}" type="datetimeFigureOut">
              <a:rPr lang="en-GB" smtClean="0"/>
              <a:t>24/02/2026</a:t>
            </a:fld>
            <a:endParaRPr lang="en-GB" dirty="0"/>
          </a:p>
        </p:txBody>
      </p:sp>
      <p:sp>
        <p:nvSpPr>
          <p:cNvPr id="6" name="Footer Placeholder 5">
            <a:extLst>
              <a:ext uri="{FF2B5EF4-FFF2-40B4-BE49-F238E27FC236}">
                <a16:creationId xmlns:a16="http://schemas.microsoft.com/office/drawing/2014/main" id="{C00E1E0D-D632-25F1-69C0-E5164BC3174A}"/>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C8E2040E-99B3-99EB-E070-73C392637BF4}"/>
              </a:ext>
            </a:extLst>
          </p:cNvPr>
          <p:cNvSpPr>
            <a:spLocks noGrp="1"/>
          </p:cNvSpPr>
          <p:nvPr>
            <p:ph type="sldNum" sz="quarter" idx="12"/>
          </p:nvPr>
        </p:nvSpPr>
        <p:spPr/>
        <p:txBody>
          <a:bodyPr/>
          <a:lstStyle/>
          <a:p>
            <a:fld id="{BB3E0091-1910-42A7-AB7A-6685A1C4C107}" type="slidenum">
              <a:rPr lang="en-GB" smtClean="0"/>
              <a:t>‹#›</a:t>
            </a:fld>
            <a:endParaRPr lang="en-GB" dirty="0"/>
          </a:p>
        </p:txBody>
      </p:sp>
    </p:spTree>
    <p:extLst>
      <p:ext uri="{BB962C8B-B14F-4D97-AF65-F5344CB8AC3E}">
        <p14:creationId xmlns:p14="http://schemas.microsoft.com/office/powerpoint/2010/main" val="171268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DD6D1-641D-C3FB-517D-17BBC4FF7966}"/>
              </a:ext>
            </a:extLst>
          </p:cNvPr>
          <p:cNvSpPr>
            <a:spLocks noGrp="1"/>
          </p:cNvSpPr>
          <p:nvPr>
            <p:ph type="title"/>
          </p:nvPr>
        </p:nvSpPr>
        <p:spPr>
          <a:xfrm>
            <a:off x="838200" y="290697"/>
            <a:ext cx="10515600" cy="1325563"/>
          </a:xfrm>
          <a:prstGeom prst="rect">
            <a:avLst/>
          </a:prstGeom>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36482C4-66CD-A0CE-D6BC-FC7D34D728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644F83D-D10F-C338-B410-36DC779FA470}"/>
              </a:ext>
            </a:extLst>
          </p:cNvPr>
          <p:cNvSpPr>
            <a:spLocks noGrp="1"/>
          </p:cNvSpPr>
          <p:nvPr>
            <p:ph type="dt" sz="half" idx="10"/>
          </p:nvPr>
        </p:nvSpPr>
        <p:spPr/>
        <p:txBody>
          <a:bodyPr/>
          <a:lstStyle/>
          <a:p>
            <a:fld id="{3F70A73E-771E-4224-99E7-5B4176882B6A}" type="datetimeFigureOut">
              <a:rPr lang="en-GB" smtClean="0"/>
              <a:t>24/02/2026</a:t>
            </a:fld>
            <a:endParaRPr lang="en-GB" dirty="0"/>
          </a:p>
        </p:txBody>
      </p:sp>
      <p:sp>
        <p:nvSpPr>
          <p:cNvPr id="5" name="Footer Placeholder 4">
            <a:extLst>
              <a:ext uri="{FF2B5EF4-FFF2-40B4-BE49-F238E27FC236}">
                <a16:creationId xmlns:a16="http://schemas.microsoft.com/office/drawing/2014/main" id="{BD622E59-46A1-0CA1-AE64-B039B63ABDE6}"/>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A8BFFD70-C2D2-5340-BEE5-4B0CDF6E8D49}"/>
              </a:ext>
            </a:extLst>
          </p:cNvPr>
          <p:cNvSpPr>
            <a:spLocks noGrp="1"/>
          </p:cNvSpPr>
          <p:nvPr>
            <p:ph type="sldNum" sz="quarter" idx="12"/>
          </p:nvPr>
        </p:nvSpPr>
        <p:spPr/>
        <p:txBody>
          <a:bodyPr/>
          <a:lstStyle/>
          <a:p>
            <a:fld id="{BB3E0091-1910-42A7-AB7A-6685A1C4C107}" type="slidenum">
              <a:rPr lang="en-GB" smtClean="0"/>
              <a:t>‹#›</a:t>
            </a:fld>
            <a:endParaRPr lang="en-GB" dirty="0"/>
          </a:p>
        </p:txBody>
      </p:sp>
    </p:spTree>
    <p:extLst>
      <p:ext uri="{BB962C8B-B14F-4D97-AF65-F5344CB8AC3E}">
        <p14:creationId xmlns:p14="http://schemas.microsoft.com/office/powerpoint/2010/main" val="2157246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AC0B30-44BF-D3D9-D604-9381F72A4362}"/>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C620038-E453-CF3D-30A8-4CABC290D2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902A7D6-A70E-36EE-41DC-B99295EF808E}"/>
              </a:ext>
            </a:extLst>
          </p:cNvPr>
          <p:cNvSpPr>
            <a:spLocks noGrp="1"/>
          </p:cNvSpPr>
          <p:nvPr>
            <p:ph type="dt" sz="half" idx="10"/>
          </p:nvPr>
        </p:nvSpPr>
        <p:spPr/>
        <p:txBody>
          <a:bodyPr/>
          <a:lstStyle/>
          <a:p>
            <a:fld id="{3F70A73E-771E-4224-99E7-5B4176882B6A}" type="datetimeFigureOut">
              <a:rPr lang="en-GB" smtClean="0"/>
              <a:t>24/02/2026</a:t>
            </a:fld>
            <a:endParaRPr lang="en-GB" dirty="0"/>
          </a:p>
        </p:txBody>
      </p:sp>
      <p:sp>
        <p:nvSpPr>
          <p:cNvPr id="5" name="Footer Placeholder 4">
            <a:extLst>
              <a:ext uri="{FF2B5EF4-FFF2-40B4-BE49-F238E27FC236}">
                <a16:creationId xmlns:a16="http://schemas.microsoft.com/office/drawing/2014/main" id="{31DE17D7-E257-800D-4D8B-83B300A99AC2}"/>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A7A3D3AA-A611-DC1C-B254-32ADE88C1CFF}"/>
              </a:ext>
            </a:extLst>
          </p:cNvPr>
          <p:cNvSpPr>
            <a:spLocks noGrp="1"/>
          </p:cNvSpPr>
          <p:nvPr>
            <p:ph type="sldNum" sz="quarter" idx="12"/>
          </p:nvPr>
        </p:nvSpPr>
        <p:spPr/>
        <p:txBody>
          <a:bodyPr/>
          <a:lstStyle/>
          <a:p>
            <a:fld id="{BB3E0091-1910-42A7-AB7A-6685A1C4C107}" type="slidenum">
              <a:rPr lang="en-GB" smtClean="0"/>
              <a:t>‹#›</a:t>
            </a:fld>
            <a:endParaRPr lang="en-GB" dirty="0"/>
          </a:p>
        </p:txBody>
      </p:sp>
    </p:spTree>
    <p:extLst>
      <p:ext uri="{BB962C8B-B14F-4D97-AF65-F5344CB8AC3E}">
        <p14:creationId xmlns:p14="http://schemas.microsoft.com/office/powerpoint/2010/main" val="41381953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1364608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3119590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878870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7757207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9505865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276275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6722057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985642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dirty="0"/>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8582238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6243629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389796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2FACAFE-E64A-25A1-D4AB-C5D6B017ED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816AA80-14A4-C510-DF93-26778F85F6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70A73E-771E-4224-99E7-5B4176882B6A}" type="datetimeFigureOut">
              <a:rPr lang="en-GB" smtClean="0"/>
              <a:t>24/02/2026</a:t>
            </a:fld>
            <a:endParaRPr lang="en-GB" dirty="0"/>
          </a:p>
        </p:txBody>
      </p:sp>
      <p:sp>
        <p:nvSpPr>
          <p:cNvPr id="5" name="Footer Placeholder 4">
            <a:extLst>
              <a:ext uri="{FF2B5EF4-FFF2-40B4-BE49-F238E27FC236}">
                <a16:creationId xmlns:a16="http://schemas.microsoft.com/office/drawing/2014/main" id="{1D2782C1-4F36-15CC-5196-EC0D733698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A5CCC65B-9448-1BFB-5762-B205AEA658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3E0091-1910-42A7-AB7A-6685A1C4C107}" type="slidenum">
              <a:rPr lang="en-GB" smtClean="0"/>
              <a:t>‹#›</a:t>
            </a:fld>
            <a:endParaRPr lang="en-GB" dirty="0"/>
          </a:p>
        </p:txBody>
      </p:sp>
      <p:sp>
        <p:nvSpPr>
          <p:cNvPr id="7" name="Rectangle 6">
            <a:extLst>
              <a:ext uri="{FF2B5EF4-FFF2-40B4-BE49-F238E27FC236}">
                <a16:creationId xmlns:a16="http://schemas.microsoft.com/office/drawing/2014/main" id="{7EE294CD-DA77-2B2F-3B57-5D0DE06290B5}"/>
              </a:ext>
            </a:extLst>
          </p:cNvPr>
          <p:cNvSpPr/>
          <p:nvPr userDrawn="1"/>
        </p:nvSpPr>
        <p:spPr>
          <a:xfrm>
            <a:off x="0" y="-3538"/>
            <a:ext cx="12192000" cy="1182343"/>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8" name="Picture 7">
            <a:extLst>
              <a:ext uri="{FF2B5EF4-FFF2-40B4-BE49-F238E27FC236}">
                <a16:creationId xmlns:a16="http://schemas.microsoft.com/office/drawing/2014/main" id="{8F7D4A02-7D87-68C5-1286-B70764CAF0FB}"/>
              </a:ext>
            </a:extLst>
          </p:cNvPr>
          <p:cNvPicPr>
            <a:picLocks noChangeAspect="1"/>
          </p:cNvPicPr>
          <p:nvPr userDrawn="1"/>
        </p:nvPicPr>
        <p:blipFill>
          <a:blip r:embed="rId13"/>
          <a:stretch>
            <a:fillRect/>
          </a:stretch>
        </p:blipFill>
        <p:spPr>
          <a:xfrm>
            <a:off x="10937919" y="122913"/>
            <a:ext cx="1135350" cy="1352959"/>
          </a:xfrm>
          <a:prstGeom prst="rect">
            <a:avLst/>
          </a:prstGeom>
        </p:spPr>
      </p:pic>
      <p:grpSp>
        <p:nvGrpSpPr>
          <p:cNvPr id="9" name="Group 5">
            <a:extLst>
              <a:ext uri="{FF2B5EF4-FFF2-40B4-BE49-F238E27FC236}">
                <a16:creationId xmlns:a16="http://schemas.microsoft.com/office/drawing/2014/main" id="{B9508D8C-0C59-FED1-CEA5-87E449B4DE0C}"/>
              </a:ext>
            </a:extLst>
          </p:cNvPr>
          <p:cNvGrpSpPr/>
          <p:nvPr userDrawn="1"/>
        </p:nvGrpSpPr>
        <p:grpSpPr>
          <a:xfrm>
            <a:off x="-25399" y="-3538"/>
            <a:ext cx="1135350" cy="1178804"/>
            <a:chOff x="-52792" y="-79841"/>
            <a:chExt cx="2287992" cy="2087407"/>
          </a:xfrm>
        </p:grpSpPr>
        <p:sp>
          <p:nvSpPr>
            <p:cNvPr id="10" name="Freeform 6">
              <a:extLst>
                <a:ext uri="{FF2B5EF4-FFF2-40B4-BE49-F238E27FC236}">
                  <a16:creationId xmlns:a16="http://schemas.microsoft.com/office/drawing/2014/main" id="{508A929A-F30A-484F-1F36-154885D6F9FB}"/>
                </a:ext>
              </a:extLst>
            </p:cNvPr>
            <p:cNvSpPr/>
            <p:nvPr/>
          </p:nvSpPr>
          <p:spPr>
            <a:xfrm rot="10800000" flipH="1">
              <a:off x="455210" y="-79841"/>
              <a:ext cx="1779990" cy="2087407"/>
            </a:xfrm>
            <a:custGeom>
              <a:avLst/>
              <a:gdLst/>
              <a:ahLst/>
              <a:cxnLst/>
              <a:rect l="l" t="t" r="r" b="b"/>
              <a:pathLst>
                <a:path w="1779989" h="2087407">
                  <a:moveTo>
                    <a:pt x="1779989" y="0"/>
                  </a:moveTo>
                  <a:lnTo>
                    <a:pt x="0" y="0"/>
                  </a:lnTo>
                  <a:lnTo>
                    <a:pt x="0" y="2087407"/>
                  </a:lnTo>
                  <a:lnTo>
                    <a:pt x="1779989" y="2087407"/>
                  </a:lnTo>
                  <a:lnTo>
                    <a:pt x="1779989" y="0"/>
                  </a:lnTo>
                  <a:close/>
                </a:path>
              </a:pathLst>
            </a:custGeom>
            <a:blipFill>
              <a:blip r:embed="rId14">
                <a:alphaModFix amt="43999"/>
                <a:extLst>
                  <a:ext uri="{96DAC541-7B7A-43D3-8B79-37D633B846F1}">
                    <asvg:svgBlip xmlns:asvg="http://schemas.microsoft.com/office/drawing/2016/SVG/main" r:embed="rId15"/>
                  </a:ext>
                </a:extLst>
              </a:blip>
              <a:stretch>
                <a:fillRect/>
              </a:stretch>
            </a:blipFill>
          </p:spPr>
          <p:txBody>
            <a:bodyPr/>
            <a:lstStyle/>
            <a:p>
              <a:endParaRPr lang="en-GB" dirty="0"/>
            </a:p>
          </p:txBody>
        </p:sp>
        <p:sp>
          <p:nvSpPr>
            <p:cNvPr id="11" name="Freeform 7">
              <a:extLst>
                <a:ext uri="{FF2B5EF4-FFF2-40B4-BE49-F238E27FC236}">
                  <a16:creationId xmlns:a16="http://schemas.microsoft.com/office/drawing/2014/main" id="{A5E54B8D-D352-D6BF-E447-906744D4DD23}"/>
                </a:ext>
              </a:extLst>
            </p:cNvPr>
            <p:cNvSpPr/>
            <p:nvPr/>
          </p:nvSpPr>
          <p:spPr>
            <a:xfrm rot="10800000" flipH="1">
              <a:off x="-52792" y="234032"/>
              <a:ext cx="1244691" cy="1459659"/>
            </a:xfrm>
            <a:custGeom>
              <a:avLst/>
              <a:gdLst/>
              <a:ahLst/>
              <a:cxnLst/>
              <a:rect l="l" t="t" r="r" b="b"/>
              <a:pathLst>
                <a:path w="1244691" h="1459659">
                  <a:moveTo>
                    <a:pt x="1244690" y="0"/>
                  </a:moveTo>
                  <a:lnTo>
                    <a:pt x="0" y="0"/>
                  </a:lnTo>
                  <a:lnTo>
                    <a:pt x="0" y="1459659"/>
                  </a:lnTo>
                  <a:lnTo>
                    <a:pt x="1244690" y="1459659"/>
                  </a:lnTo>
                  <a:lnTo>
                    <a:pt x="1244690" y="0"/>
                  </a:lnTo>
                  <a:close/>
                </a:path>
              </a:pathLst>
            </a:custGeom>
            <a:blipFill>
              <a:blip r:embed="rId14">
                <a:alphaModFix amt="43999"/>
                <a:extLst>
                  <a:ext uri="{96DAC541-7B7A-43D3-8B79-37D633B846F1}">
                    <asvg:svgBlip xmlns:asvg="http://schemas.microsoft.com/office/drawing/2016/SVG/main" r:embed="rId15"/>
                  </a:ext>
                </a:extLst>
              </a:blip>
              <a:stretch>
                <a:fillRect/>
              </a:stretch>
            </a:blipFill>
          </p:spPr>
          <p:txBody>
            <a:bodyPr/>
            <a:lstStyle/>
            <a:p>
              <a:endParaRPr lang="en-GB" dirty="0"/>
            </a:p>
          </p:txBody>
        </p:sp>
      </p:grpSp>
    </p:spTree>
    <p:extLst>
      <p:ext uri="{BB962C8B-B14F-4D97-AF65-F5344CB8AC3E}">
        <p14:creationId xmlns:p14="http://schemas.microsoft.com/office/powerpoint/2010/main" val="3396897090"/>
      </p:ext>
    </p:extLst>
  </p:cSld>
  <p:clrMap bg1="lt1" tx1="dk1" bg2="lt2" tx2="dk2" accent1="accent1" accent2="accent2" accent3="accent3" accent4="accent4" accent5="accent5" accent6="accent6" hlink="hlink" folHlink="folHlink"/>
  <p:sldLayoutIdLst>
    <p:sldLayoutId id="2147483650"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2/24/2026</a:t>
            </a:fld>
            <a:endParaRPr lang="en-US" dirty="0"/>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5454703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Freeform 2"/>
          <p:cNvSpPr/>
          <p:nvPr/>
        </p:nvSpPr>
        <p:spPr>
          <a:xfrm>
            <a:off x="1" y="4209006"/>
            <a:ext cx="12192000" cy="2691525"/>
          </a:xfrm>
          <a:custGeom>
            <a:avLst/>
            <a:gdLst/>
            <a:ahLst/>
            <a:cxnLst/>
            <a:rect l="l" t="t" r="r" b="b"/>
            <a:pathLst>
              <a:path w="18868667" h="4242251">
                <a:moveTo>
                  <a:pt x="0" y="0"/>
                </a:moveTo>
                <a:lnTo>
                  <a:pt x="18868668" y="0"/>
                </a:lnTo>
                <a:lnTo>
                  <a:pt x="18868668" y="4242251"/>
                </a:lnTo>
                <a:lnTo>
                  <a:pt x="0" y="4242251"/>
                </a:lnTo>
                <a:lnTo>
                  <a:pt x="0" y="0"/>
                </a:lnTo>
                <a:close/>
              </a:path>
            </a:pathLst>
          </a:custGeom>
          <a:blipFill>
            <a:blip r:embed="rId2">
              <a:duotone>
                <a:prstClr val="black"/>
                <a:schemeClr val="accent1">
                  <a:tint val="45000"/>
                  <a:satMod val="400000"/>
                </a:schemeClr>
              </a:duotone>
              <a:extLst>
                <a:ext uri="{96DAC541-7B7A-43D3-8B79-37D633B846F1}">
                  <asvg:svgBlip xmlns:asvg="http://schemas.microsoft.com/office/drawing/2016/SVG/main" r:embed="rId3"/>
                </a:ext>
              </a:extLst>
            </a:blip>
            <a:stretch>
              <a:fillRect/>
            </a:stretch>
          </a:blipFill>
        </p:spPr>
        <p:txBody>
          <a:bodyPr/>
          <a:lstStyle/>
          <a:p>
            <a:pPr defTabSz="609630"/>
            <a:endParaRPr lang="en-GB" sz="1200" dirty="0">
              <a:solidFill>
                <a:prstClr val="black"/>
              </a:solidFill>
              <a:latin typeface="Calibri"/>
            </a:endParaRPr>
          </a:p>
        </p:txBody>
      </p:sp>
      <p:sp>
        <p:nvSpPr>
          <p:cNvPr id="3" name="Freeform 3"/>
          <p:cNvSpPr/>
          <p:nvPr/>
        </p:nvSpPr>
        <p:spPr>
          <a:xfrm>
            <a:off x="6731496" y="1073151"/>
            <a:ext cx="5116649" cy="3402571"/>
          </a:xfrm>
          <a:custGeom>
            <a:avLst/>
            <a:gdLst/>
            <a:ahLst/>
            <a:cxnLst/>
            <a:rect l="l" t="t" r="r" b="b"/>
            <a:pathLst>
              <a:path w="7674973" h="5103857">
                <a:moveTo>
                  <a:pt x="0" y="0"/>
                </a:moveTo>
                <a:lnTo>
                  <a:pt x="7674973" y="0"/>
                </a:lnTo>
                <a:lnTo>
                  <a:pt x="7674973" y="5103857"/>
                </a:lnTo>
                <a:lnTo>
                  <a:pt x="0" y="5103857"/>
                </a:lnTo>
                <a:lnTo>
                  <a:pt x="0" y="0"/>
                </a:lnTo>
                <a:close/>
              </a:path>
            </a:pathLst>
          </a:custGeom>
          <a:blipFill>
            <a:blip r:embed="rId4">
              <a:alphaModFix amt="56000"/>
            </a:blip>
            <a:stretch>
              <a:fillRect/>
            </a:stretch>
          </a:blipFill>
        </p:spPr>
        <p:txBody>
          <a:bodyPr/>
          <a:lstStyle/>
          <a:p>
            <a:pPr defTabSz="609630"/>
            <a:endParaRPr lang="en-GB" sz="1200" dirty="0">
              <a:solidFill>
                <a:prstClr val="black"/>
              </a:solidFill>
              <a:latin typeface="Calibri"/>
            </a:endParaRPr>
          </a:p>
        </p:txBody>
      </p:sp>
      <p:sp>
        <p:nvSpPr>
          <p:cNvPr id="4" name="TextBox 4"/>
          <p:cNvSpPr txBox="1"/>
          <p:nvPr/>
        </p:nvSpPr>
        <p:spPr>
          <a:xfrm>
            <a:off x="685791" y="1022350"/>
            <a:ext cx="6045705" cy="2462213"/>
          </a:xfrm>
          <a:prstGeom prst="rect">
            <a:avLst/>
          </a:prstGeom>
        </p:spPr>
        <p:txBody>
          <a:bodyPr lIns="0" tIns="0" rIns="0" bIns="0" rtlCol="0" anchor="t">
            <a:spAutoFit/>
          </a:bodyPr>
          <a:lstStyle/>
          <a:p>
            <a:pPr defTabSz="609630">
              <a:lnSpc>
                <a:spcPts val="6380"/>
              </a:lnSpc>
            </a:pPr>
            <a:r>
              <a:rPr lang="en-US" sz="5800" b="1" dirty="0">
                <a:solidFill>
                  <a:srgbClr val="F6F6F6"/>
                </a:solidFill>
                <a:latin typeface="Cooper Hewitt Bold"/>
                <a:ea typeface="Cooper Hewitt Bold"/>
                <a:cs typeface="Cooper Hewitt Bold"/>
                <a:sym typeface="Cooper Hewitt Bold"/>
              </a:rPr>
              <a:t>Industrial Law &amp; Safety Management</a:t>
            </a:r>
          </a:p>
        </p:txBody>
      </p:sp>
      <p:sp>
        <p:nvSpPr>
          <p:cNvPr id="5" name="TextBox 5"/>
          <p:cNvSpPr txBox="1"/>
          <p:nvPr/>
        </p:nvSpPr>
        <p:spPr>
          <a:xfrm>
            <a:off x="685791" y="3833050"/>
            <a:ext cx="6045705" cy="333425"/>
          </a:xfrm>
          <a:prstGeom prst="rect">
            <a:avLst/>
          </a:prstGeom>
        </p:spPr>
        <p:txBody>
          <a:bodyPr lIns="0" tIns="0" rIns="0" bIns="0" rtlCol="0" anchor="t">
            <a:spAutoFit/>
          </a:bodyPr>
          <a:lstStyle/>
          <a:p>
            <a:pPr defTabSz="609630">
              <a:lnSpc>
                <a:spcPts val="2639"/>
              </a:lnSpc>
            </a:pPr>
            <a:r>
              <a:rPr lang="en-US" sz="2199" i="1" dirty="0">
                <a:solidFill>
                  <a:srgbClr val="F6F6F6"/>
                </a:solidFill>
                <a:latin typeface="Cooper Hewitt Italics"/>
                <a:ea typeface="Cooper Hewitt Italics"/>
                <a:cs typeface="Cooper Hewitt Italics"/>
                <a:sym typeface="Cooper Hewitt Italics"/>
              </a:rPr>
              <a:t>The Labor Act (Bangladesh), 2006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D0929-3D60-F519-0302-C753F534D6C4}"/>
              </a:ext>
            </a:extLst>
          </p:cNvPr>
          <p:cNvSpPr>
            <a:spLocks noGrp="1"/>
          </p:cNvSpPr>
          <p:nvPr>
            <p:ph type="ctrTitle" idx="4294967295"/>
          </p:nvPr>
        </p:nvSpPr>
        <p:spPr>
          <a:xfrm>
            <a:off x="1130595" y="212651"/>
            <a:ext cx="9640186" cy="893135"/>
          </a:xfrm>
          <a:prstGeom prst="rect">
            <a:avLst/>
          </a:prstGeom>
        </p:spPr>
        <p:txBody>
          <a:bodyPr/>
          <a:lstStyle/>
          <a:p>
            <a:r>
              <a:rPr lang="en-GB" sz="4000" b="1" dirty="0">
                <a:solidFill>
                  <a:schemeClr val="bg1"/>
                </a:solidFill>
                <a:latin typeface="Bell MT" panose="02020503060305020303" pitchFamily="18" charset="0"/>
              </a:rPr>
              <a:t>Introduction &amp; Learning Objectives</a:t>
            </a:r>
          </a:p>
        </p:txBody>
      </p:sp>
      <p:sp>
        <p:nvSpPr>
          <p:cNvPr id="4" name="Arrow: Pentagon 3">
            <a:extLst>
              <a:ext uri="{FF2B5EF4-FFF2-40B4-BE49-F238E27FC236}">
                <a16:creationId xmlns:a16="http://schemas.microsoft.com/office/drawing/2014/main" id="{5D1906F7-B6E8-A098-0081-8E35191D36F7}"/>
              </a:ext>
            </a:extLst>
          </p:cNvPr>
          <p:cNvSpPr/>
          <p:nvPr/>
        </p:nvSpPr>
        <p:spPr>
          <a:xfrm>
            <a:off x="0" y="1818364"/>
            <a:ext cx="609600" cy="776281"/>
          </a:xfrm>
          <a:prstGeom prst="homePlat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AB98E18A-1794-2217-911B-D65A94F3DB98}"/>
              </a:ext>
            </a:extLst>
          </p:cNvPr>
          <p:cNvSpPr/>
          <p:nvPr/>
        </p:nvSpPr>
        <p:spPr>
          <a:xfrm>
            <a:off x="218235" y="2115919"/>
            <a:ext cx="167442" cy="1685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Arrow: Pentagon 5">
            <a:extLst>
              <a:ext uri="{FF2B5EF4-FFF2-40B4-BE49-F238E27FC236}">
                <a16:creationId xmlns:a16="http://schemas.microsoft.com/office/drawing/2014/main" id="{993871C5-AF37-820C-F99D-DA508FF7140C}"/>
              </a:ext>
            </a:extLst>
          </p:cNvPr>
          <p:cNvSpPr/>
          <p:nvPr/>
        </p:nvSpPr>
        <p:spPr>
          <a:xfrm>
            <a:off x="0" y="2636217"/>
            <a:ext cx="609600" cy="776281"/>
          </a:xfrm>
          <a:prstGeom prst="homePlat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7710ECE5-FA43-19E0-9E96-E8212B312A73}"/>
              </a:ext>
            </a:extLst>
          </p:cNvPr>
          <p:cNvSpPr/>
          <p:nvPr/>
        </p:nvSpPr>
        <p:spPr>
          <a:xfrm>
            <a:off x="218235" y="2933772"/>
            <a:ext cx="167442" cy="1685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Arrow: Pentagon 7">
            <a:extLst>
              <a:ext uri="{FF2B5EF4-FFF2-40B4-BE49-F238E27FC236}">
                <a16:creationId xmlns:a16="http://schemas.microsoft.com/office/drawing/2014/main" id="{F78206D5-662A-0713-9A9A-EBBD0CECB0AB}"/>
              </a:ext>
            </a:extLst>
          </p:cNvPr>
          <p:cNvSpPr/>
          <p:nvPr/>
        </p:nvSpPr>
        <p:spPr>
          <a:xfrm>
            <a:off x="0" y="3454070"/>
            <a:ext cx="609600" cy="776281"/>
          </a:xfrm>
          <a:prstGeom prst="homePlat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0E86D9E6-E67F-462C-C718-26BCDD7BA093}"/>
              </a:ext>
            </a:extLst>
          </p:cNvPr>
          <p:cNvSpPr/>
          <p:nvPr/>
        </p:nvSpPr>
        <p:spPr>
          <a:xfrm>
            <a:off x="218235" y="3751625"/>
            <a:ext cx="167442" cy="1685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Arrow: Pentagon 9">
            <a:extLst>
              <a:ext uri="{FF2B5EF4-FFF2-40B4-BE49-F238E27FC236}">
                <a16:creationId xmlns:a16="http://schemas.microsoft.com/office/drawing/2014/main" id="{8254B7C9-199F-8DA8-A2D0-FA205D445D94}"/>
              </a:ext>
            </a:extLst>
          </p:cNvPr>
          <p:cNvSpPr/>
          <p:nvPr/>
        </p:nvSpPr>
        <p:spPr>
          <a:xfrm>
            <a:off x="0" y="4271923"/>
            <a:ext cx="609600" cy="776281"/>
          </a:xfrm>
          <a:prstGeom prst="homePlat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28A2CB9E-FB17-E9F8-DA9D-50CD9695C292}"/>
              </a:ext>
            </a:extLst>
          </p:cNvPr>
          <p:cNvSpPr/>
          <p:nvPr/>
        </p:nvSpPr>
        <p:spPr>
          <a:xfrm>
            <a:off x="218235" y="4569478"/>
            <a:ext cx="167442" cy="1685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FE0546BB-C749-7889-250D-8B7606679174}"/>
              </a:ext>
            </a:extLst>
          </p:cNvPr>
          <p:cNvSpPr/>
          <p:nvPr/>
        </p:nvSpPr>
        <p:spPr>
          <a:xfrm>
            <a:off x="218235" y="5398672"/>
            <a:ext cx="167442" cy="1685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ABF31680-818F-ABA6-48F5-96865FD96087}"/>
              </a:ext>
            </a:extLst>
          </p:cNvPr>
          <p:cNvSpPr txBox="1"/>
          <p:nvPr/>
        </p:nvSpPr>
        <p:spPr>
          <a:xfrm>
            <a:off x="761999" y="2015510"/>
            <a:ext cx="8371609" cy="461665"/>
          </a:xfrm>
          <a:prstGeom prst="rect">
            <a:avLst/>
          </a:prstGeom>
          <a:noFill/>
        </p:spPr>
        <p:txBody>
          <a:bodyPr wrap="square">
            <a:spAutoFit/>
          </a:bodyPr>
          <a:lstStyle/>
          <a:p>
            <a:pPr algn="l"/>
            <a:r>
              <a:rPr lang="en-US" sz="2400" dirty="0">
                <a:latin typeface="Bell MT" panose="02020503060305020303" pitchFamily="18" charset="0"/>
              </a:rPr>
              <a:t>Understand the provisions relevant to employment conditions</a:t>
            </a:r>
          </a:p>
        </p:txBody>
      </p:sp>
      <p:sp>
        <p:nvSpPr>
          <p:cNvPr id="17" name="TextBox 16">
            <a:extLst>
              <a:ext uri="{FF2B5EF4-FFF2-40B4-BE49-F238E27FC236}">
                <a16:creationId xmlns:a16="http://schemas.microsoft.com/office/drawing/2014/main" id="{43F02C8C-6EA8-6085-A1EB-3EB9A8E9485A}"/>
              </a:ext>
            </a:extLst>
          </p:cNvPr>
          <p:cNvSpPr txBox="1"/>
          <p:nvPr/>
        </p:nvSpPr>
        <p:spPr>
          <a:xfrm>
            <a:off x="762000" y="2807739"/>
            <a:ext cx="10283952" cy="461665"/>
          </a:xfrm>
          <a:prstGeom prst="rect">
            <a:avLst/>
          </a:prstGeom>
          <a:noFill/>
        </p:spPr>
        <p:txBody>
          <a:bodyPr wrap="square">
            <a:spAutoFit/>
          </a:bodyPr>
          <a:lstStyle/>
          <a:p>
            <a:r>
              <a:rPr lang="en-US" sz="2400" dirty="0">
                <a:latin typeface="Bell MT" panose="02020503060305020303" pitchFamily="18" charset="0"/>
              </a:rPr>
              <a:t>Understand the provisions regarding wages and leave </a:t>
            </a:r>
          </a:p>
        </p:txBody>
      </p:sp>
      <p:sp>
        <p:nvSpPr>
          <p:cNvPr id="19" name="TextBox 18">
            <a:extLst>
              <a:ext uri="{FF2B5EF4-FFF2-40B4-BE49-F238E27FC236}">
                <a16:creationId xmlns:a16="http://schemas.microsoft.com/office/drawing/2014/main" id="{0E281024-5933-46B3-BDB9-51B41B27CAAB}"/>
              </a:ext>
            </a:extLst>
          </p:cNvPr>
          <p:cNvSpPr txBox="1"/>
          <p:nvPr/>
        </p:nvSpPr>
        <p:spPr>
          <a:xfrm>
            <a:off x="761999" y="3636269"/>
            <a:ext cx="7898035" cy="461665"/>
          </a:xfrm>
          <a:prstGeom prst="rect">
            <a:avLst/>
          </a:prstGeom>
          <a:noFill/>
        </p:spPr>
        <p:txBody>
          <a:bodyPr wrap="square">
            <a:spAutoFit/>
          </a:bodyPr>
          <a:lstStyle/>
          <a:p>
            <a:r>
              <a:rPr lang="en-US" sz="2400" dirty="0">
                <a:latin typeface="Bell MT" panose="02020503060305020303" pitchFamily="18" charset="0"/>
              </a:rPr>
              <a:t>Understand the provisions related to occupational safety</a:t>
            </a:r>
          </a:p>
        </p:txBody>
      </p:sp>
      <p:sp>
        <p:nvSpPr>
          <p:cNvPr id="3" name="TextBox 2">
            <a:extLst>
              <a:ext uri="{FF2B5EF4-FFF2-40B4-BE49-F238E27FC236}">
                <a16:creationId xmlns:a16="http://schemas.microsoft.com/office/drawing/2014/main" id="{5D40329F-E1FC-B3BC-DF8B-298B5C7100E4}"/>
              </a:ext>
            </a:extLst>
          </p:cNvPr>
          <p:cNvSpPr txBox="1"/>
          <p:nvPr/>
        </p:nvSpPr>
        <p:spPr>
          <a:xfrm>
            <a:off x="827835" y="4422902"/>
            <a:ext cx="7898035" cy="461665"/>
          </a:xfrm>
          <a:prstGeom prst="rect">
            <a:avLst/>
          </a:prstGeom>
          <a:noFill/>
        </p:spPr>
        <p:txBody>
          <a:bodyPr wrap="square">
            <a:spAutoFit/>
          </a:bodyPr>
          <a:lstStyle/>
          <a:p>
            <a:r>
              <a:rPr lang="en-US" sz="2400" dirty="0">
                <a:latin typeface="Bell MT" panose="02020503060305020303" pitchFamily="18" charset="0"/>
              </a:rPr>
              <a:t>Understand the provisions related to health and hygiene</a:t>
            </a:r>
          </a:p>
        </p:txBody>
      </p:sp>
    </p:spTree>
    <p:extLst>
      <p:ext uri="{BB962C8B-B14F-4D97-AF65-F5344CB8AC3E}">
        <p14:creationId xmlns:p14="http://schemas.microsoft.com/office/powerpoint/2010/main" val="4058327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F086E-E2C8-56F0-9B20-396745E5B010}"/>
              </a:ext>
            </a:extLst>
          </p:cNvPr>
          <p:cNvSpPr>
            <a:spLocks noGrp="1"/>
          </p:cNvSpPr>
          <p:nvPr>
            <p:ph idx="1"/>
          </p:nvPr>
        </p:nvSpPr>
        <p:spPr>
          <a:xfrm>
            <a:off x="753979" y="1351320"/>
            <a:ext cx="10515600" cy="5097605"/>
          </a:xfrm>
        </p:spPr>
        <p:txBody>
          <a:bodyPr>
            <a:normAutofit lnSpcReduction="10000"/>
          </a:bodyPr>
          <a:lstStyle/>
          <a:p>
            <a:pPr marL="0" indent="0">
              <a:buNone/>
            </a:pPr>
            <a:r>
              <a:rPr lang="en-US" dirty="0"/>
              <a:t>✅ </a:t>
            </a:r>
            <a:r>
              <a:rPr lang="en-US" b="1" dirty="0"/>
              <a:t>Types of Workers</a:t>
            </a:r>
            <a:br>
              <a:rPr lang="en-US" dirty="0"/>
            </a:br>
            <a:br>
              <a:rPr lang="en-US" dirty="0"/>
            </a:br>
            <a:r>
              <a:rPr lang="en-US" dirty="0"/>
              <a:t>1️⃣ </a:t>
            </a:r>
            <a:r>
              <a:rPr lang="en-US" b="1" dirty="0"/>
              <a:t>Apprentice:</a:t>
            </a:r>
            <a:r>
              <a:rPr lang="en-US" dirty="0"/>
              <a:t> Trainees learning the job, paid allowances during training.</a:t>
            </a:r>
            <a:br>
              <a:rPr lang="en-US" dirty="0"/>
            </a:br>
            <a:r>
              <a:rPr lang="en-US" dirty="0"/>
              <a:t>2️⃣ </a:t>
            </a:r>
            <a:r>
              <a:rPr lang="en-US" b="1" dirty="0"/>
              <a:t>Substitute:</a:t>
            </a:r>
            <a:r>
              <a:rPr lang="en-US" dirty="0"/>
              <a:t> Temporary fill-ins for permanent or probationary workers who are absent.</a:t>
            </a:r>
            <a:br>
              <a:rPr lang="en-US" dirty="0"/>
            </a:br>
            <a:r>
              <a:rPr lang="en-US" dirty="0"/>
              <a:t>3️⃣ </a:t>
            </a:r>
            <a:r>
              <a:rPr lang="en-US" b="1" dirty="0"/>
              <a:t>Casual:</a:t>
            </a:r>
            <a:r>
              <a:rPr lang="en-US" dirty="0"/>
              <a:t> Workers hired on an ad-hoc basis for short, casual tasks.</a:t>
            </a:r>
            <a:br>
              <a:rPr lang="en-US" dirty="0"/>
            </a:br>
            <a:r>
              <a:rPr lang="en-US" dirty="0"/>
              <a:t>4️⃣ </a:t>
            </a:r>
            <a:r>
              <a:rPr lang="en-US" b="1" dirty="0"/>
              <a:t>Temporary:</a:t>
            </a:r>
            <a:r>
              <a:rPr lang="en-US" dirty="0"/>
              <a:t> Workers hired for jobs that last a limited time.</a:t>
            </a:r>
            <a:br>
              <a:rPr lang="en-US" dirty="0"/>
            </a:br>
            <a:r>
              <a:rPr lang="en-US" dirty="0"/>
              <a:t>5️⃣ </a:t>
            </a:r>
            <a:r>
              <a:rPr lang="en-US" b="1" dirty="0"/>
              <a:t>Probationer:</a:t>
            </a:r>
            <a:r>
              <a:rPr lang="en-US" dirty="0"/>
              <a:t> Workers doing permanent jobs but still in the trial period.</a:t>
            </a:r>
            <a:br>
              <a:rPr lang="en-US" dirty="0"/>
            </a:br>
            <a:r>
              <a:rPr lang="en-US" dirty="0"/>
              <a:t>6️⃣ </a:t>
            </a:r>
            <a:r>
              <a:rPr lang="en-US" b="1" dirty="0"/>
              <a:t>Permanent:</a:t>
            </a:r>
            <a:r>
              <a:rPr lang="en-US" dirty="0"/>
              <a:t> Workers hired permanently or those who finish probation successfully.</a:t>
            </a:r>
            <a:br>
              <a:rPr lang="en-US" dirty="0"/>
            </a:br>
            <a:r>
              <a:rPr lang="en-US" dirty="0"/>
              <a:t>7️⃣ </a:t>
            </a:r>
            <a:r>
              <a:rPr lang="en-US" b="1" dirty="0"/>
              <a:t>Seasonal:</a:t>
            </a:r>
            <a:r>
              <a:rPr lang="en-US" dirty="0"/>
              <a:t> Workers hired only during specific work seasons, like harvest time.</a:t>
            </a:r>
          </a:p>
        </p:txBody>
      </p:sp>
      <p:sp>
        <p:nvSpPr>
          <p:cNvPr id="2" name="Title 1">
            <a:extLst>
              <a:ext uri="{FF2B5EF4-FFF2-40B4-BE49-F238E27FC236}">
                <a16:creationId xmlns:a16="http://schemas.microsoft.com/office/drawing/2014/main" id="{089D0929-3D60-F519-0302-C753F534D6C4}"/>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4. Classification of Workers and Probation Period</a:t>
            </a:r>
          </a:p>
        </p:txBody>
      </p:sp>
    </p:spTree>
    <p:extLst>
      <p:ext uri="{BB962C8B-B14F-4D97-AF65-F5344CB8AC3E}">
        <p14:creationId xmlns:p14="http://schemas.microsoft.com/office/powerpoint/2010/main" val="1972802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79B0F-6D03-C04C-E145-AE4472D112B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4DB7D8-5A2E-8F7F-0015-D5BDF88D445E}"/>
              </a:ext>
            </a:extLst>
          </p:cNvPr>
          <p:cNvSpPr>
            <a:spLocks noGrp="1"/>
          </p:cNvSpPr>
          <p:nvPr>
            <p:ph idx="1"/>
          </p:nvPr>
        </p:nvSpPr>
        <p:spPr>
          <a:xfrm>
            <a:off x="753979" y="1351320"/>
            <a:ext cx="10515600" cy="5097605"/>
          </a:xfrm>
        </p:spPr>
        <p:txBody>
          <a:bodyPr>
            <a:normAutofit lnSpcReduction="10000"/>
          </a:bodyPr>
          <a:lstStyle/>
          <a:p>
            <a:pPr marL="0" indent="0">
              <a:buNone/>
            </a:pPr>
            <a:r>
              <a:rPr lang="en-US" dirty="0"/>
              <a:t>✅ </a:t>
            </a:r>
            <a:r>
              <a:rPr lang="en-US" b="1" dirty="0"/>
              <a:t>Probation Period Details</a:t>
            </a:r>
            <a:endParaRPr lang="en-US" dirty="0"/>
          </a:p>
          <a:p>
            <a:r>
              <a:rPr lang="en-US" dirty="0"/>
              <a:t>For clerical workers, probation is </a:t>
            </a:r>
            <a:r>
              <a:rPr lang="en-US" b="1" dirty="0"/>
              <a:t>6 months</a:t>
            </a:r>
            <a:r>
              <a:rPr lang="en-US" dirty="0"/>
              <a:t>.</a:t>
            </a:r>
          </a:p>
          <a:p>
            <a:r>
              <a:rPr lang="en-US" dirty="0"/>
              <a:t>For other workers, probation is </a:t>
            </a:r>
            <a:r>
              <a:rPr lang="en-US" b="1" dirty="0"/>
              <a:t>3 months</a:t>
            </a:r>
            <a:r>
              <a:rPr lang="en-US" dirty="0"/>
              <a:t>.</a:t>
            </a:r>
          </a:p>
          <a:p>
            <a:r>
              <a:rPr lang="en-US" dirty="0"/>
              <a:t>Skilled workers’ probation can be extended by </a:t>
            </a:r>
            <a:r>
              <a:rPr lang="en-US" b="1" dirty="0"/>
              <a:t>3 months</a:t>
            </a:r>
            <a:r>
              <a:rPr lang="en-US" dirty="0"/>
              <a:t> if their work quality can’t be judged in the first 3 months.</a:t>
            </a:r>
          </a:p>
          <a:p>
            <a:r>
              <a:rPr lang="en-US" dirty="0"/>
              <a:t>Even if no confirmation letter is given after probation, workers become permanent after completing the probation or extended period.</a:t>
            </a:r>
          </a:p>
          <a:p>
            <a:r>
              <a:rPr lang="en-US" dirty="0"/>
              <a:t>If a worker is fired during probation but rehired within 3 years (and not as permanent), the earlier probation counts.</a:t>
            </a:r>
          </a:p>
          <a:p>
            <a:r>
              <a:rPr lang="en-US" dirty="0"/>
              <a:t>For industries with seasonal work (like sugar mills), workers who worked last season get preference.</a:t>
            </a:r>
          </a:p>
          <a:p>
            <a:pPr marL="0" indent="0">
              <a:buNone/>
            </a:pPr>
            <a:endParaRPr lang="en-US" dirty="0"/>
          </a:p>
        </p:txBody>
      </p:sp>
      <p:sp>
        <p:nvSpPr>
          <p:cNvPr id="2" name="Title 1">
            <a:extLst>
              <a:ext uri="{FF2B5EF4-FFF2-40B4-BE49-F238E27FC236}">
                <a16:creationId xmlns:a16="http://schemas.microsoft.com/office/drawing/2014/main" id="{F0C988CE-A2D1-8C63-FD03-CD458F9EC568}"/>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4. Classification of Workers and Probation Period…</a:t>
            </a:r>
          </a:p>
        </p:txBody>
      </p:sp>
    </p:spTree>
    <p:extLst>
      <p:ext uri="{BB962C8B-B14F-4D97-AF65-F5344CB8AC3E}">
        <p14:creationId xmlns:p14="http://schemas.microsoft.com/office/powerpoint/2010/main" val="2836161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C815C-447B-CC6E-6F3E-AA76886B303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E3DCC3-E6D3-B02E-5F0C-D4F8A10A750F}"/>
              </a:ext>
            </a:extLst>
          </p:cNvPr>
          <p:cNvSpPr>
            <a:spLocks noGrp="1"/>
          </p:cNvSpPr>
          <p:nvPr>
            <p:ph idx="1"/>
          </p:nvPr>
        </p:nvSpPr>
        <p:spPr>
          <a:xfrm>
            <a:off x="753979" y="1351320"/>
            <a:ext cx="10515600" cy="5097605"/>
          </a:xfrm>
        </p:spPr>
        <p:txBody>
          <a:bodyPr>
            <a:normAutofit lnSpcReduction="10000"/>
          </a:bodyPr>
          <a:lstStyle/>
          <a:p>
            <a:pPr marL="0" indent="0">
              <a:lnSpc>
                <a:spcPct val="150000"/>
              </a:lnSpc>
              <a:buNone/>
            </a:pPr>
            <a:r>
              <a:rPr lang="en-US" dirty="0"/>
              <a:t>✅ </a:t>
            </a:r>
            <a:r>
              <a:rPr lang="en-US" b="1" dirty="0"/>
              <a:t>Employer’s Responsibilities:</a:t>
            </a:r>
            <a:br>
              <a:rPr lang="en-US" dirty="0"/>
            </a:br>
            <a:r>
              <a:rPr lang="en-US" dirty="0"/>
              <a:t>1️⃣ Every employer must provide a service book to each worker — at their own cost.</a:t>
            </a:r>
            <a:br>
              <a:rPr lang="en-US" dirty="0"/>
            </a:br>
            <a:r>
              <a:rPr lang="en-US" dirty="0"/>
              <a:t>2️⃣ The employer keeps the service book safe and in their custody.</a:t>
            </a:r>
            <a:br>
              <a:rPr lang="en-US" dirty="0"/>
            </a:br>
            <a:r>
              <a:rPr lang="en-US" dirty="0"/>
              <a:t>3️⃣ Before hiring a new worker, the employer should ask if the worker has a previous service book from another job.</a:t>
            </a:r>
            <a:br>
              <a:rPr lang="en-US" dirty="0"/>
            </a:br>
            <a:r>
              <a:rPr lang="en-US" dirty="0"/>
              <a:t>4️⃣ If the worker has one, they must hand it over to the new employer, who keeps it and gives the worker a receipt.</a:t>
            </a:r>
          </a:p>
        </p:txBody>
      </p:sp>
      <p:sp>
        <p:nvSpPr>
          <p:cNvPr id="2" name="Title 1">
            <a:extLst>
              <a:ext uri="{FF2B5EF4-FFF2-40B4-BE49-F238E27FC236}">
                <a16:creationId xmlns:a16="http://schemas.microsoft.com/office/drawing/2014/main" id="{1079FDA8-75A2-CE35-1D1C-E2E4704FE8D1}"/>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6. Service Book</a:t>
            </a:r>
          </a:p>
        </p:txBody>
      </p:sp>
    </p:spTree>
    <p:extLst>
      <p:ext uri="{BB962C8B-B14F-4D97-AF65-F5344CB8AC3E}">
        <p14:creationId xmlns:p14="http://schemas.microsoft.com/office/powerpoint/2010/main" val="437806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10C09-C51F-DEFD-9D8F-082736EBD8C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5EE393-1B41-D9BC-3D46-B95B9C41518F}"/>
              </a:ext>
            </a:extLst>
          </p:cNvPr>
          <p:cNvSpPr>
            <a:spLocks noGrp="1"/>
          </p:cNvSpPr>
          <p:nvPr>
            <p:ph idx="1"/>
          </p:nvPr>
        </p:nvSpPr>
        <p:spPr>
          <a:xfrm>
            <a:off x="753979" y="1351320"/>
            <a:ext cx="10515600" cy="5097605"/>
          </a:xfrm>
        </p:spPr>
        <p:txBody>
          <a:bodyPr>
            <a:normAutofit/>
          </a:bodyPr>
          <a:lstStyle/>
          <a:p>
            <a:pPr marL="0" indent="0">
              <a:lnSpc>
                <a:spcPct val="100000"/>
              </a:lnSpc>
              <a:buNone/>
            </a:pPr>
            <a:r>
              <a:rPr lang="en-US" dirty="0"/>
              <a:t>5️⃣ If the worker doesn’t have a service book, the new employer must provide one.</a:t>
            </a:r>
            <a:br>
              <a:rPr lang="en-US" dirty="0"/>
            </a:br>
            <a:r>
              <a:rPr lang="en-US" dirty="0"/>
              <a:t>6️⃣ If the worker wants, they can keep their own duplicate copy, but they have to pay for it.</a:t>
            </a:r>
            <a:br>
              <a:rPr lang="en-US" dirty="0"/>
            </a:br>
            <a:r>
              <a:rPr lang="en-US" dirty="0"/>
              <a:t>7️⃣ When a worker leaves the job, the employer must give the service book back to the worker.</a:t>
            </a:r>
            <a:br>
              <a:rPr lang="en-US" dirty="0"/>
            </a:br>
            <a:r>
              <a:rPr lang="en-US" dirty="0"/>
              <a:t>8️⃣ If the worker loses their service book or duplicate copy, the employer must provide a new copy—but the worker pays for it.</a:t>
            </a:r>
            <a:br>
              <a:rPr lang="en-US" dirty="0"/>
            </a:br>
            <a:r>
              <a:rPr lang="en-US" dirty="0"/>
              <a:t>9️⃣ Note: These rules don’t apply to apprentices, substitutes, or casual workers.</a:t>
            </a:r>
          </a:p>
        </p:txBody>
      </p:sp>
      <p:sp>
        <p:nvSpPr>
          <p:cNvPr id="2" name="Title 1">
            <a:extLst>
              <a:ext uri="{FF2B5EF4-FFF2-40B4-BE49-F238E27FC236}">
                <a16:creationId xmlns:a16="http://schemas.microsoft.com/office/drawing/2014/main" id="{FC86A8B9-DCCE-01C9-B093-17A913F702ED}"/>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6. Service Book…</a:t>
            </a:r>
          </a:p>
        </p:txBody>
      </p:sp>
    </p:spTree>
    <p:extLst>
      <p:ext uri="{BB962C8B-B14F-4D97-AF65-F5344CB8AC3E}">
        <p14:creationId xmlns:p14="http://schemas.microsoft.com/office/powerpoint/2010/main" val="3487407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B2248-CF67-9034-7217-642F03224FF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966041-DE86-DCBF-546F-1E3AB814DF08}"/>
              </a:ext>
            </a:extLst>
          </p:cNvPr>
          <p:cNvSpPr>
            <a:spLocks noGrp="1"/>
          </p:cNvSpPr>
          <p:nvPr>
            <p:ph idx="1"/>
          </p:nvPr>
        </p:nvSpPr>
        <p:spPr>
          <a:xfrm>
            <a:off x="753979" y="1351320"/>
            <a:ext cx="10515600" cy="5097605"/>
          </a:xfrm>
        </p:spPr>
        <p:txBody>
          <a:bodyPr>
            <a:normAutofit lnSpcReduction="10000"/>
          </a:bodyPr>
          <a:lstStyle/>
          <a:p>
            <a:pPr marL="0" indent="0">
              <a:lnSpc>
                <a:spcPct val="150000"/>
              </a:lnSpc>
              <a:buNone/>
            </a:pPr>
            <a:r>
              <a:rPr lang="en-US" dirty="0"/>
              <a:t>✅ </a:t>
            </a:r>
            <a:r>
              <a:rPr lang="en-US" b="1" dirty="0"/>
              <a:t>How to apply for leave</a:t>
            </a:r>
            <a:br>
              <a:rPr lang="en-US" dirty="0"/>
            </a:br>
            <a:r>
              <a:rPr lang="en-US" dirty="0"/>
              <a:t>1️⃣ The worker must </a:t>
            </a:r>
            <a:r>
              <a:rPr lang="en-US" b="1" dirty="0"/>
              <a:t>apply in writing</a:t>
            </a:r>
            <a:r>
              <a:rPr lang="en-US" dirty="0"/>
              <a:t>, clearly stating where they will stay during the leave.</a:t>
            </a:r>
          </a:p>
          <a:p>
            <a:pPr marL="0" indent="0">
              <a:lnSpc>
                <a:spcPct val="150000"/>
              </a:lnSpc>
              <a:buNone/>
            </a:pPr>
            <a:r>
              <a:rPr lang="en-US" dirty="0"/>
              <a:t>2️⃣ The </a:t>
            </a:r>
            <a:r>
              <a:rPr lang="en-US" b="1" dirty="0"/>
              <a:t>employer</a:t>
            </a:r>
            <a:r>
              <a:rPr lang="en-US" dirty="0"/>
              <a:t> (or someone authorized) must give a decision </a:t>
            </a:r>
            <a:r>
              <a:rPr lang="en-US" b="1" dirty="0"/>
              <a:t>within 7 days</a:t>
            </a:r>
            <a:r>
              <a:rPr lang="en-US" dirty="0"/>
              <a:t> of receiving the application — or at least </a:t>
            </a:r>
            <a:r>
              <a:rPr lang="en-US" b="1" dirty="0"/>
              <a:t>2 days before</a:t>
            </a:r>
            <a:r>
              <a:rPr lang="en-US" dirty="0"/>
              <a:t> the leave is supposed to start (whichever is earlier).</a:t>
            </a:r>
            <a:br>
              <a:rPr lang="en-US" dirty="0"/>
            </a:br>
            <a:r>
              <a:rPr lang="en-US" dirty="0"/>
              <a:t>👉 </a:t>
            </a:r>
            <a:r>
              <a:rPr lang="en-US" b="1" dirty="0"/>
              <a:t>Exception:</a:t>
            </a:r>
            <a:r>
              <a:rPr lang="en-US" dirty="0"/>
              <a:t> If it’s an emergency and leave starts the same day or within 3 days, the employer must reply </a:t>
            </a:r>
            <a:r>
              <a:rPr lang="en-US" b="1" dirty="0"/>
              <a:t>the same day</a:t>
            </a:r>
            <a:r>
              <a:rPr lang="en-US" dirty="0"/>
              <a:t>.</a:t>
            </a:r>
          </a:p>
        </p:txBody>
      </p:sp>
      <p:sp>
        <p:nvSpPr>
          <p:cNvPr id="2" name="Title 1">
            <a:extLst>
              <a:ext uri="{FF2B5EF4-FFF2-40B4-BE49-F238E27FC236}">
                <a16:creationId xmlns:a16="http://schemas.microsoft.com/office/drawing/2014/main" id="{6C931999-35F1-AFAC-19A5-4DF13A564186}"/>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10. Procedure for Leave</a:t>
            </a:r>
          </a:p>
        </p:txBody>
      </p:sp>
    </p:spTree>
    <p:extLst>
      <p:ext uri="{BB962C8B-B14F-4D97-AF65-F5344CB8AC3E}">
        <p14:creationId xmlns:p14="http://schemas.microsoft.com/office/powerpoint/2010/main" val="2448460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859B0-B041-DB1F-9556-36425F4037B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4B8586-E771-E464-3E33-1CBB0503ABAE}"/>
              </a:ext>
            </a:extLst>
          </p:cNvPr>
          <p:cNvSpPr>
            <a:spLocks noGrp="1"/>
          </p:cNvSpPr>
          <p:nvPr>
            <p:ph idx="1"/>
          </p:nvPr>
        </p:nvSpPr>
        <p:spPr>
          <a:xfrm>
            <a:off x="753979" y="1351320"/>
            <a:ext cx="10515600" cy="5097605"/>
          </a:xfrm>
        </p:spPr>
        <p:txBody>
          <a:bodyPr>
            <a:normAutofit/>
          </a:bodyPr>
          <a:lstStyle/>
          <a:p>
            <a:pPr marL="0" indent="0">
              <a:lnSpc>
                <a:spcPct val="150000"/>
              </a:lnSpc>
              <a:buNone/>
            </a:pPr>
            <a:r>
              <a:rPr lang="en-US" dirty="0"/>
              <a:t>3️⃣ If the leave is </a:t>
            </a:r>
            <a:r>
              <a:rPr lang="en-US" b="1" dirty="0"/>
              <a:t>approved</a:t>
            </a:r>
            <a:r>
              <a:rPr lang="en-US" dirty="0"/>
              <a:t>, a </a:t>
            </a:r>
            <a:r>
              <a:rPr lang="en-US" b="1" dirty="0"/>
              <a:t>leave pass</a:t>
            </a:r>
            <a:r>
              <a:rPr lang="en-US" dirty="0"/>
              <a:t> is given to the worker.</a:t>
            </a:r>
          </a:p>
          <a:p>
            <a:pPr marL="0" indent="0">
              <a:lnSpc>
                <a:spcPct val="150000"/>
              </a:lnSpc>
              <a:buNone/>
            </a:pPr>
            <a:r>
              <a:rPr lang="en-US" dirty="0"/>
              <a:t>4️⃣ If the leave is </a:t>
            </a:r>
            <a:r>
              <a:rPr lang="en-US" b="1" dirty="0"/>
              <a:t>refused or postponed</a:t>
            </a:r>
            <a:r>
              <a:rPr lang="en-US" dirty="0"/>
              <a:t>, the reason must be shared </a:t>
            </a:r>
            <a:r>
              <a:rPr lang="en-US" b="1" dirty="0"/>
              <a:t>before the leave date</a:t>
            </a:r>
            <a:r>
              <a:rPr lang="en-US" dirty="0"/>
              <a:t>, and it must be </a:t>
            </a:r>
            <a:r>
              <a:rPr lang="en-US" b="1" dirty="0"/>
              <a:t>recorded</a:t>
            </a:r>
            <a:r>
              <a:rPr lang="en-US" dirty="0"/>
              <a:t> in a register.</a:t>
            </a:r>
          </a:p>
          <a:p>
            <a:pPr marL="0" indent="0">
              <a:lnSpc>
                <a:spcPct val="150000"/>
              </a:lnSpc>
              <a:buNone/>
            </a:pPr>
            <a:r>
              <a:rPr lang="en-US" dirty="0"/>
              <a:t>5️⃣ If a worker wants to </a:t>
            </a:r>
            <a:r>
              <a:rPr lang="en-US" b="1" dirty="0"/>
              <a:t>extend the leave</a:t>
            </a:r>
            <a:r>
              <a:rPr lang="en-US" dirty="0"/>
              <a:t>, they must write by </a:t>
            </a:r>
            <a:r>
              <a:rPr lang="en-US" b="1" dirty="0"/>
              <a:t>registered post</a:t>
            </a:r>
            <a:r>
              <a:rPr lang="en-US" dirty="0"/>
              <a:t> before their current leave ends. The employer must reply in writing to their leave address.</a:t>
            </a:r>
          </a:p>
        </p:txBody>
      </p:sp>
      <p:sp>
        <p:nvSpPr>
          <p:cNvPr id="2" name="Title 1">
            <a:extLst>
              <a:ext uri="{FF2B5EF4-FFF2-40B4-BE49-F238E27FC236}">
                <a16:creationId xmlns:a16="http://schemas.microsoft.com/office/drawing/2014/main" id="{840B40D5-A709-8A82-81E3-9A86201E95A1}"/>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10. Procedure for Leave…</a:t>
            </a:r>
          </a:p>
        </p:txBody>
      </p:sp>
    </p:spTree>
    <p:extLst>
      <p:ext uri="{BB962C8B-B14F-4D97-AF65-F5344CB8AC3E}">
        <p14:creationId xmlns:p14="http://schemas.microsoft.com/office/powerpoint/2010/main" val="1971553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3B788-5A02-A485-013B-25EB1114FDC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40E63E-2FB4-48E7-A604-D1C7F6EA4F48}"/>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What happens to unused leave?</a:t>
            </a:r>
          </a:p>
          <a:p>
            <a:pPr marL="0" indent="0">
              <a:buNone/>
            </a:pPr>
            <a:endParaRPr lang="en-US" b="1" dirty="0"/>
          </a:p>
          <a:p>
            <a:r>
              <a:rPr lang="en-US" dirty="0"/>
              <a:t>If a worker still has </a:t>
            </a:r>
            <a:r>
              <a:rPr lang="en-US" b="1" dirty="0"/>
              <a:t>annual leave days left</a:t>
            </a:r>
            <a:r>
              <a:rPr lang="en-US" dirty="0"/>
              <a:t>, the </a:t>
            </a:r>
            <a:r>
              <a:rPr lang="en-US" b="1" dirty="0"/>
              <a:t>employer must pay</a:t>
            </a:r>
            <a:r>
              <a:rPr lang="en-US" dirty="0"/>
              <a:t> for those days as if the worker had taken them as </a:t>
            </a:r>
            <a:r>
              <a:rPr lang="en-US" b="1" dirty="0"/>
              <a:t>paid leave</a:t>
            </a:r>
            <a:r>
              <a:rPr lang="en-US" dirty="0"/>
              <a:t>.</a:t>
            </a:r>
          </a:p>
          <a:p>
            <a:r>
              <a:rPr lang="en-US" dirty="0"/>
              <a:t>For example, if a worker had </a:t>
            </a:r>
            <a:r>
              <a:rPr lang="en-US" b="1" dirty="0"/>
              <a:t>10 days of leave left</a:t>
            </a:r>
            <a:r>
              <a:rPr lang="en-US" dirty="0"/>
              <a:t>, they will get money equal to </a:t>
            </a:r>
            <a:r>
              <a:rPr lang="en-US" b="1" dirty="0"/>
              <a:t>10 days of wages</a:t>
            </a:r>
            <a:r>
              <a:rPr lang="en-US" dirty="0"/>
              <a:t>, even if they didn’t take the leave before leaving the job.</a:t>
            </a:r>
          </a:p>
          <a:p>
            <a:pPr marL="0" indent="0">
              <a:buNone/>
            </a:pPr>
            <a:endParaRPr lang="en-US" dirty="0"/>
          </a:p>
        </p:txBody>
      </p:sp>
      <p:sp>
        <p:nvSpPr>
          <p:cNvPr id="2" name="Title 1">
            <a:extLst>
              <a:ext uri="{FF2B5EF4-FFF2-40B4-BE49-F238E27FC236}">
                <a16:creationId xmlns:a16="http://schemas.microsoft.com/office/drawing/2014/main" id="{6C972325-D86F-5DFE-D487-997AF6FDE811}"/>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11. Payment of Wages for Unavailed Leave</a:t>
            </a:r>
          </a:p>
        </p:txBody>
      </p:sp>
    </p:spTree>
    <p:extLst>
      <p:ext uri="{BB962C8B-B14F-4D97-AF65-F5344CB8AC3E}">
        <p14:creationId xmlns:p14="http://schemas.microsoft.com/office/powerpoint/2010/main" val="3723534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C18A3-7B22-A035-B6CC-2C7F069CDFF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334710-4246-5CE7-36A4-9A7A5033E8BD}"/>
              </a:ext>
            </a:extLst>
          </p:cNvPr>
          <p:cNvSpPr>
            <a:spLocks noGrp="1"/>
          </p:cNvSpPr>
          <p:nvPr>
            <p:ph idx="1"/>
          </p:nvPr>
        </p:nvSpPr>
        <p:spPr>
          <a:xfrm>
            <a:off x="753979" y="1351320"/>
            <a:ext cx="10515600" cy="5097605"/>
          </a:xfrm>
        </p:spPr>
        <p:txBody>
          <a:bodyPr>
            <a:normAutofit/>
          </a:bodyPr>
          <a:lstStyle/>
          <a:p>
            <a:pPr marL="0" indent="0">
              <a:buNone/>
            </a:pPr>
            <a:r>
              <a:rPr lang="en-US" dirty="0"/>
              <a:t>When a worker (not a substitute or casual worker) who has worked for at least </a:t>
            </a:r>
            <a:r>
              <a:rPr lang="en-US" b="1" dirty="0"/>
              <a:t>one year</a:t>
            </a:r>
            <a:r>
              <a:rPr lang="en-US" dirty="0"/>
              <a:t> is </a:t>
            </a:r>
            <a:r>
              <a:rPr lang="en-US" b="1" dirty="0"/>
              <a:t>laid off</a:t>
            </a:r>
            <a:r>
              <a:rPr lang="en-US" dirty="0"/>
              <a:t>, they have the right to compensation to prevent financial hardship.</a:t>
            </a:r>
          </a:p>
          <a:p>
            <a:endParaRPr lang="en-US" dirty="0"/>
          </a:p>
          <a:p>
            <a:pPr marL="0" indent="0">
              <a:buNone/>
            </a:pPr>
            <a:r>
              <a:rPr lang="en-US" dirty="0"/>
              <a:t>✅ </a:t>
            </a:r>
            <a:r>
              <a:rPr lang="en-US" b="1" dirty="0"/>
              <a:t>Who gets this compensation?</a:t>
            </a:r>
            <a:endParaRPr lang="en-US" dirty="0"/>
          </a:p>
          <a:p>
            <a:r>
              <a:rPr lang="en-US" dirty="0"/>
              <a:t>Workers who are on the </a:t>
            </a:r>
            <a:r>
              <a:rPr lang="en-US" b="1" dirty="0"/>
              <a:t>muster roll</a:t>
            </a:r>
            <a:r>
              <a:rPr lang="en-US" dirty="0"/>
              <a:t> (official worker list) and have completed at least </a:t>
            </a:r>
            <a:r>
              <a:rPr lang="en-US" b="1" dirty="0"/>
              <a:t>1 year of service</a:t>
            </a:r>
            <a:r>
              <a:rPr lang="en-US" dirty="0"/>
              <a:t>.</a:t>
            </a:r>
          </a:p>
          <a:p>
            <a:r>
              <a:rPr lang="en-US" dirty="0"/>
              <a:t>Even a substitute worker can get it if they have served continuously for </a:t>
            </a:r>
            <a:r>
              <a:rPr lang="en-US" b="1" dirty="0"/>
              <a:t>1 year</a:t>
            </a:r>
            <a:r>
              <a:rPr lang="en-US" dirty="0"/>
              <a:t>, in which case they won't be treated as a "substitute" for this purpose.</a:t>
            </a:r>
          </a:p>
          <a:p>
            <a:pPr marL="0" indent="0">
              <a:buNone/>
            </a:pPr>
            <a:endParaRPr lang="en-US" dirty="0"/>
          </a:p>
        </p:txBody>
      </p:sp>
      <p:sp>
        <p:nvSpPr>
          <p:cNvPr id="2" name="Title 1">
            <a:extLst>
              <a:ext uri="{FF2B5EF4-FFF2-40B4-BE49-F238E27FC236}">
                <a16:creationId xmlns:a16="http://schemas.microsoft.com/office/drawing/2014/main" id="{EA48B003-2B9F-017B-C5F6-A054F1351858}"/>
              </a:ext>
            </a:extLst>
          </p:cNvPr>
          <p:cNvSpPr>
            <a:spLocks noGrp="1"/>
          </p:cNvSpPr>
          <p:nvPr>
            <p:ph type="ctrTitle" idx="4294967295"/>
          </p:nvPr>
        </p:nvSpPr>
        <p:spPr>
          <a:xfrm>
            <a:off x="0" y="212725"/>
            <a:ext cx="9640888" cy="893763"/>
          </a:xfrm>
          <a:prstGeom prst="rect">
            <a:avLst/>
          </a:prstGeom>
        </p:spPr>
        <p:txBody>
          <a:bodyPr/>
          <a:lstStyle/>
          <a:p>
            <a:r>
              <a:rPr lang="en-US" sz="3200" b="1" dirty="0">
                <a:solidFill>
                  <a:schemeClr val="bg1"/>
                </a:solidFill>
                <a:latin typeface="Bell MT" panose="02020503060305020303" pitchFamily="18" charset="0"/>
              </a:rPr>
              <a:t>16. Right of laid-off workers for compensation</a:t>
            </a:r>
            <a:endParaRPr lang="en-GB" sz="3200" b="1" dirty="0">
              <a:solidFill>
                <a:schemeClr val="bg1"/>
              </a:solidFill>
              <a:latin typeface="Bell MT" panose="02020503060305020303" pitchFamily="18" charset="0"/>
            </a:endParaRPr>
          </a:p>
        </p:txBody>
      </p:sp>
    </p:spTree>
    <p:extLst>
      <p:ext uri="{BB962C8B-B14F-4D97-AF65-F5344CB8AC3E}">
        <p14:creationId xmlns:p14="http://schemas.microsoft.com/office/powerpoint/2010/main" val="509899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52825-451E-06AE-7222-FCA7357FACC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FB9C8F-999D-B32D-AF0D-91B1D12A4BB9}"/>
              </a:ext>
            </a:extLst>
          </p:cNvPr>
          <p:cNvSpPr>
            <a:spLocks noGrp="1"/>
          </p:cNvSpPr>
          <p:nvPr>
            <p:ph idx="1"/>
          </p:nvPr>
        </p:nvSpPr>
        <p:spPr>
          <a:xfrm>
            <a:off x="753979" y="1351320"/>
            <a:ext cx="10515600" cy="5097605"/>
          </a:xfrm>
        </p:spPr>
        <p:txBody>
          <a:bodyPr>
            <a:normAutofit fontScale="92500" lnSpcReduction="10000"/>
          </a:bodyPr>
          <a:lstStyle/>
          <a:p>
            <a:pPr marL="0" indent="0">
              <a:buNone/>
            </a:pPr>
            <a:r>
              <a:rPr lang="en-US" dirty="0"/>
              <a:t>✅ </a:t>
            </a:r>
            <a:r>
              <a:rPr lang="en-US" b="1" dirty="0"/>
              <a:t>How much is the compensation?</a:t>
            </a:r>
            <a:endParaRPr lang="en-US" dirty="0"/>
          </a:p>
          <a:p>
            <a:r>
              <a:rPr lang="en-US" dirty="0"/>
              <a:t>For each day of lay-off (excluding weekly holidays), the worker gets:</a:t>
            </a:r>
            <a:br>
              <a:rPr lang="en-US" dirty="0"/>
            </a:br>
            <a:r>
              <a:rPr lang="en-US" dirty="0"/>
              <a:t>✔ </a:t>
            </a:r>
            <a:r>
              <a:rPr lang="en-US" b="1" dirty="0"/>
              <a:t>Half of the total of basic wages + dearness allowance + ad-hoc/interim wages</a:t>
            </a:r>
            <a:r>
              <a:rPr lang="en-US" dirty="0"/>
              <a:t>.</a:t>
            </a:r>
            <a:br>
              <a:rPr lang="en-US" dirty="0"/>
            </a:br>
            <a:r>
              <a:rPr lang="en-US" dirty="0"/>
              <a:t>✔ </a:t>
            </a:r>
            <a:r>
              <a:rPr lang="en-US" b="1" dirty="0"/>
              <a:t>Full amount of housing allowance</a:t>
            </a:r>
            <a:r>
              <a:rPr lang="en-US" dirty="0"/>
              <a:t> as if they were working.</a:t>
            </a:r>
          </a:p>
          <a:p>
            <a:pPr marL="0" indent="0">
              <a:buNone/>
            </a:pPr>
            <a:endParaRPr lang="en-US" dirty="0"/>
          </a:p>
          <a:p>
            <a:pPr marL="0" indent="0">
              <a:buNone/>
            </a:pPr>
            <a:r>
              <a:rPr lang="en-US" dirty="0"/>
              <a:t>✅ </a:t>
            </a:r>
            <a:r>
              <a:rPr lang="en-US" b="1" dirty="0"/>
              <a:t>Any limits?</a:t>
            </a:r>
            <a:endParaRPr lang="en-US" dirty="0"/>
          </a:p>
          <a:p>
            <a:r>
              <a:rPr lang="en-US" dirty="0"/>
              <a:t>Normally, compensation is given for a </a:t>
            </a:r>
            <a:r>
              <a:rPr lang="en-US" b="1" dirty="0"/>
              <a:t>maximum of 45 days</a:t>
            </a:r>
            <a:r>
              <a:rPr lang="en-US" dirty="0"/>
              <a:t> in a calendar year.</a:t>
            </a:r>
          </a:p>
          <a:p>
            <a:r>
              <a:rPr lang="en-US" dirty="0"/>
              <a:t>If the lay-off extends </a:t>
            </a:r>
            <a:r>
              <a:rPr lang="en-US" b="1" dirty="0"/>
              <a:t>beyond 45 days</a:t>
            </a:r>
            <a:r>
              <a:rPr lang="en-US" dirty="0"/>
              <a:t> and continues for </a:t>
            </a:r>
            <a:r>
              <a:rPr lang="en-US" b="1" dirty="0"/>
              <a:t>at least another 15 days</a:t>
            </a:r>
            <a:r>
              <a:rPr lang="en-US" dirty="0"/>
              <a:t>, the worker must be paid again, but this time:</a:t>
            </a:r>
            <a:br>
              <a:rPr lang="en-US" dirty="0"/>
            </a:br>
            <a:r>
              <a:rPr lang="en-US" dirty="0"/>
              <a:t>✔ They get </a:t>
            </a:r>
            <a:r>
              <a:rPr lang="en-US" b="1" dirty="0"/>
              <a:t>one-fourth of the basic wages + dearness allowance + ad-hoc/interim wages</a:t>
            </a:r>
            <a:r>
              <a:rPr lang="en-US" dirty="0"/>
              <a:t>, and full housing allowance.</a:t>
            </a:r>
          </a:p>
          <a:p>
            <a:pPr marL="0" indent="0">
              <a:buNone/>
            </a:pPr>
            <a:endParaRPr lang="en-US" dirty="0"/>
          </a:p>
        </p:txBody>
      </p:sp>
      <p:sp>
        <p:nvSpPr>
          <p:cNvPr id="2" name="Title 1">
            <a:extLst>
              <a:ext uri="{FF2B5EF4-FFF2-40B4-BE49-F238E27FC236}">
                <a16:creationId xmlns:a16="http://schemas.microsoft.com/office/drawing/2014/main" id="{4CF37E2C-F871-B1FD-9030-4CBFFE1CA922}"/>
              </a:ext>
            </a:extLst>
          </p:cNvPr>
          <p:cNvSpPr>
            <a:spLocks noGrp="1"/>
          </p:cNvSpPr>
          <p:nvPr>
            <p:ph type="ctrTitle" idx="4294967295"/>
          </p:nvPr>
        </p:nvSpPr>
        <p:spPr>
          <a:xfrm>
            <a:off x="0" y="212725"/>
            <a:ext cx="9640888" cy="893763"/>
          </a:xfrm>
          <a:prstGeom prst="rect">
            <a:avLst/>
          </a:prstGeom>
        </p:spPr>
        <p:txBody>
          <a:bodyPr/>
          <a:lstStyle/>
          <a:p>
            <a:r>
              <a:rPr lang="en-US" sz="3200" b="1" dirty="0">
                <a:solidFill>
                  <a:schemeClr val="bg1"/>
                </a:solidFill>
                <a:latin typeface="Bell MT" panose="02020503060305020303" pitchFamily="18" charset="0"/>
              </a:rPr>
              <a:t>16. Right of laid-off workers for compensation…</a:t>
            </a:r>
            <a:endParaRPr lang="en-GB" sz="3200" b="1" dirty="0">
              <a:solidFill>
                <a:schemeClr val="bg1"/>
              </a:solidFill>
              <a:latin typeface="Bell MT" panose="02020503060305020303" pitchFamily="18" charset="0"/>
            </a:endParaRPr>
          </a:p>
        </p:txBody>
      </p:sp>
    </p:spTree>
    <p:extLst>
      <p:ext uri="{BB962C8B-B14F-4D97-AF65-F5344CB8AC3E}">
        <p14:creationId xmlns:p14="http://schemas.microsoft.com/office/powerpoint/2010/main" val="3971399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D0A6D-6830-4B94-C98B-DC3062390B1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A14AFA-83FE-A411-B0C9-C61521E0E7B1}"/>
              </a:ext>
            </a:extLst>
          </p:cNvPr>
          <p:cNvSpPr>
            <a:spLocks noGrp="1"/>
          </p:cNvSpPr>
          <p:nvPr>
            <p:ph idx="1"/>
          </p:nvPr>
        </p:nvSpPr>
        <p:spPr>
          <a:xfrm>
            <a:off x="753979" y="1351320"/>
            <a:ext cx="10515600" cy="5097605"/>
          </a:xfrm>
        </p:spPr>
        <p:txBody>
          <a:bodyPr>
            <a:normAutofit lnSpcReduction="10000"/>
          </a:bodyPr>
          <a:lstStyle/>
          <a:p>
            <a:pPr marL="0" indent="0">
              <a:buNone/>
            </a:pPr>
            <a:r>
              <a:rPr lang="en-US" dirty="0"/>
              <a:t>When a worker who has worked </a:t>
            </a:r>
            <a:r>
              <a:rPr lang="en-US" b="1" dirty="0"/>
              <a:t>continuously for at least 2 years</a:t>
            </a:r>
            <a:r>
              <a:rPr lang="en-US" dirty="0"/>
              <a:t> dies while in service, the law ensures that their family is not left empty-handed.</a:t>
            </a:r>
          </a:p>
          <a:p>
            <a:pPr marL="0" indent="0">
              <a:buNone/>
            </a:pPr>
            <a:r>
              <a:rPr lang="en-US" dirty="0"/>
              <a:t>✅ </a:t>
            </a:r>
            <a:r>
              <a:rPr lang="en-US" b="1" dirty="0"/>
              <a:t>How is the compensation calculated?</a:t>
            </a:r>
            <a:endParaRPr lang="en-US" dirty="0"/>
          </a:p>
          <a:p>
            <a:r>
              <a:rPr lang="en-US" dirty="0"/>
              <a:t>If a worker </a:t>
            </a:r>
            <a:r>
              <a:rPr lang="en-US" b="1" dirty="0"/>
              <a:t>dies while working</a:t>
            </a:r>
            <a:r>
              <a:rPr lang="en-US" dirty="0"/>
              <a:t> (or because of an accident at work), the employer must pay </a:t>
            </a:r>
            <a:r>
              <a:rPr lang="en-US" b="1" dirty="0"/>
              <a:t>45 days’ wages</a:t>
            </a:r>
            <a:r>
              <a:rPr lang="en-US" dirty="0"/>
              <a:t> for every </a:t>
            </a:r>
            <a:r>
              <a:rPr lang="en-US" b="1" dirty="0"/>
              <a:t>completed year of service</a:t>
            </a:r>
            <a:r>
              <a:rPr lang="en-US" dirty="0"/>
              <a:t>, or for any part of a year that is more than 6 months.</a:t>
            </a:r>
          </a:p>
          <a:p>
            <a:r>
              <a:rPr lang="en-US" dirty="0"/>
              <a:t>If the death happens </a:t>
            </a:r>
            <a:r>
              <a:rPr lang="en-US" b="1" dirty="0"/>
              <a:t>not while working</a:t>
            </a:r>
            <a:r>
              <a:rPr lang="en-US" dirty="0"/>
              <a:t>, but after serving more than 2 years, the compensation is </a:t>
            </a:r>
            <a:r>
              <a:rPr lang="en-US" b="1" dirty="0"/>
              <a:t>30 days’ wages</a:t>
            </a:r>
            <a:r>
              <a:rPr lang="en-US" dirty="0"/>
              <a:t> for every completed year, or for any part of a year that is more than 6 months.</a:t>
            </a:r>
          </a:p>
          <a:p>
            <a:r>
              <a:rPr lang="en-US" dirty="0"/>
              <a:t>The worker’s family will get </a:t>
            </a:r>
            <a:r>
              <a:rPr lang="en-US" b="1" dirty="0"/>
              <a:t>whichever is higher</a:t>
            </a:r>
            <a:r>
              <a:rPr lang="en-US" dirty="0"/>
              <a:t>: the calculated compensation or any gratuity benefit.</a:t>
            </a:r>
          </a:p>
          <a:p>
            <a:pPr marL="0" indent="0">
              <a:buNone/>
            </a:pPr>
            <a:endParaRPr lang="en-US" dirty="0"/>
          </a:p>
        </p:txBody>
      </p:sp>
      <p:sp>
        <p:nvSpPr>
          <p:cNvPr id="2" name="Title 1">
            <a:extLst>
              <a:ext uri="{FF2B5EF4-FFF2-40B4-BE49-F238E27FC236}">
                <a16:creationId xmlns:a16="http://schemas.microsoft.com/office/drawing/2014/main" id="{EE3A0F01-5A61-3A6D-9916-DC2790639372}"/>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19. Compensation for Death</a:t>
            </a:r>
          </a:p>
        </p:txBody>
      </p:sp>
    </p:spTree>
    <p:extLst>
      <p:ext uri="{BB962C8B-B14F-4D97-AF65-F5344CB8AC3E}">
        <p14:creationId xmlns:p14="http://schemas.microsoft.com/office/powerpoint/2010/main" val="3233409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CC9C2-CE7F-CBBF-5C1C-63ADA48A145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16E7E8-581C-9B42-446F-400ACC8B51D3}"/>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When can a worker be retrenched?</a:t>
            </a:r>
            <a:endParaRPr lang="en-US" dirty="0"/>
          </a:p>
          <a:p>
            <a:r>
              <a:rPr lang="en-US" dirty="0"/>
              <a:t>If a worker has been in </a:t>
            </a:r>
            <a:r>
              <a:rPr lang="en-US" b="1" dirty="0"/>
              <a:t>continuous service for at least 1 year</a:t>
            </a:r>
            <a:r>
              <a:rPr lang="en-US" dirty="0"/>
              <a:t>, they can be retrenched for reasons like </a:t>
            </a:r>
            <a:r>
              <a:rPr lang="en-US" b="1" dirty="0"/>
              <a:t>redundancy</a:t>
            </a:r>
            <a:r>
              <a:rPr lang="en-US" dirty="0"/>
              <a:t> (meaning their role is no longer needed).</a:t>
            </a:r>
          </a:p>
          <a:p>
            <a:endParaRPr lang="en-US" dirty="0"/>
          </a:p>
          <a:p>
            <a:pPr marL="0" indent="0">
              <a:buNone/>
            </a:pPr>
            <a:r>
              <a:rPr lang="en-US" dirty="0"/>
              <a:t>✅ </a:t>
            </a:r>
            <a:r>
              <a:rPr lang="en-US" b="1" dirty="0"/>
              <a:t>What must the employer do?</a:t>
            </a:r>
            <a:br>
              <a:rPr lang="en-US" dirty="0"/>
            </a:br>
            <a:r>
              <a:rPr lang="en-US" dirty="0"/>
              <a:t>1️⃣ </a:t>
            </a:r>
            <a:r>
              <a:rPr lang="en-US" b="1" dirty="0"/>
              <a:t>Give 1 month's written notice</a:t>
            </a:r>
            <a:r>
              <a:rPr lang="en-US" dirty="0"/>
              <a:t> clearly stating the reason for retrenchment.</a:t>
            </a:r>
            <a:br>
              <a:rPr lang="en-US" dirty="0"/>
            </a:br>
            <a:r>
              <a:rPr lang="en-US" dirty="0"/>
              <a:t>OR,</a:t>
            </a:r>
            <a:br>
              <a:rPr lang="en-US" dirty="0"/>
            </a:br>
            <a:r>
              <a:rPr lang="en-US" dirty="0"/>
              <a:t>Pay </a:t>
            </a:r>
            <a:r>
              <a:rPr lang="en-US" b="1" dirty="0"/>
              <a:t>wages in lieu of notice</a:t>
            </a:r>
            <a:r>
              <a:rPr lang="en-US" dirty="0"/>
              <a:t> (if they don’t want to wait for one month).</a:t>
            </a:r>
          </a:p>
          <a:p>
            <a:pPr marL="0" indent="0">
              <a:buNone/>
            </a:pPr>
            <a:endParaRPr lang="en-US" dirty="0"/>
          </a:p>
        </p:txBody>
      </p:sp>
      <p:sp>
        <p:nvSpPr>
          <p:cNvPr id="2" name="Title 1">
            <a:extLst>
              <a:ext uri="{FF2B5EF4-FFF2-40B4-BE49-F238E27FC236}">
                <a16:creationId xmlns:a16="http://schemas.microsoft.com/office/drawing/2014/main" id="{CEC4F568-5CD2-CC38-6AD3-9EA1871C7E8C}"/>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20. Retrenchment</a:t>
            </a:r>
          </a:p>
        </p:txBody>
      </p:sp>
    </p:spTree>
    <p:extLst>
      <p:ext uri="{BB962C8B-B14F-4D97-AF65-F5344CB8AC3E}">
        <p14:creationId xmlns:p14="http://schemas.microsoft.com/office/powerpoint/2010/main" val="1343498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4F993-BDD4-289D-66C3-339FDEAD780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34A6F4-9F1D-5522-B7E3-62E1E9D9E9D6}"/>
              </a:ext>
            </a:extLst>
          </p:cNvPr>
          <p:cNvSpPr>
            <a:spLocks noGrp="1"/>
          </p:cNvSpPr>
          <p:nvPr>
            <p:ph idx="1"/>
          </p:nvPr>
        </p:nvSpPr>
        <p:spPr>
          <a:xfrm>
            <a:off x="753979" y="1351320"/>
            <a:ext cx="10515600" cy="5097605"/>
          </a:xfrm>
        </p:spPr>
        <p:txBody>
          <a:bodyPr>
            <a:normAutofit/>
          </a:bodyPr>
          <a:lstStyle/>
          <a:p>
            <a:pPr marL="0" indent="0">
              <a:buNone/>
            </a:pPr>
            <a:r>
              <a:rPr lang="en-US" dirty="0"/>
              <a:t>2️⃣ </a:t>
            </a:r>
            <a:r>
              <a:rPr lang="en-US" b="1" dirty="0"/>
              <a:t>Send a copy of the notice</a:t>
            </a:r>
            <a:r>
              <a:rPr lang="en-US" dirty="0"/>
              <a:t> to:</a:t>
            </a:r>
          </a:p>
          <a:p>
            <a:pPr marL="0" indent="0">
              <a:buNone/>
            </a:pPr>
            <a:r>
              <a:rPr lang="en-US" dirty="0"/>
              <a:t>The </a:t>
            </a:r>
            <a:r>
              <a:rPr lang="en-US" b="1" dirty="0"/>
              <a:t>Inspector General of </a:t>
            </a:r>
            <a:r>
              <a:rPr lang="en-US" b="1" dirty="0" err="1"/>
              <a:t>Labour</a:t>
            </a:r>
            <a:r>
              <a:rPr lang="en-US" dirty="0"/>
              <a:t> or an officer specified by him.</a:t>
            </a:r>
          </a:p>
          <a:p>
            <a:pPr marL="0" indent="0">
              <a:buNone/>
            </a:pPr>
            <a:r>
              <a:rPr lang="en-US" dirty="0"/>
              <a:t>The </a:t>
            </a:r>
            <a:r>
              <a:rPr lang="en-US" b="1" dirty="0"/>
              <a:t>collective bargaining agent</a:t>
            </a:r>
            <a:r>
              <a:rPr lang="en-US" dirty="0"/>
              <a:t> (like a workers’ union), if there is one.</a:t>
            </a:r>
          </a:p>
          <a:p>
            <a:pPr marL="0" indent="0">
              <a:buNone/>
            </a:pPr>
            <a:endParaRPr lang="en-US" dirty="0"/>
          </a:p>
          <a:p>
            <a:pPr marL="0" indent="0">
              <a:buNone/>
            </a:pPr>
            <a:r>
              <a:rPr lang="en-US" dirty="0"/>
              <a:t>3️⃣ </a:t>
            </a:r>
            <a:r>
              <a:rPr lang="en-US" b="1" dirty="0"/>
              <a:t>Pay compensation</a:t>
            </a:r>
            <a:r>
              <a:rPr lang="en-US" dirty="0"/>
              <a:t>:</a:t>
            </a:r>
          </a:p>
          <a:p>
            <a:pPr marL="0" indent="0">
              <a:buNone/>
            </a:pPr>
            <a:r>
              <a:rPr lang="en-US" b="1" dirty="0"/>
              <a:t>30 days’ wages for every completed year of service</a:t>
            </a:r>
            <a:r>
              <a:rPr lang="en-US" dirty="0"/>
              <a:t>, or</a:t>
            </a:r>
          </a:p>
          <a:p>
            <a:pPr marL="0" indent="0">
              <a:buNone/>
            </a:pPr>
            <a:r>
              <a:rPr lang="en-US" b="1" dirty="0"/>
              <a:t>Gratuity</a:t>
            </a:r>
            <a:r>
              <a:rPr lang="en-US" dirty="0"/>
              <a:t>, if applicable, </a:t>
            </a:r>
            <a:r>
              <a:rPr lang="en-US" b="1" dirty="0"/>
              <a:t>whichever amount is higher</a:t>
            </a:r>
            <a:r>
              <a:rPr lang="en-US" dirty="0"/>
              <a:t>.</a:t>
            </a:r>
          </a:p>
          <a:p>
            <a:pPr marL="0" indent="0">
              <a:buNone/>
            </a:pPr>
            <a:endParaRPr lang="en-US" dirty="0"/>
          </a:p>
        </p:txBody>
      </p:sp>
      <p:sp>
        <p:nvSpPr>
          <p:cNvPr id="2" name="Title 1">
            <a:extLst>
              <a:ext uri="{FF2B5EF4-FFF2-40B4-BE49-F238E27FC236}">
                <a16:creationId xmlns:a16="http://schemas.microsoft.com/office/drawing/2014/main" id="{09CE2E24-D416-1A09-78AF-929114E82BFA}"/>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20. Retrenchment…</a:t>
            </a:r>
          </a:p>
        </p:txBody>
      </p:sp>
    </p:spTree>
    <p:extLst>
      <p:ext uri="{BB962C8B-B14F-4D97-AF65-F5344CB8AC3E}">
        <p14:creationId xmlns:p14="http://schemas.microsoft.com/office/powerpoint/2010/main" val="2173216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571E3-84A0-355F-C103-37FF49D3AA3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3038A6-631D-0EFA-7490-A618434D6441}"/>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When can a worker be discharged?</a:t>
            </a:r>
            <a:endParaRPr lang="en-US" dirty="0"/>
          </a:p>
          <a:p>
            <a:r>
              <a:rPr lang="en-US" dirty="0"/>
              <a:t>If they become </a:t>
            </a:r>
            <a:r>
              <a:rPr lang="en-US" b="1" dirty="0"/>
              <a:t>physically or mentally incapable</a:t>
            </a:r>
            <a:r>
              <a:rPr lang="en-US" dirty="0"/>
              <a:t> of doing their job.</a:t>
            </a:r>
          </a:p>
          <a:p>
            <a:r>
              <a:rPr lang="en-US" dirty="0"/>
              <a:t>If they have </a:t>
            </a:r>
            <a:r>
              <a:rPr lang="en-US" b="1" dirty="0"/>
              <a:t>continued ill-health</a:t>
            </a:r>
            <a:r>
              <a:rPr lang="en-US" dirty="0"/>
              <a:t>, certified by a </a:t>
            </a:r>
            <a:r>
              <a:rPr lang="en-US" b="1" dirty="0"/>
              <a:t>registered doctor</a:t>
            </a:r>
            <a:r>
              <a:rPr lang="en-US" dirty="0"/>
              <a:t>.</a:t>
            </a:r>
          </a:p>
          <a:p>
            <a:pPr marL="0" indent="0">
              <a:buNone/>
            </a:pPr>
            <a:endParaRPr lang="en-US" dirty="0"/>
          </a:p>
          <a:p>
            <a:pPr marL="0" indent="0">
              <a:buNone/>
            </a:pPr>
            <a:r>
              <a:rPr lang="en-US" dirty="0"/>
              <a:t>✅ </a:t>
            </a:r>
            <a:r>
              <a:rPr lang="en-US" b="1" dirty="0"/>
              <a:t>What benefits must the employer give?</a:t>
            </a:r>
            <a:endParaRPr lang="en-US" dirty="0"/>
          </a:p>
          <a:p>
            <a:r>
              <a:rPr lang="en-US" dirty="0"/>
              <a:t>If the worker has completed </a:t>
            </a:r>
            <a:r>
              <a:rPr lang="en-US" b="1" dirty="0"/>
              <a:t>at least 1 year of continuous service</a:t>
            </a:r>
            <a:r>
              <a:rPr lang="en-US" dirty="0"/>
              <a:t>, the employer must pay:</a:t>
            </a:r>
          </a:p>
          <a:p>
            <a:pPr lvl="1"/>
            <a:r>
              <a:rPr lang="en-US" b="1" dirty="0"/>
              <a:t>30 days’ wages for every year of service</a:t>
            </a:r>
            <a:r>
              <a:rPr lang="en-US" dirty="0"/>
              <a:t>, or</a:t>
            </a:r>
          </a:p>
          <a:p>
            <a:pPr lvl="1"/>
            <a:r>
              <a:rPr lang="en-US" b="1" dirty="0"/>
              <a:t>Gratuity</a:t>
            </a:r>
            <a:r>
              <a:rPr lang="en-US" dirty="0"/>
              <a:t>, if it is applicable,</a:t>
            </a:r>
          </a:p>
          <a:p>
            <a:pPr lvl="1"/>
            <a:r>
              <a:rPr lang="en-US" b="1" dirty="0"/>
              <a:t>Whichever is higher</a:t>
            </a:r>
            <a:r>
              <a:rPr lang="en-US" dirty="0"/>
              <a:t>.</a:t>
            </a:r>
          </a:p>
          <a:p>
            <a:pPr marL="0" indent="0">
              <a:buNone/>
            </a:pPr>
            <a:endParaRPr lang="en-US" dirty="0"/>
          </a:p>
        </p:txBody>
      </p:sp>
      <p:sp>
        <p:nvSpPr>
          <p:cNvPr id="2" name="Title 1">
            <a:extLst>
              <a:ext uri="{FF2B5EF4-FFF2-40B4-BE49-F238E27FC236}">
                <a16:creationId xmlns:a16="http://schemas.microsoft.com/office/drawing/2014/main" id="{6F6C0C1C-C1CA-FB76-CB25-BC7A8876F035}"/>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22. Discharge from service</a:t>
            </a:r>
          </a:p>
        </p:txBody>
      </p:sp>
    </p:spTree>
    <p:extLst>
      <p:ext uri="{BB962C8B-B14F-4D97-AF65-F5344CB8AC3E}">
        <p14:creationId xmlns:p14="http://schemas.microsoft.com/office/powerpoint/2010/main" val="1065758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C6CE8-A395-CC5E-43DC-74332B168DC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E43C73-3003-857E-6740-14A4AD3C398D}"/>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When can a worker be dismissed without notice or pay?</a:t>
            </a:r>
          </a:p>
          <a:p>
            <a:pPr marL="0" indent="0">
              <a:buNone/>
            </a:pPr>
            <a:br>
              <a:rPr lang="en-US" dirty="0"/>
            </a:br>
            <a:r>
              <a:rPr lang="en-US" dirty="0"/>
              <a:t>A worker can be </a:t>
            </a:r>
            <a:r>
              <a:rPr lang="en-US" b="1" dirty="0"/>
              <a:t>immediately dismissed</a:t>
            </a:r>
            <a:r>
              <a:rPr lang="en-US" dirty="0"/>
              <a:t>, without notice or payment in lieu of notice, if:</a:t>
            </a:r>
            <a:br>
              <a:rPr lang="en-US" dirty="0"/>
            </a:br>
            <a:r>
              <a:rPr lang="en-US" dirty="0"/>
              <a:t>1️⃣ They are </a:t>
            </a:r>
            <a:r>
              <a:rPr lang="en-US" b="1" dirty="0"/>
              <a:t>convicted of a criminal offence</a:t>
            </a:r>
            <a:r>
              <a:rPr lang="en-US" dirty="0"/>
              <a:t>, or</a:t>
            </a:r>
            <a:br>
              <a:rPr lang="en-US" dirty="0"/>
            </a:br>
            <a:r>
              <a:rPr lang="en-US" dirty="0"/>
              <a:t>2️⃣ They are </a:t>
            </a:r>
            <a:r>
              <a:rPr lang="en-US" b="1" dirty="0"/>
              <a:t>found guilty of serious misconduct</a:t>
            </a:r>
            <a:r>
              <a:rPr lang="en-US" dirty="0"/>
              <a:t>.</a:t>
            </a:r>
          </a:p>
        </p:txBody>
      </p:sp>
      <p:sp>
        <p:nvSpPr>
          <p:cNvPr id="2" name="Title 1">
            <a:extLst>
              <a:ext uri="{FF2B5EF4-FFF2-40B4-BE49-F238E27FC236}">
                <a16:creationId xmlns:a16="http://schemas.microsoft.com/office/drawing/2014/main" id="{694133C7-E694-91E9-443B-FE46E6587F45}"/>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23. Punishment for Misconduct and Conviction</a:t>
            </a:r>
          </a:p>
        </p:txBody>
      </p:sp>
    </p:spTree>
    <p:extLst>
      <p:ext uri="{BB962C8B-B14F-4D97-AF65-F5344CB8AC3E}">
        <p14:creationId xmlns:p14="http://schemas.microsoft.com/office/powerpoint/2010/main" val="2139840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E6ACE-B852-4774-B8DA-F219F285DCE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12ECE0-28E1-3A39-888D-19AA21CF84F2}"/>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Alternative punishments for misconduct (if not dismissed)</a:t>
            </a:r>
            <a:br>
              <a:rPr lang="en-US" dirty="0"/>
            </a:br>
            <a:r>
              <a:rPr lang="en-US" dirty="0"/>
              <a:t>Instead of dismissal, an employer may choose lighter punishments, for example:</a:t>
            </a:r>
          </a:p>
          <a:p>
            <a:pPr marL="0" indent="0">
              <a:buNone/>
            </a:pPr>
            <a:r>
              <a:rPr lang="en-US" dirty="0"/>
              <a:t>🚪 </a:t>
            </a:r>
            <a:r>
              <a:rPr lang="en-US" b="1" dirty="0"/>
              <a:t>Removal</a:t>
            </a:r>
            <a:r>
              <a:rPr lang="en-US" dirty="0"/>
              <a:t> from service.</a:t>
            </a:r>
          </a:p>
          <a:p>
            <a:pPr marL="0" indent="0">
              <a:buNone/>
            </a:pPr>
            <a:r>
              <a:rPr lang="en-US" dirty="0"/>
              <a:t>⬇️ </a:t>
            </a:r>
            <a:r>
              <a:rPr lang="en-US" b="1" dirty="0"/>
              <a:t>Demotion</a:t>
            </a:r>
            <a:r>
              <a:rPr lang="en-US" dirty="0"/>
              <a:t> to a lower post or lower pay for up to 1 year.</a:t>
            </a:r>
          </a:p>
          <a:p>
            <a:pPr marL="0" indent="0">
              <a:buNone/>
            </a:pPr>
            <a:r>
              <a:rPr lang="en-US" dirty="0"/>
              <a:t>🛑 </a:t>
            </a:r>
            <a:r>
              <a:rPr lang="en-US" b="1" dirty="0"/>
              <a:t>Stopping promotion</a:t>
            </a:r>
            <a:r>
              <a:rPr lang="en-US" dirty="0"/>
              <a:t> for up to 1 year.</a:t>
            </a:r>
          </a:p>
          <a:p>
            <a:pPr marL="0" indent="0">
              <a:buNone/>
            </a:pPr>
            <a:r>
              <a:rPr lang="en-US" dirty="0"/>
              <a:t>💸 </a:t>
            </a:r>
            <a:r>
              <a:rPr lang="en-US" b="1" dirty="0"/>
              <a:t>Withholding salary increment</a:t>
            </a:r>
            <a:r>
              <a:rPr lang="en-US" dirty="0"/>
              <a:t> for up to 1 year.</a:t>
            </a:r>
          </a:p>
          <a:p>
            <a:pPr marL="0" indent="0">
              <a:buNone/>
            </a:pPr>
            <a:r>
              <a:rPr lang="en-US" dirty="0"/>
              <a:t>💰 </a:t>
            </a:r>
            <a:r>
              <a:rPr lang="en-US" b="1" dirty="0"/>
              <a:t>Fines</a:t>
            </a:r>
            <a:r>
              <a:rPr lang="en-US" dirty="0"/>
              <a:t>.</a:t>
            </a:r>
          </a:p>
          <a:p>
            <a:pPr marL="0" indent="0">
              <a:buNone/>
            </a:pPr>
            <a:r>
              <a:rPr lang="en-US" dirty="0"/>
              <a:t>⏸️ </a:t>
            </a:r>
            <a:r>
              <a:rPr lang="en-US" b="1" dirty="0"/>
              <a:t>Suspension without pay</a:t>
            </a:r>
            <a:r>
              <a:rPr lang="en-US" dirty="0"/>
              <a:t> for up to 7 days.</a:t>
            </a:r>
          </a:p>
          <a:p>
            <a:pPr marL="0" indent="0">
              <a:buNone/>
            </a:pPr>
            <a:r>
              <a:rPr lang="en-US" dirty="0"/>
              <a:t>⚠️ </a:t>
            </a:r>
            <a:r>
              <a:rPr lang="en-US" b="1" dirty="0"/>
              <a:t>Censure or warning</a:t>
            </a:r>
            <a:r>
              <a:rPr lang="en-US" dirty="0"/>
              <a:t>.</a:t>
            </a:r>
          </a:p>
          <a:p>
            <a:pPr marL="0" indent="0">
              <a:buNone/>
            </a:pPr>
            <a:endParaRPr lang="en-US" dirty="0"/>
          </a:p>
        </p:txBody>
      </p:sp>
      <p:sp>
        <p:nvSpPr>
          <p:cNvPr id="2" name="Title 1">
            <a:extLst>
              <a:ext uri="{FF2B5EF4-FFF2-40B4-BE49-F238E27FC236}">
                <a16:creationId xmlns:a16="http://schemas.microsoft.com/office/drawing/2014/main" id="{D026008F-6965-CBCF-CD71-9004CAEC0109}"/>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23. Punishment for Misconduct and Conviction…</a:t>
            </a:r>
          </a:p>
        </p:txBody>
      </p:sp>
    </p:spTree>
    <p:extLst>
      <p:ext uri="{BB962C8B-B14F-4D97-AF65-F5344CB8AC3E}">
        <p14:creationId xmlns:p14="http://schemas.microsoft.com/office/powerpoint/2010/main" val="682239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1F89C-4966-9176-534D-2DBF4EE1D70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808B1B-04DC-0786-C19A-94BBFD0655C6}"/>
              </a:ext>
            </a:extLst>
          </p:cNvPr>
          <p:cNvSpPr>
            <a:spLocks noGrp="1"/>
          </p:cNvSpPr>
          <p:nvPr>
            <p:ph idx="1"/>
          </p:nvPr>
        </p:nvSpPr>
        <p:spPr>
          <a:xfrm>
            <a:off x="753979" y="1351320"/>
            <a:ext cx="10515600" cy="5097605"/>
          </a:xfrm>
        </p:spPr>
        <p:txBody>
          <a:bodyPr>
            <a:normAutofit lnSpcReduction="10000"/>
          </a:bodyPr>
          <a:lstStyle/>
          <a:p>
            <a:pPr marL="0" indent="0">
              <a:buNone/>
            </a:pPr>
            <a:r>
              <a:rPr lang="en-US" dirty="0"/>
              <a:t>✅ </a:t>
            </a:r>
            <a:r>
              <a:rPr lang="en-US" b="1" dirty="0"/>
              <a:t>What is considered misconduct?</a:t>
            </a:r>
            <a:br>
              <a:rPr lang="en-US" dirty="0"/>
            </a:br>
            <a:endParaRPr lang="en-US" dirty="0"/>
          </a:p>
          <a:p>
            <a:r>
              <a:rPr lang="en-US" b="1" dirty="0"/>
              <a:t>Disobedience</a:t>
            </a:r>
            <a:r>
              <a:rPr lang="en-US" dirty="0"/>
              <a:t> of lawful orders.</a:t>
            </a:r>
          </a:p>
          <a:p>
            <a:r>
              <a:rPr lang="en-US" b="1" dirty="0"/>
              <a:t>Theft, fraud, or dishonesty</a:t>
            </a:r>
            <a:r>
              <a:rPr lang="en-US" dirty="0"/>
              <a:t> with the employer’s property.</a:t>
            </a:r>
          </a:p>
          <a:p>
            <a:r>
              <a:rPr lang="en-US" b="1" dirty="0"/>
              <a:t>Bribery</a:t>
            </a:r>
            <a:r>
              <a:rPr lang="en-US" dirty="0"/>
              <a:t>.</a:t>
            </a:r>
          </a:p>
          <a:p>
            <a:r>
              <a:rPr lang="en-US" b="1" dirty="0"/>
              <a:t>Long unauthorized absences</a:t>
            </a:r>
            <a:r>
              <a:rPr lang="en-US" dirty="0"/>
              <a:t>.</a:t>
            </a:r>
          </a:p>
          <a:p>
            <a:r>
              <a:rPr lang="en-US" b="1" dirty="0"/>
              <a:t>Being habitually late</a:t>
            </a:r>
            <a:r>
              <a:rPr lang="en-US" dirty="0"/>
              <a:t>.</a:t>
            </a:r>
          </a:p>
          <a:p>
            <a:r>
              <a:rPr lang="en-US" b="1" dirty="0"/>
              <a:t>Breaking rules repeatedly</a:t>
            </a:r>
            <a:r>
              <a:rPr lang="en-US" dirty="0"/>
              <a:t>.</a:t>
            </a:r>
          </a:p>
          <a:p>
            <a:r>
              <a:rPr lang="en-US" b="1" dirty="0"/>
              <a:t>Violence, arson, and damaging property</a:t>
            </a:r>
            <a:r>
              <a:rPr lang="en-US" dirty="0"/>
              <a:t>.</a:t>
            </a:r>
          </a:p>
          <a:p>
            <a:r>
              <a:rPr lang="en-US" b="1" dirty="0"/>
              <a:t>Negligence at work</a:t>
            </a:r>
            <a:r>
              <a:rPr lang="en-US" dirty="0"/>
              <a:t>.</a:t>
            </a:r>
          </a:p>
          <a:p>
            <a:r>
              <a:rPr lang="en-US" b="1" dirty="0"/>
              <a:t>Falsifying official records</a:t>
            </a:r>
            <a:r>
              <a:rPr lang="en-US" dirty="0"/>
              <a:t>.</a:t>
            </a:r>
          </a:p>
          <a:p>
            <a:pPr marL="0" indent="0">
              <a:buNone/>
            </a:pPr>
            <a:endParaRPr lang="en-US" dirty="0"/>
          </a:p>
        </p:txBody>
      </p:sp>
      <p:sp>
        <p:nvSpPr>
          <p:cNvPr id="2" name="Title 1">
            <a:extLst>
              <a:ext uri="{FF2B5EF4-FFF2-40B4-BE49-F238E27FC236}">
                <a16:creationId xmlns:a16="http://schemas.microsoft.com/office/drawing/2014/main" id="{E618471A-AF18-F87C-C170-D3F7F18E5399}"/>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23. Punishment for Misconduct and Conviction…</a:t>
            </a:r>
          </a:p>
        </p:txBody>
      </p:sp>
    </p:spTree>
    <p:extLst>
      <p:ext uri="{BB962C8B-B14F-4D97-AF65-F5344CB8AC3E}">
        <p14:creationId xmlns:p14="http://schemas.microsoft.com/office/powerpoint/2010/main" val="6293970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AA6AA-CCA7-FA9D-E85F-CD9D192FD6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162EB6-2657-59B6-7A0B-3BDED7B027FC}"/>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How can an employer terminate a worker?</a:t>
            </a:r>
            <a:endParaRPr lang="en-US" dirty="0"/>
          </a:p>
          <a:p>
            <a:pPr marL="0" indent="0">
              <a:buNone/>
            </a:pPr>
            <a:r>
              <a:rPr lang="en-US" dirty="0"/>
              <a:t>👉 </a:t>
            </a:r>
            <a:r>
              <a:rPr lang="en-US" b="1" dirty="0"/>
              <a:t>Permanent worker</a:t>
            </a:r>
            <a:endParaRPr lang="en-US" dirty="0"/>
          </a:p>
          <a:p>
            <a:pPr marL="0" indent="0">
              <a:buNone/>
            </a:pPr>
            <a:r>
              <a:rPr lang="en-US" dirty="0"/>
              <a:t>Must get a </a:t>
            </a:r>
            <a:r>
              <a:rPr lang="en-US" b="1" dirty="0"/>
              <a:t>written notice</a:t>
            </a:r>
            <a:r>
              <a:rPr lang="en-US" dirty="0"/>
              <a:t>:</a:t>
            </a:r>
          </a:p>
          <a:p>
            <a:pPr lvl="1"/>
            <a:r>
              <a:rPr lang="en-US" dirty="0"/>
              <a:t> </a:t>
            </a:r>
            <a:r>
              <a:rPr lang="en-US" b="1" dirty="0"/>
              <a:t>120 days</a:t>
            </a:r>
            <a:r>
              <a:rPr lang="en-US" dirty="0"/>
              <a:t> for monthly-rated workers.</a:t>
            </a:r>
          </a:p>
          <a:p>
            <a:pPr lvl="1"/>
            <a:r>
              <a:rPr lang="en-US" dirty="0"/>
              <a:t> </a:t>
            </a:r>
            <a:r>
              <a:rPr lang="en-US" b="1" dirty="0"/>
              <a:t>60 days</a:t>
            </a:r>
            <a:r>
              <a:rPr lang="en-US" dirty="0"/>
              <a:t> for other workers.</a:t>
            </a:r>
          </a:p>
          <a:p>
            <a:pPr marL="0" indent="0">
              <a:buNone/>
            </a:pPr>
            <a:r>
              <a:rPr lang="en-US" dirty="0"/>
              <a:t>OR, instead of notice, the employer can pay them wages equal to the notice period (</a:t>
            </a:r>
            <a:r>
              <a:rPr lang="en-US" b="1" dirty="0"/>
              <a:t>payment instead of notice</a:t>
            </a:r>
            <a:r>
              <a:rPr lang="en-US" dirty="0"/>
              <a:t>).</a:t>
            </a:r>
          </a:p>
          <a:p>
            <a:pPr marL="0" indent="0">
              <a:buNone/>
            </a:pPr>
            <a:r>
              <a:rPr lang="en-US" dirty="0"/>
              <a:t>Must also pay </a:t>
            </a:r>
            <a:r>
              <a:rPr lang="en-US" b="1" dirty="0"/>
              <a:t>compensation</a:t>
            </a:r>
            <a:r>
              <a:rPr lang="en-US" dirty="0"/>
              <a:t>:</a:t>
            </a:r>
          </a:p>
          <a:p>
            <a:pPr lvl="1"/>
            <a:r>
              <a:rPr lang="en-US" dirty="0"/>
              <a:t>💰 </a:t>
            </a:r>
            <a:r>
              <a:rPr lang="en-US" b="1" dirty="0"/>
              <a:t>30 days’ wages for each completed year of service</a:t>
            </a:r>
            <a:r>
              <a:rPr lang="en-US" dirty="0"/>
              <a:t>, or gratuity if higher.</a:t>
            </a:r>
          </a:p>
          <a:p>
            <a:pPr lvl="1"/>
            <a:r>
              <a:rPr lang="en-US" dirty="0"/>
              <a:t>This is </a:t>
            </a:r>
            <a:r>
              <a:rPr lang="en-US" b="1" dirty="0"/>
              <a:t>in addition</a:t>
            </a:r>
            <a:r>
              <a:rPr lang="en-US" dirty="0"/>
              <a:t> to any other benefits (like earned leave, bonuses).</a:t>
            </a:r>
          </a:p>
          <a:p>
            <a:pPr marL="0" indent="0">
              <a:buNone/>
            </a:pPr>
            <a:endParaRPr lang="en-US" dirty="0"/>
          </a:p>
        </p:txBody>
      </p:sp>
      <p:sp>
        <p:nvSpPr>
          <p:cNvPr id="2" name="Title 1">
            <a:extLst>
              <a:ext uri="{FF2B5EF4-FFF2-40B4-BE49-F238E27FC236}">
                <a16:creationId xmlns:a16="http://schemas.microsoft.com/office/drawing/2014/main" id="{2BAB3C2C-A440-B7B5-4D71-699229E1854D}"/>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26. Termination by employer</a:t>
            </a:r>
          </a:p>
        </p:txBody>
      </p:sp>
    </p:spTree>
    <p:extLst>
      <p:ext uri="{BB962C8B-B14F-4D97-AF65-F5344CB8AC3E}">
        <p14:creationId xmlns:p14="http://schemas.microsoft.com/office/powerpoint/2010/main" val="1368508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8CA18-CCEB-E17D-8471-D7680A19B39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5AE1AE-6E90-D6F4-9DD0-B23820505C77}"/>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Temporary worker</a:t>
            </a:r>
            <a:endParaRPr lang="en-US" dirty="0"/>
          </a:p>
          <a:p>
            <a:r>
              <a:rPr lang="en-US" dirty="0"/>
              <a:t>Written notice required if not due to completion of the project/work:</a:t>
            </a:r>
          </a:p>
          <a:p>
            <a:pPr lvl="1"/>
            <a:r>
              <a:rPr lang="en-US" b="1" dirty="0"/>
              <a:t>30 days</a:t>
            </a:r>
            <a:r>
              <a:rPr lang="en-US" dirty="0"/>
              <a:t> for monthly-rated workers.</a:t>
            </a:r>
          </a:p>
          <a:p>
            <a:pPr lvl="1"/>
            <a:r>
              <a:rPr lang="en-US" b="1" dirty="0"/>
              <a:t>14 days</a:t>
            </a:r>
            <a:r>
              <a:rPr lang="en-US" dirty="0"/>
              <a:t> for other workers.</a:t>
            </a:r>
          </a:p>
          <a:p>
            <a:r>
              <a:rPr lang="en-US" dirty="0"/>
              <a:t>Can also be terminated immediately by paying wages for the notice period.</a:t>
            </a:r>
          </a:p>
          <a:p>
            <a:pPr marL="0" indent="0">
              <a:buNone/>
            </a:pPr>
            <a:endParaRPr lang="en-US" dirty="0"/>
          </a:p>
        </p:txBody>
      </p:sp>
      <p:sp>
        <p:nvSpPr>
          <p:cNvPr id="2" name="Title 1">
            <a:extLst>
              <a:ext uri="{FF2B5EF4-FFF2-40B4-BE49-F238E27FC236}">
                <a16:creationId xmlns:a16="http://schemas.microsoft.com/office/drawing/2014/main" id="{F9C4BC79-4460-D143-B1D5-B86C65A59E30}"/>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26. Termination by employer…</a:t>
            </a:r>
          </a:p>
        </p:txBody>
      </p:sp>
    </p:spTree>
    <p:extLst>
      <p:ext uri="{BB962C8B-B14F-4D97-AF65-F5344CB8AC3E}">
        <p14:creationId xmlns:p14="http://schemas.microsoft.com/office/powerpoint/2010/main" val="5173080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31301-C3CE-1528-9A8E-419A3F4E9D8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3DDDD0-6BDB-DB23-237D-B25BC80DFABC}"/>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How can a worker resign?</a:t>
            </a:r>
            <a:endParaRPr lang="en-US" dirty="0"/>
          </a:p>
          <a:p>
            <a:pPr marL="0" indent="0">
              <a:buNone/>
            </a:pPr>
            <a:r>
              <a:rPr lang="en-US" dirty="0"/>
              <a:t>👉 </a:t>
            </a:r>
            <a:r>
              <a:rPr lang="en-US" b="1" dirty="0"/>
              <a:t>Permanent worker</a:t>
            </a:r>
            <a:endParaRPr lang="en-US" dirty="0"/>
          </a:p>
          <a:p>
            <a:r>
              <a:rPr lang="en-US" dirty="0"/>
              <a:t>Needs to give </a:t>
            </a:r>
            <a:r>
              <a:rPr lang="en-US" b="1" dirty="0"/>
              <a:t>60 days' written notice</a:t>
            </a:r>
            <a:r>
              <a:rPr lang="en-US" dirty="0"/>
              <a:t>.</a:t>
            </a:r>
          </a:p>
          <a:p>
            <a:r>
              <a:rPr lang="en-US" dirty="0"/>
              <a:t>Or pay the employer an amount equal to wages for that notice period if leaving immediately (</a:t>
            </a:r>
            <a:r>
              <a:rPr lang="en-US" b="1" dirty="0"/>
              <a:t>payment in lieu of notice</a:t>
            </a:r>
            <a:r>
              <a:rPr lang="en-US" dirty="0"/>
              <a:t>).</a:t>
            </a:r>
          </a:p>
          <a:p>
            <a:pPr marL="0" indent="0">
              <a:buNone/>
            </a:pPr>
            <a:r>
              <a:rPr lang="en-US" dirty="0"/>
              <a:t>👉 </a:t>
            </a:r>
            <a:r>
              <a:rPr lang="en-US" b="1" dirty="0"/>
              <a:t>Temporary worker</a:t>
            </a:r>
            <a:endParaRPr lang="en-US" dirty="0"/>
          </a:p>
          <a:p>
            <a:r>
              <a:rPr lang="en-US" dirty="0"/>
              <a:t>Written notice needed:</a:t>
            </a:r>
          </a:p>
          <a:p>
            <a:pPr lvl="1"/>
            <a:r>
              <a:rPr lang="en-US" b="1" dirty="0"/>
              <a:t>30 days</a:t>
            </a:r>
            <a:r>
              <a:rPr lang="en-US" dirty="0"/>
              <a:t> for monthly-rated workers.</a:t>
            </a:r>
          </a:p>
          <a:p>
            <a:pPr lvl="1"/>
            <a:r>
              <a:rPr lang="en-US" b="1" dirty="0"/>
              <a:t>14 days</a:t>
            </a:r>
            <a:r>
              <a:rPr lang="en-US" dirty="0"/>
              <a:t> for other workers.</a:t>
            </a:r>
          </a:p>
          <a:p>
            <a:r>
              <a:rPr lang="en-US" dirty="0"/>
              <a:t>Or pay instead of notice.</a:t>
            </a:r>
          </a:p>
          <a:p>
            <a:pPr marL="0" indent="0">
              <a:buNone/>
            </a:pPr>
            <a:endParaRPr lang="en-US" dirty="0"/>
          </a:p>
        </p:txBody>
      </p:sp>
      <p:sp>
        <p:nvSpPr>
          <p:cNvPr id="2" name="Title 1">
            <a:extLst>
              <a:ext uri="{FF2B5EF4-FFF2-40B4-BE49-F238E27FC236}">
                <a16:creationId xmlns:a16="http://schemas.microsoft.com/office/drawing/2014/main" id="{8EAF198E-2E96-F647-498E-4F31286EE990}"/>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27. Termination by workers…</a:t>
            </a:r>
          </a:p>
        </p:txBody>
      </p:sp>
    </p:spTree>
    <p:extLst>
      <p:ext uri="{BB962C8B-B14F-4D97-AF65-F5344CB8AC3E}">
        <p14:creationId xmlns:p14="http://schemas.microsoft.com/office/powerpoint/2010/main" val="22582421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E77C7-BE81-47C9-D522-F140DFB0AF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82A5E5-B7AF-E78F-2F30-0577D26151E7}"/>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Special case: If a worker stops coming to work</a:t>
            </a:r>
            <a:endParaRPr lang="en-US" dirty="0"/>
          </a:p>
          <a:p>
            <a:pPr marL="0" indent="0">
              <a:buNone/>
            </a:pPr>
            <a:r>
              <a:rPr lang="en-US" dirty="0"/>
              <a:t>If absent for </a:t>
            </a:r>
            <a:r>
              <a:rPr lang="en-US" b="1" dirty="0"/>
              <a:t>more than 10 days</a:t>
            </a:r>
            <a:r>
              <a:rPr lang="en-US" dirty="0"/>
              <a:t> without permission:</a:t>
            </a:r>
          </a:p>
          <a:p>
            <a:pPr lvl="1"/>
            <a:r>
              <a:rPr lang="en-US" dirty="0"/>
              <a:t>The employer serves a notice asking them to return within </a:t>
            </a:r>
            <a:r>
              <a:rPr lang="en-US" b="1" dirty="0"/>
              <a:t>10 days</a:t>
            </a:r>
            <a:r>
              <a:rPr lang="en-US" dirty="0"/>
              <a:t>.</a:t>
            </a:r>
          </a:p>
          <a:p>
            <a:pPr lvl="1"/>
            <a:r>
              <a:rPr lang="en-US" dirty="0"/>
              <a:t>If no reply, a further </a:t>
            </a:r>
            <a:r>
              <a:rPr lang="en-US" b="1" dirty="0"/>
              <a:t>7-day</a:t>
            </a:r>
            <a:r>
              <a:rPr lang="en-US" dirty="0"/>
              <a:t> chance is given.</a:t>
            </a:r>
          </a:p>
          <a:p>
            <a:pPr lvl="1"/>
            <a:r>
              <a:rPr lang="en-US" dirty="0"/>
              <a:t>If they still don’t return or explain, they are </a:t>
            </a:r>
            <a:r>
              <a:rPr lang="en-US" b="1" dirty="0"/>
              <a:t>considered to have resigned</a:t>
            </a:r>
            <a:r>
              <a:rPr lang="en-US" dirty="0"/>
              <a:t> automatically from the first date of absence.</a:t>
            </a:r>
          </a:p>
          <a:p>
            <a:pPr marL="0" indent="0">
              <a:buNone/>
            </a:pPr>
            <a:r>
              <a:rPr lang="en-US" dirty="0"/>
              <a:t>✅ </a:t>
            </a:r>
            <a:r>
              <a:rPr lang="en-US" b="1" dirty="0"/>
              <a:t>Compensation on resignation</a:t>
            </a:r>
            <a:endParaRPr lang="en-US" dirty="0"/>
          </a:p>
          <a:p>
            <a:pPr marL="0" indent="0">
              <a:buNone/>
            </a:pPr>
            <a:r>
              <a:rPr lang="en-US" dirty="0"/>
              <a:t>If a </a:t>
            </a:r>
            <a:r>
              <a:rPr lang="en-US" b="1" dirty="0"/>
              <a:t>permanent worker</a:t>
            </a:r>
            <a:r>
              <a:rPr lang="en-US" dirty="0"/>
              <a:t> resigns:</a:t>
            </a:r>
          </a:p>
          <a:p>
            <a:pPr marL="457200" lvl="1" indent="0">
              <a:buNone/>
            </a:pPr>
            <a:r>
              <a:rPr lang="en-US" dirty="0"/>
              <a:t>📆 </a:t>
            </a:r>
            <a:r>
              <a:rPr lang="en-US" b="1" dirty="0"/>
              <a:t>14 days’ wages per year</a:t>
            </a:r>
            <a:r>
              <a:rPr lang="en-US" dirty="0"/>
              <a:t> of service if they worked </a:t>
            </a:r>
            <a:r>
              <a:rPr lang="en-US" b="1" dirty="0"/>
              <a:t>5–10 years</a:t>
            </a:r>
            <a:r>
              <a:rPr lang="en-US" dirty="0"/>
              <a:t>.</a:t>
            </a:r>
          </a:p>
          <a:p>
            <a:pPr marL="457200" lvl="1" indent="0">
              <a:buNone/>
            </a:pPr>
            <a:r>
              <a:rPr lang="en-US" dirty="0"/>
              <a:t>📆 </a:t>
            </a:r>
            <a:r>
              <a:rPr lang="en-US" b="1" dirty="0"/>
              <a:t>30 days’ wages per year</a:t>
            </a:r>
            <a:r>
              <a:rPr lang="en-US" dirty="0"/>
              <a:t> if they worked </a:t>
            </a:r>
            <a:r>
              <a:rPr lang="en-US" b="1" dirty="0"/>
              <a:t>10 years or more</a:t>
            </a:r>
            <a:r>
              <a:rPr lang="en-US" dirty="0"/>
              <a:t>.</a:t>
            </a:r>
          </a:p>
          <a:p>
            <a:pPr lvl="1"/>
            <a:r>
              <a:rPr lang="en-US" dirty="0"/>
              <a:t>Or gratuity if higher.</a:t>
            </a:r>
          </a:p>
          <a:p>
            <a:pPr lvl="1"/>
            <a:r>
              <a:rPr lang="en-US" dirty="0"/>
              <a:t>Plus any other benefits.</a:t>
            </a:r>
          </a:p>
        </p:txBody>
      </p:sp>
      <p:sp>
        <p:nvSpPr>
          <p:cNvPr id="2" name="Title 1">
            <a:extLst>
              <a:ext uri="{FF2B5EF4-FFF2-40B4-BE49-F238E27FC236}">
                <a16:creationId xmlns:a16="http://schemas.microsoft.com/office/drawing/2014/main" id="{F62E0642-E1D1-5349-6991-0BA273AF8785}"/>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27. Termination by workers…</a:t>
            </a:r>
          </a:p>
        </p:txBody>
      </p:sp>
    </p:spTree>
    <p:extLst>
      <p:ext uri="{BB962C8B-B14F-4D97-AF65-F5344CB8AC3E}">
        <p14:creationId xmlns:p14="http://schemas.microsoft.com/office/powerpoint/2010/main" val="474881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C87B1-F00F-4AD4-650F-910D403CB33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8EEBA0-71F9-8AC4-3DE3-F011BA93F2E9}"/>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Automatic retirement age</a:t>
            </a:r>
            <a:endParaRPr lang="en-US" dirty="0"/>
          </a:p>
          <a:p>
            <a:r>
              <a:rPr lang="en-US" dirty="0"/>
              <a:t>A worker </a:t>
            </a:r>
            <a:r>
              <a:rPr lang="en-US" b="1" dirty="0"/>
              <a:t>automatically retires at 60 years old</a:t>
            </a:r>
            <a:r>
              <a:rPr lang="en-US" dirty="0"/>
              <a:t>.</a:t>
            </a:r>
          </a:p>
          <a:p>
            <a:endParaRPr lang="en-US" dirty="0"/>
          </a:p>
          <a:p>
            <a:pPr marL="0" indent="0">
              <a:buNone/>
            </a:pPr>
            <a:r>
              <a:rPr lang="en-US" dirty="0"/>
              <a:t>✅ </a:t>
            </a:r>
            <a:r>
              <a:rPr lang="en-US" b="1" dirty="0"/>
              <a:t>How is age confirmed?</a:t>
            </a:r>
            <a:endParaRPr lang="en-US" dirty="0"/>
          </a:p>
          <a:p>
            <a:r>
              <a:rPr lang="en-US" dirty="0"/>
              <a:t>The </a:t>
            </a:r>
            <a:r>
              <a:rPr lang="en-US" b="1" dirty="0"/>
              <a:t>date of birth in the worker’s service book</a:t>
            </a:r>
            <a:r>
              <a:rPr lang="en-US" dirty="0"/>
              <a:t> is the </a:t>
            </a:r>
            <a:r>
              <a:rPr lang="en-US" b="1" dirty="0"/>
              <a:t>final proof</a:t>
            </a:r>
            <a:r>
              <a:rPr lang="en-US" dirty="0"/>
              <a:t>.</a:t>
            </a:r>
          </a:p>
          <a:p>
            <a:pPr marL="0" indent="0">
              <a:buNone/>
            </a:pPr>
            <a:endParaRPr lang="en-US" dirty="0"/>
          </a:p>
          <a:p>
            <a:pPr marL="0" indent="0">
              <a:buNone/>
            </a:pPr>
            <a:r>
              <a:rPr lang="en-US" dirty="0"/>
              <a:t>✅ </a:t>
            </a:r>
            <a:r>
              <a:rPr lang="en-US" b="1" dirty="0"/>
              <a:t>Can they work again after retirement?</a:t>
            </a:r>
            <a:endParaRPr lang="en-US" dirty="0"/>
          </a:p>
          <a:p>
            <a:r>
              <a:rPr lang="en-US" dirty="0"/>
              <a:t>Yes!</a:t>
            </a:r>
          </a:p>
          <a:p>
            <a:r>
              <a:rPr lang="en-US" dirty="0"/>
              <a:t>Even after retirement, the employer can choose to </a:t>
            </a:r>
            <a:r>
              <a:rPr lang="en-US" b="1" dirty="0"/>
              <a:t>rehire the worker on a contractual basis</a:t>
            </a:r>
            <a:r>
              <a:rPr lang="en-US" dirty="0"/>
              <a:t> if needed.</a:t>
            </a:r>
          </a:p>
          <a:p>
            <a:pPr marL="0" indent="0">
              <a:buNone/>
            </a:pPr>
            <a:endParaRPr lang="en-US" dirty="0"/>
          </a:p>
        </p:txBody>
      </p:sp>
      <p:sp>
        <p:nvSpPr>
          <p:cNvPr id="2" name="Title 1">
            <a:extLst>
              <a:ext uri="{FF2B5EF4-FFF2-40B4-BE49-F238E27FC236}">
                <a16:creationId xmlns:a16="http://schemas.microsoft.com/office/drawing/2014/main" id="{7920B5ED-A155-ED5A-0FC3-98B46C0CC9B9}"/>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28. Retirement</a:t>
            </a:r>
          </a:p>
        </p:txBody>
      </p:sp>
    </p:spTree>
    <p:extLst>
      <p:ext uri="{BB962C8B-B14F-4D97-AF65-F5344CB8AC3E}">
        <p14:creationId xmlns:p14="http://schemas.microsoft.com/office/powerpoint/2010/main" val="3175344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11FAB-8728-138A-A0CE-6CBB1348E41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CE6E5F-DE58-7946-5CE3-984FB67D49B6}"/>
              </a:ext>
            </a:extLst>
          </p:cNvPr>
          <p:cNvSpPr>
            <a:spLocks noGrp="1"/>
          </p:cNvSpPr>
          <p:nvPr>
            <p:ph idx="1"/>
          </p:nvPr>
        </p:nvSpPr>
        <p:spPr>
          <a:xfrm>
            <a:off x="753979" y="1351320"/>
            <a:ext cx="10515600" cy="5097605"/>
          </a:xfrm>
        </p:spPr>
        <p:txBody>
          <a:bodyPr>
            <a:normAutofit lnSpcReduction="10000"/>
          </a:bodyPr>
          <a:lstStyle/>
          <a:p>
            <a:pPr marL="0" indent="0">
              <a:buNone/>
            </a:pPr>
            <a:r>
              <a:rPr lang="en-US" dirty="0"/>
              <a:t>✅ </a:t>
            </a:r>
            <a:r>
              <a:rPr lang="en-US" b="1" dirty="0"/>
              <a:t>Strict ban on child labor</a:t>
            </a:r>
            <a:endParaRPr lang="en-US" dirty="0"/>
          </a:p>
          <a:p>
            <a:r>
              <a:rPr lang="en-US" b="1" dirty="0"/>
              <a:t>No child</a:t>
            </a:r>
            <a:r>
              <a:rPr lang="en-US" dirty="0"/>
              <a:t> (below 14 years) can be </a:t>
            </a:r>
            <a:r>
              <a:rPr lang="en-US" b="1" dirty="0"/>
              <a:t>employed or allowed to work</a:t>
            </a:r>
            <a:r>
              <a:rPr lang="en-US" dirty="0"/>
              <a:t> in any job or establishment.</a:t>
            </a:r>
          </a:p>
          <a:p>
            <a:pPr marL="0" indent="0">
              <a:buNone/>
            </a:pPr>
            <a:r>
              <a:rPr lang="en-US" dirty="0"/>
              <a:t>✅ </a:t>
            </a:r>
            <a:r>
              <a:rPr lang="en-US" b="1" dirty="0"/>
              <a:t>Special conditions for adolescents (ages 14–18)</a:t>
            </a:r>
            <a:endParaRPr lang="en-US" dirty="0"/>
          </a:p>
          <a:p>
            <a:r>
              <a:rPr lang="en-US" dirty="0"/>
              <a:t>An </a:t>
            </a:r>
            <a:r>
              <a:rPr lang="en-US" b="1" dirty="0"/>
              <a:t>adolescent</a:t>
            </a:r>
            <a:r>
              <a:rPr lang="en-US" dirty="0"/>
              <a:t> can work, but only if they have a </a:t>
            </a:r>
            <a:r>
              <a:rPr lang="en-US" b="1" dirty="0"/>
              <a:t>fitness certificate</a:t>
            </a:r>
            <a:r>
              <a:rPr lang="en-US" dirty="0"/>
              <a:t> from a registered doctor, which the employer must keep.</a:t>
            </a:r>
          </a:p>
          <a:p>
            <a:pPr marL="0" indent="0">
              <a:buNone/>
            </a:pPr>
            <a:r>
              <a:rPr lang="en-US" dirty="0"/>
              <a:t>✅ </a:t>
            </a:r>
            <a:r>
              <a:rPr lang="en-US" b="1" dirty="0"/>
              <a:t>Exception for learning</a:t>
            </a:r>
            <a:endParaRPr lang="en-US" dirty="0"/>
          </a:p>
          <a:p>
            <a:r>
              <a:rPr lang="en-US" dirty="0"/>
              <a:t>These rules </a:t>
            </a:r>
            <a:r>
              <a:rPr lang="en-US" b="1" dirty="0"/>
              <a:t>do not apply</a:t>
            </a:r>
            <a:r>
              <a:rPr lang="en-US" dirty="0"/>
              <a:t> if the adolescent is working as an </a:t>
            </a:r>
            <a:r>
              <a:rPr lang="en-US" b="1" dirty="0"/>
              <a:t>apprentice</a:t>
            </a:r>
            <a:r>
              <a:rPr lang="en-US" dirty="0"/>
              <a:t> or receiving </a:t>
            </a:r>
            <a:r>
              <a:rPr lang="en-US" b="1" dirty="0"/>
              <a:t>vocational training</a:t>
            </a:r>
            <a:r>
              <a:rPr lang="en-US" dirty="0"/>
              <a:t>.</a:t>
            </a:r>
          </a:p>
          <a:p>
            <a:pPr marL="0" indent="0">
              <a:buNone/>
            </a:pPr>
            <a:r>
              <a:rPr lang="en-US" dirty="0"/>
              <a:t>✅ </a:t>
            </a:r>
            <a:r>
              <a:rPr lang="en-US" b="1" dirty="0"/>
              <a:t>Restrictions on agreements by parents</a:t>
            </a:r>
            <a:endParaRPr lang="en-US" dirty="0"/>
          </a:p>
          <a:p>
            <a:r>
              <a:rPr lang="en-US" dirty="0"/>
              <a:t>Parents or guardians </a:t>
            </a:r>
            <a:r>
              <a:rPr lang="en-US" b="1" dirty="0"/>
              <a:t>cannot make agreements</a:t>
            </a:r>
            <a:r>
              <a:rPr lang="en-US" dirty="0"/>
              <a:t> to employ their child in any work.</a:t>
            </a:r>
          </a:p>
          <a:p>
            <a:endParaRPr lang="en-US" dirty="0"/>
          </a:p>
          <a:p>
            <a:pPr marL="0" indent="0">
              <a:buNone/>
            </a:pPr>
            <a:endParaRPr lang="en-US" dirty="0"/>
          </a:p>
        </p:txBody>
      </p:sp>
      <p:sp>
        <p:nvSpPr>
          <p:cNvPr id="2" name="Title 1">
            <a:extLst>
              <a:ext uri="{FF2B5EF4-FFF2-40B4-BE49-F238E27FC236}">
                <a16:creationId xmlns:a16="http://schemas.microsoft.com/office/drawing/2014/main" id="{CCAAF59A-E97C-ABB6-331A-D7596787B04D}"/>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34. Employment of Children and Adolescent </a:t>
            </a:r>
          </a:p>
        </p:txBody>
      </p:sp>
    </p:spTree>
    <p:extLst>
      <p:ext uri="{BB962C8B-B14F-4D97-AF65-F5344CB8AC3E}">
        <p14:creationId xmlns:p14="http://schemas.microsoft.com/office/powerpoint/2010/main" val="25282196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A4603-CD9C-CAA5-6140-A1E656FD694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47C1A0-C328-370C-8A5B-3D52DC391810}"/>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Limits on daily and weekly work hours:</a:t>
            </a:r>
            <a:endParaRPr lang="en-US" dirty="0"/>
          </a:p>
          <a:p>
            <a:pPr marL="0" indent="0">
              <a:buNone/>
            </a:pPr>
            <a:r>
              <a:rPr lang="en-US" dirty="0"/>
              <a:t>In </a:t>
            </a:r>
            <a:r>
              <a:rPr lang="en-US" b="1" dirty="0"/>
              <a:t>factories or mines</a:t>
            </a:r>
            <a:r>
              <a:rPr lang="en-US" dirty="0"/>
              <a:t>, adolescents can work a maximum of </a:t>
            </a:r>
            <a:r>
              <a:rPr lang="en-US" b="1" dirty="0"/>
              <a:t>5 hours per day</a:t>
            </a:r>
            <a:r>
              <a:rPr lang="en-US" dirty="0"/>
              <a:t> and </a:t>
            </a:r>
            <a:r>
              <a:rPr lang="en-US" b="1" dirty="0"/>
              <a:t>30 hours per week</a:t>
            </a:r>
            <a:r>
              <a:rPr lang="en-US" dirty="0"/>
              <a:t>.</a:t>
            </a:r>
          </a:p>
          <a:p>
            <a:pPr marL="0" indent="0">
              <a:buNone/>
            </a:pPr>
            <a:r>
              <a:rPr lang="en-US" dirty="0"/>
              <a:t>In </a:t>
            </a:r>
            <a:r>
              <a:rPr lang="en-US" b="1" dirty="0"/>
              <a:t>other workplaces</a:t>
            </a:r>
            <a:r>
              <a:rPr lang="en-US" dirty="0"/>
              <a:t> (like offices or shops), they can work up to </a:t>
            </a:r>
            <a:r>
              <a:rPr lang="en-US" b="1" dirty="0"/>
              <a:t>7 hours per day</a:t>
            </a:r>
            <a:r>
              <a:rPr lang="en-US" dirty="0"/>
              <a:t> and </a:t>
            </a:r>
            <a:r>
              <a:rPr lang="en-US" b="1" dirty="0"/>
              <a:t>42 hours per week</a:t>
            </a:r>
            <a:r>
              <a:rPr lang="en-US" dirty="0"/>
              <a:t>.</a:t>
            </a:r>
          </a:p>
          <a:p>
            <a:pPr marL="0" indent="0">
              <a:buNone/>
            </a:pPr>
            <a:endParaRPr lang="en-US" dirty="0"/>
          </a:p>
          <a:p>
            <a:pPr marL="0" indent="0">
              <a:buNone/>
            </a:pPr>
            <a:r>
              <a:rPr lang="en-US" dirty="0"/>
              <a:t>✅ </a:t>
            </a:r>
            <a:r>
              <a:rPr lang="en-US" b="1" dirty="0"/>
              <a:t>No night work:</a:t>
            </a:r>
            <a:endParaRPr lang="en-US" dirty="0"/>
          </a:p>
          <a:p>
            <a:r>
              <a:rPr lang="en-US" dirty="0"/>
              <a:t>Adolescents </a:t>
            </a:r>
            <a:r>
              <a:rPr lang="en-US" b="1" dirty="0"/>
              <a:t>cannot work between 7:00 PM and 7:00 AM</a:t>
            </a:r>
            <a:r>
              <a:rPr lang="en-US" dirty="0"/>
              <a:t> — night shifts are not allowed.</a:t>
            </a:r>
          </a:p>
          <a:p>
            <a:pPr marL="0" indent="0">
              <a:buNone/>
            </a:pPr>
            <a:endParaRPr lang="en-US" dirty="0"/>
          </a:p>
        </p:txBody>
      </p:sp>
      <p:sp>
        <p:nvSpPr>
          <p:cNvPr id="2" name="Title 1">
            <a:extLst>
              <a:ext uri="{FF2B5EF4-FFF2-40B4-BE49-F238E27FC236}">
                <a16:creationId xmlns:a16="http://schemas.microsoft.com/office/drawing/2014/main" id="{AD857421-540D-4516-8AC4-6F07A4DBFDE2}"/>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41. Working hour for adolescent</a:t>
            </a:r>
          </a:p>
        </p:txBody>
      </p:sp>
    </p:spTree>
    <p:extLst>
      <p:ext uri="{BB962C8B-B14F-4D97-AF65-F5344CB8AC3E}">
        <p14:creationId xmlns:p14="http://schemas.microsoft.com/office/powerpoint/2010/main" val="7134445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46B7B-FF5B-8271-92C6-F12325D451F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2F9CB1-209C-51B9-A32E-0CF1A7E092DA}"/>
              </a:ext>
            </a:extLst>
          </p:cNvPr>
          <p:cNvSpPr>
            <a:spLocks noGrp="1"/>
          </p:cNvSpPr>
          <p:nvPr>
            <p:ph idx="1"/>
          </p:nvPr>
        </p:nvSpPr>
        <p:spPr>
          <a:xfrm>
            <a:off x="753979" y="1351320"/>
            <a:ext cx="10515600" cy="5097605"/>
          </a:xfrm>
        </p:spPr>
        <p:txBody>
          <a:bodyPr>
            <a:normAutofit fontScale="92500" lnSpcReduction="10000"/>
          </a:bodyPr>
          <a:lstStyle/>
          <a:p>
            <a:pPr marL="0" indent="0">
              <a:buNone/>
            </a:pPr>
            <a:r>
              <a:rPr lang="en-US" dirty="0"/>
              <a:t>✅ </a:t>
            </a:r>
            <a:r>
              <a:rPr lang="en-US" b="1" dirty="0"/>
              <a:t>Overtime limits:</a:t>
            </a:r>
            <a:endParaRPr lang="en-US" dirty="0"/>
          </a:p>
          <a:p>
            <a:pPr marL="0" indent="0">
              <a:buNone/>
            </a:pPr>
            <a:r>
              <a:rPr lang="en-US" dirty="0"/>
              <a:t>Even with overtime, total hours </a:t>
            </a:r>
            <a:r>
              <a:rPr lang="en-US" b="1" dirty="0"/>
              <a:t>cannot exceed:</a:t>
            </a:r>
            <a:endParaRPr lang="en-US" dirty="0"/>
          </a:p>
          <a:p>
            <a:pPr lvl="1"/>
            <a:r>
              <a:rPr lang="en-US" b="1" dirty="0"/>
              <a:t>36 hours per week</a:t>
            </a:r>
            <a:r>
              <a:rPr lang="en-US" dirty="0"/>
              <a:t> in factories or mines.</a:t>
            </a:r>
          </a:p>
          <a:p>
            <a:pPr lvl="1"/>
            <a:r>
              <a:rPr lang="en-US" b="1" dirty="0"/>
              <a:t>48 hours per week</a:t>
            </a:r>
            <a:r>
              <a:rPr lang="en-US" dirty="0"/>
              <a:t> in other workplaces.</a:t>
            </a:r>
          </a:p>
          <a:p>
            <a:pPr marL="0" indent="0">
              <a:buNone/>
            </a:pPr>
            <a:endParaRPr lang="en-US" dirty="0"/>
          </a:p>
          <a:p>
            <a:pPr marL="0" indent="0">
              <a:buNone/>
            </a:pPr>
            <a:r>
              <a:rPr lang="en-US" dirty="0"/>
              <a:t>✅ </a:t>
            </a:r>
            <a:r>
              <a:rPr lang="en-US" b="1" dirty="0"/>
              <a:t>Shift rules:</a:t>
            </a:r>
            <a:endParaRPr lang="en-US" dirty="0"/>
          </a:p>
          <a:p>
            <a:pPr marL="0" indent="0">
              <a:buNone/>
            </a:pPr>
            <a:r>
              <a:rPr lang="en-US" dirty="0"/>
              <a:t>Adolescents’ work must be limited to </a:t>
            </a:r>
            <a:r>
              <a:rPr lang="en-US" b="1" dirty="0"/>
              <a:t>two shifts</a:t>
            </a:r>
            <a:r>
              <a:rPr lang="en-US" dirty="0"/>
              <a:t> per day.</a:t>
            </a:r>
          </a:p>
          <a:p>
            <a:pPr marL="0" indent="0">
              <a:buNone/>
            </a:pPr>
            <a:r>
              <a:rPr lang="en-US" dirty="0"/>
              <a:t>Each shift </a:t>
            </a:r>
            <a:r>
              <a:rPr lang="en-US" b="1" dirty="0"/>
              <a:t>cannot be longer than 7.5 hours</a:t>
            </a:r>
            <a:r>
              <a:rPr lang="en-US" dirty="0"/>
              <a:t>.</a:t>
            </a:r>
          </a:p>
          <a:p>
            <a:pPr marL="0" indent="0">
              <a:buNone/>
            </a:pPr>
            <a:endParaRPr lang="en-US" dirty="0"/>
          </a:p>
          <a:p>
            <a:pPr marL="0" indent="0">
              <a:buNone/>
            </a:pPr>
            <a:r>
              <a:rPr lang="en-US" dirty="0"/>
              <a:t>✅ </a:t>
            </a:r>
            <a:r>
              <a:rPr lang="en-US" b="1" dirty="0"/>
              <a:t>Other important rules:</a:t>
            </a:r>
            <a:endParaRPr lang="en-US" dirty="0"/>
          </a:p>
          <a:p>
            <a:r>
              <a:rPr lang="en-US" dirty="0"/>
              <a:t>Adolescents must get their </a:t>
            </a:r>
            <a:r>
              <a:rPr lang="en-US" b="1" dirty="0"/>
              <a:t>weekly holidays</a:t>
            </a:r>
            <a:r>
              <a:rPr lang="en-US" dirty="0"/>
              <a:t> like other workers.</a:t>
            </a:r>
          </a:p>
          <a:p>
            <a:r>
              <a:rPr lang="en-US" dirty="0"/>
              <a:t>They are </a:t>
            </a:r>
            <a:r>
              <a:rPr lang="en-US" b="1" dirty="0"/>
              <a:t>not allowed to work at more than one place in the same day</a:t>
            </a:r>
            <a:r>
              <a:rPr lang="en-US" dirty="0"/>
              <a:t>.</a:t>
            </a:r>
          </a:p>
          <a:p>
            <a:pPr marL="0" indent="0">
              <a:buNone/>
            </a:pPr>
            <a:endParaRPr lang="en-US" dirty="0"/>
          </a:p>
          <a:p>
            <a:pPr marL="0" indent="0">
              <a:buNone/>
            </a:pPr>
            <a:endParaRPr lang="en-US" dirty="0"/>
          </a:p>
        </p:txBody>
      </p:sp>
      <p:sp>
        <p:nvSpPr>
          <p:cNvPr id="2" name="Title 1">
            <a:extLst>
              <a:ext uri="{FF2B5EF4-FFF2-40B4-BE49-F238E27FC236}">
                <a16:creationId xmlns:a16="http://schemas.microsoft.com/office/drawing/2014/main" id="{A8624E57-4EA9-6EE7-3FBF-5F89C1FF927C}"/>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41. Working hour for adolescent…</a:t>
            </a:r>
          </a:p>
        </p:txBody>
      </p:sp>
    </p:spTree>
    <p:extLst>
      <p:ext uri="{BB962C8B-B14F-4D97-AF65-F5344CB8AC3E}">
        <p14:creationId xmlns:p14="http://schemas.microsoft.com/office/powerpoint/2010/main" val="38548276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9EB44-8F3E-AC90-07B9-41407E1933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49E9AA-AF65-A4AA-0447-6BF59183ACB4}"/>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Keeping your workplace clean is a must!</a:t>
            </a:r>
          </a:p>
          <a:p>
            <a:pPr marL="0" indent="0">
              <a:buNone/>
            </a:pPr>
            <a:r>
              <a:rPr lang="en-US" dirty="0"/>
              <a:t>✅ </a:t>
            </a:r>
            <a:r>
              <a:rPr lang="en-US" b="1" dirty="0"/>
              <a:t>Here’s what must be done:</a:t>
            </a:r>
            <a:endParaRPr lang="en-US" dirty="0"/>
          </a:p>
          <a:p>
            <a:r>
              <a:rPr lang="en-US" b="1" dirty="0"/>
              <a:t>Daily cleaning:</a:t>
            </a:r>
            <a:r>
              <a:rPr lang="en-US" dirty="0"/>
              <a:t> Dirt and trash must be swept away every day from floors, workrooms, stairs, and hallways.</a:t>
            </a:r>
          </a:p>
          <a:p>
            <a:r>
              <a:rPr lang="en-US" b="1" dirty="0"/>
              <a:t>Weekly washing:</a:t>
            </a:r>
            <a:r>
              <a:rPr lang="en-US" dirty="0"/>
              <a:t> Floors in workrooms must be washed at least once a week — sometimes with disinfectants if needed.</a:t>
            </a:r>
          </a:p>
          <a:p>
            <a:r>
              <a:rPr lang="en-US" b="1" dirty="0"/>
              <a:t>Drainage:</a:t>
            </a:r>
            <a:r>
              <a:rPr lang="en-US" dirty="0"/>
              <a:t> If floors get wet during work, there must be a good drainage system to get rid of the water properly.</a:t>
            </a:r>
          </a:p>
          <a:p>
            <a:pPr marL="0" indent="0">
              <a:buNone/>
            </a:pPr>
            <a:endParaRPr lang="en-US" dirty="0"/>
          </a:p>
        </p:txBody>
      </p:sp>
      <p:sp>
        <p:nvSpPr>
          <p:cNvPr id="2" name="Title 1">
            <a:extLst>
              <a:ext uri="{FF2B5EF4-FFF2-40B4-BE49-F238E27FC236}">
                <a16:creationId xmlns:a16="http://schemas.microsoft.com/office/drawing/2014/main" id="{7EF906F0-D301-261E-9CA5-AA94D2DF0776}"/>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51. Cleanliness</a:t>
            </a:r>
          </a:p>
        </p:txBody>
      </p:sp>
    </p:spTree>
    <p:extLst>
      <p:ext uri="{BB962C8B-B14F-4D97-AF65-F5344CB8AC3E}">
        <p14:creationId xmlns:p14="http://schemas.microsoft.com/office/powerpoint/2010/main" val="16619779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448D1-DA53-3A42-25F4-A68AC79A9EA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5FBF8E-DD80-6792-904E-336B150F6468}"/>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Here’s what must be done:</a:t>
            </a:r>
            <a:endParaRPr lang="en-US" dirty="0"/>
          </a:p>
          <a:p>
            <a:r>
              <a:rPr lang="en-US" b="1" dirty="0"/>
              <a:t> Wall and ceiling care:</a:t>
            </a:r>
            <a:endParaRPr lang="en-US" dirty="0"/>
          </a:p>
          <a:p>
            <a:pPr lvl="1"/>
            <a:r>
              <a:rPr lang="en-US" dirty="0"/>
              <a:t>If walls and ceilings are painted or varnished, they must be </a:t>
            </a:r>
            <a:r>
              <a:rPr lang="en-US" b="1" dirty="0"/>
              <a:t>repainted or re-varnished every 3 years</a:t>
            </a:r>
            <a:r>
              <a:rPr lang="en-US" dirty="0"/>
              <a:t>.</a:t>
            </a:r>
          </a:p>
          <a:p>
            <a:pPr lvl="1"/>
            <a:r>
              <a:rPr lang="en-US" dirty="0"/>
              <a:t>If they have a smooth surface, they should be cleaned at least </a:t>
            </a:r>
            <a:r>
              <a:rPr lang="en-US" b="1" dirty="0"/>
              <a:t>once every 14 months</a:t>
            </a:r>
            <a:r>
              <a:rPr lang="en-US" dirty="0"/>
              <a:t>.</a:t>
            </a:r>
          </a:p>
          <a:p>
            <a:pPr lvl="1"/>
            <a:r>
              <a:rPr lang="en-US" dirty="0"/>
              <a:t>If not, they should be whitewashed or color-washed at least </a:t>
            </a:r>
            <a:r>
              <a:rPr lang="en-US" b="1" dirty="0"/>
              <a:t>once every 14 months</a:t>
            </a:r>
            <a:r>
              <a:rPr lang="en-US" dirty="0"/>
              <a:t>.</a:t>
            </a:r>
          </a:p>
          <a:p>
            <a:r>
              <a:rPr lang="en-US" b="1" dirty="0"/>
              <a:t>Records:</a:t>
            </a:r>
            <a:r>
              <a:rPr lang="en-US" dirty="0"/>
              <a:t> The dates when these cleaning and painting jobs are done must be recorded in a special register.</a:t>
            </a:r>
          </a:p>
          <a:p>
            <a:pPr marL="0" indent="0">
              <a:buNone/>
            </a:pPr>
            <a:endParaRPr lang="en-US" dirty="0"/>
          </a:p>
        </p:txBody>
      </p:sp>
      <p:sp>
        <p:nvSpPr>
          <p:cNvPr id="2" name="Title 1">
            <a:extLst>
              <a:ext uri="{FF2B5EF4-FFF2-40B4-BE49-F238E27FC236}">
                <a16:creationId xmlns:a16="http://schemas.microsoft.com/office/drawing/2014/main" id="{39A24785-AF72-9E12-5FAA-F6AF80185CBE}"/>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51. Cleanliness…</a:t>
            </a:r>
          </a:p>
        </p:txBody>
      </p:sp>
    </p:spTree>
    <p:extLst>
      <p:ext uri="{BB962C8B-B14F-4D97-AF65-F5344CB8AC3E}">
        <p14:creationId xmlns:p14="http://schemas.microsoft.com/office/powerpoint/2010/main" val="41984567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B153D-3E02-4838-4B6F-E026027C8BB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7D5E25-312E-F3B5-3A87-B868EFB5F26B}"/>
              </a:ext>
            </a:extLst>
          </p:cNvPr>
          <p:cNvSpPr>
            <a:spLocks noGrp="1"/>
          </p:cNvSpPr>
          <p:nvPr>
            <p:ph idx="1"/>
          </p:nvPr>
        </p:nvSpPr>
        <p:spPr>
          <a:xfrm>
            <a:off x="753979" y="1351320"/>
            <a:ext cx="10515600" cy="5097605"/>
          </a:xfrm>
        </p:spPr>
        <p:txBody>
          <a:bodyPr>
            <a:normAutofit lnSpcReduction="10000"/>
          </a:bodyPr>
          <a:lstStyle/>
          <a:p>
            <a:pPr marL="0" indent="0">
              <a:buNone/>
            </a:pPr>
            <a:r>
              <a:rPr lang="en-US" dirty="0"/>
              <a:t>✅ </a:t>
            </a:r>
            <a:r>
              <a:rPr lang="en-US" b="1" dirty="0"/>
              <a:t>Here’s what every workplace must do:</a:t>
            </a:r>
            <a:endParaRPr lang="en-US" dirty="0"/>
          </a:p>
          <a:p>
            <a:r>
              <a:rPr lang="en-US" b="1" dirty="0"/>
              <a:t>Fresh air:</a:t>
            </a:r>
            <a:r>
              <a:rPr lang="en-US" dirty="0"/>
              <a:t> Every workroom should have good ventilation to keep fresh air flowing inside.</a:t>
            </a:r>
          </a:p>
          <a:p>
            <a:r>
              <a:rPr lang="en-US" b="1" dirty="0"/>
              <a:t>Comfortable temperature:</a:t>
            </a:r>
            <a:r>
              <a:rPr lang="en-US" dirty="0"/>
              <a:t> The temperature must be controlled so workers feel comfortable and don’t get sick.</a:t>
            </a:r>
          </a:p>
          <a:p>
            <a:r>
              <a:rPr lang="en-US" b="1" dirty="0"/>
              <a:t>Smart design:</a:t>
            </a:r>
            <a:r>
              <a:rPr lang="en-US" dirty="0"/>
              <a:t> Walls and roofs should be built to keep the room cool and prevent it from getting too hot.</a:t>
            </a:r>
          </a:p>
          <a:p>
            <a:r>
              <a:rPr lang="en-US" b="1" dirty="0"/>
              <a:t>Handling heat sources:</a:t>
            </a:r>
            <a:r>
              <a:rPr lang="en-US" dirty="0"/>
              <a:t> If work produces heat, the hot parts should be separated or insulated to keep workers safe and comfortable.</a:t>
            </a:r>
          </a:p>
          <a:p>
            <a:r>
              <a:rPr lang="en-US" b="1" dirty="0"/>
              <a:t>Government’s role:</a:t>
            </a:r>
            <a:r>
              <a:rPr lang="en-US" dirty="0"/>
              <a:t> If the temperature is still too high, the government can ask the workplace to do things like whitewashing walls, insulating roofs, or other ways to cool down the building.</a:t>
            </a:r>
          </a:p>
          <a:p>
            <a:pPr marL="0" indent="0">
              <a:buNone/>
            </a:pPr>
            <a:endParaRPr lang="en-US" dirty="0"/>
          </a:p>
        </p:txBody>
      </p:sp>
      <p:sp>
        <p:nvSpPr>
          <p:cNvPr id="2" name="Title 1">
            <a:extLst>
              <a:ext uri="{FF2B5EF4-FFF2-40B4-BE49-F238E27FC236}">
                <a16:creationId xmlns:a16="http://schemas.microsoft.com/office/drawing/2014/main" id="{E1B9F79B-BE91-01D0-2286-F5B9A23CAE73}"/>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52. Ventilation and Temperature</a:t>
            </a:r>
          </a:p>
        </p:txBody>
      </p:sp>
    </p:spTree>
    <p:extLst>
      <p:ext uri="{BB962C8B-B14F-4D97-AF65-F5344CB8AC3E}">
        <p14:creationId xmlns:p14="http://schemas.microsoft.com/office/powerpoint/2010/main" val="4028199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98491-C14F-6025-D4D4-EAB55992439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D2CBB6-473D-63ED-3587-A90B48375A52}"/>
              </a:ext>
            </a:extLst>
          </p:cNvPr>
          <p:cNvSpPr>
            <a:spLocks noGrp="1"/>
          </p:cNvSpPr>
          <p:nvPr>
            <p:ph idx="1"/>
          </p:nvPr>
        </p:nvSpPr>
        <p:spPr>
          <a:xfrm>
            <a:off x="753979" y="1351320"/>
            <a:ext cx="10515600" cy="5097605"/>
          </a:xfrm>
        </p:spPr>
        <p:txBody>
          <a:bodyPr>
            <a:normAutofit lnSpcReduction="10000"/>
          </a:bodyPr>
          <a:lstStyle/>
          <a:p>
            <a:pPr marL="0" indent="0">
              <a:buNone/>
            </a:pPr>
            <a:r>
              <a:rPr lang="en-US" dirty="0"/>
              <a:t>✅ </a:t>
            </a:r>
            <a:r>
              <a:rPr lang="en-US" b="1" dirty="0"/>
              <a:t>What workplaces must do:</a:t>
            </a:r>
            <a:endParaRPr lang="en-US" dirty="0"/>
          </a:p>
          <a:p>
            <a:r>
              <a:rPr lang="en-US" dirty="0"/>
              <a:t>If a manufacturing process creates </a:t>
            </a:r>
            <a:r>
              <a:rPr lang="en-US" b="1" dirty="0"/>
              <a:t>dust, fumes, or other harmful impurities</a:t>
            </a:r>
            <a:r>
              <a:rPr lang="en-US" dirty="0"/>
              <a:t> that can </a:t>
            </a:r>
            <a:r>
              <a:rPr lang="en-US" b="1" dirty="0"/>
              <a:t>harm or bother workers</a:t>
            </a:r>
            <a:r>
              <a:rPr lang="en-US" dirty="0"/>
              <a:t>, the workplace must take </a:t>
            </a:r>
            <a:r>
              <a:rPr lang="en-US" b="1" dirty="0"/>
              <a:t>strong steps to stop dust and fumes from building up</a:t>
            </a:r>
            <a:r>
              <a:rPr lang="en-US" dirty="0"/>
              <a:t> inside.</a:t>
            </a:r>
          </a:p>
          <a:p>
            <a:r>
              <a:rPr lang="en-US" dirty="0"/>
              <a:t>If needed, </a:t>
            </a:r>
            <a:r>
              <a:rPr lang="en-US" b="1" dirty="0"/>
              <a:t>exhaust systems</a:t>
            </a:r>
            <a:r>
              <a:rPr lang="en-US" dirty="0"/>
              <a:t> should be installed </a:t>
            </a:r>
            <a:r>
              <a:rPr lang="en-US" b="1" dirty="0"/>
              <a:t>right where the dust or fumes are produced</a:t>
            </a:r>
            <a:r>
              <a:rPr lang="en-US" dirty="0"/>
              <a:t> to capture them quickly, and the area should be enclosed as much as possible to contain the dust or fumes.</a:t>
            </a:r>
          </a:p>
          <a:p>
            <a:r>
              <a:rPr lang="en-US" dirty="0"/>
              <a:t>No </a:t>
            </a:r>
            <a:r>
              <a:rPr lang="en-US" b="1" dirty="0"/>
              <a:t>internal combustion engine</a:t>
            </a:r>
            <a:r>
              <a:rPr lang="en-US" dirty="0"/>
              <a:t> (like engines running on petrol or diesel) should be run inside a workroom </a:t>
            </a:r>
            <a:r>
              <a:rPr lang="en-US" b="1" dirty="0"/>
              <a:t>unless its exhaust is safely vented outside</a:t>
            </a:r>
            <a:r>
              <a:rPr lang="en-US" dirty="0"/>
              <a:t>.</a:t>
            </a:r>
          </a:p>
          <a:p>
            <a:r>
              <a:rPr lang="en-US" dirty="0"/>
              <a:t>If engines are used inside, the workplace must have </a:t>
            </a:r>
            <a:r>
              <a:rPr lang="en-US" b="1" dirty="0"/>
              <a:t>effective measures</a:t>
            </a:r>
            <a:r>
              <a:rPr lang="en-US" dirty="0"/>
              <a:t> to stop dangerous fumes from accumulating and harming workers.</a:t>
            </a:r>
          </a:p>
          <a:p>
            <a:pPr marL="0" indent="0">
              <a:buNone/>
            </a:pPr>
            <a:endParaRPr lang="en-US" dirty="0"/>
          </a:p>
        </p:txBody>
      </p:sp>
      <p:sp>
        <p:nvSpPr>
          <p:cNvPr id="2" name="Title 1">
            <a:extLst>
              <a:ext uri="{FF2B5EF4-FFF2-40B4-BE49-F238E27FC236}">
                <a16:creationId xmlns:a16="http://schemas.microsoft.com/office/drawing/2014/main" id="{E5D9E83D-108B-2640-4E6F-131A5751CB78}"/>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53. Dust and Fumes</a:t>
            </a:r>
          </a:p>
        </p:txBody>
      </p:sp>
    </p:spTree>
    <p:extLst>
      <p:ext uri="{BB962C8B-B14F-4D97-AF65-F5344CB8AC3E}">
        <p14:creationId xmlns:p14="http://schemas.microsoft.com/office/powerpoint/2010/main" val="25117003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295E6-07A3-5CC1-2D61-85CF254BDA8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9D20B5-BAEC-9B38-B495-671A67FB5520}"/>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rules:</a:t>
            </a:r>
            <a:endParaRPr lang="en-US" dirty="0"/>
          </a:p>
          <a:p>
            <a:r>
              <a:rPr lang="en-US" dirty="0"/>
              <a:t>When a factory or workplace </a:t>
            </a:r>
            <a:r>
              <a:rPr lang="en-US" b="1" dirty="0"/>
              <a:t>adds moisture (humidity) to the air artificially</a:t>
            </a:r>
            <a:r>
              <a:rPr lang="en-US" dirty="0"/>
              <a:t>, the water they use </a:t>
            </a:r>
            <a:r>
              <a:rPr lang="en-US" b="1" dirty="0"/>
              <a:t>must come from safe drinking water sources</a:t>
            </a:r>
            <a:r>
              <a:rPr lang="en-US" dirty="0"/>
              <a:t> or be </a:t>
            </a:r>
            <a:r>
              <a:rPr lang="en-US" b="1" dirty="0"/>
              <a:t>properly purified</a:t>
            </a:r>
            <a:r>
              <a:rPr lang="en-US" dirty="0"/>
              <a:t> first.</a:t>
            </a:r>
          </a:p>
          <a:p>
            <a:r>
              <a:rPr lang="en-US" dirty="0"/>
              <a:t>If the </a:t>
            </a:r>
            <a:r>
              <a:rPr lang="en-US" b="1" dirty="0" err="1"/>
              <a:t>Labour</a:t>
            </a:r>
            <a:r>
              <a:rPr lang="en-US" b="1" dirty="0"/>
              <a:t> Inspector</a:t>
            </a:r>
            <a:r>
              <a:rPr lang="en-US" dirty="0"/>
              <a:t> finds that the water isn’t clean or purified enough, they can </a:t>
            </a:r>
            <a:r>
              <a:rPr lang="en-US" b="1" dirty="0"/>
              <a:t>order the employer to fix this</a:t>
            </a:r>
            <a:r>
              <a:rPr lang="en-US" dirty="0"/>
              <a:t> within a certain time.</a:t>
            </a:r>
          </a:p>
          <a:p>
            <a:pPr marL="0" indent="0">
              <a:buNone/>
            </a:pPr>
            <a:endParaRPr lang="en-US" dirty="0"/>
          </a:p>
        </p:txBody>
      </p:sp>
      <p:sp>
        <p:nvSpPr>
          <p:cNvPr id="2" name="Title 1">
            <a:extLst>
              <a:ext uri="{FF2B5EF4-FFF2-40B4-BE49-F238E27FC236}">
                <a16:creationId xmlns:a16="http://schemas.microsoft.com/office/drawing/2014/main" id="{EA7E8DC7-8592-17B2-DD6B-5C882D5E7BAF}"/>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55. Artificial Humidification</a:t>
            </a:r>
          </a:p>
        </p:txBody>
      </p:sp>
    </p:spTree>
    <p:extLst>
      <p:ext uri="{BB962C8B-B14F-4D97-AF65-F5344CB8AC3E}">
        <p14:creationId xmlns:p14="http://schemas.microsoft.com/office/powerpoint/2010/main" val="35065940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2951-2A2C-1E9D-3801-2F23A8F30E7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2AF9A4-3762-A0EE-D7D1-FBE503CD5A8C}"/>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rules:</a:t>
            </a:r>
            <a:endParaRPr lang="en-US" dirty="0"/>
          </a:p>
          <a:p>
            <a:r>
              <a:rPr lang="en-US" dirty="0"/>
              <a:t>No workroom should be </a:t>
            </a:r>
            <a:r>
              <a:rPr lang="en-US" b="1" dirty="0"/>
              <a:t>so crowded that it harms workers’ health</a:t>
            </a:r>
            <a:r>
              <a:rPr lang="en-US" dirty="0"/>
              <a:t>.</a:t>
            </a:r>
          </a:p>
          <a:p>
            <a:r>
              <a:rPr lang="en-US" dirty="0"/>
              <a:t>Every worker must have at least </a:t>
            </a:r>
            <a:r>
              <a:rPr lang="en-US" b="1" dirty="0"/>
              <a:t>9.5 cubic meters of space</a:t>
            </a:r>
            <a:r>
              <a:rPr lang="en-US" dirty="0"/>
              <a:t> to work comfortably.</a:t>
            </a:r>
          </a:p>
          <a:p>
            <a:r>
              <a:rPr lang="en-US" dirty="0"/>
              <a:t>If the room is very tall (over 4.25 meters), the extra height above that isn’t counted in the space calculation.</a:t>
            </a:r>
          </a:p>
          <a:p>
            <a:r>
              <a:rPr lang="en-US" dirty="0"/>
              <a:t>The </a:t>
            </a:r>
            <a:r>
              <a:rPr lang="en-US" b="1" dirty="0"/>
              <a:t>Inspector General</a:t>
            </a:r>
            <a:r>
              <a:rPr lang="en-US" dirty="0"/>
              <a:t> can order employers to </a:t>
            </a:r>
            <a:r>
              <a:rPr lang="en-US" b="1" dirty="0"/>
              <a:t>post signs</a:t>
            </a:r>
            <a:r>
              <a:rPr lang="en-US" dirty="0"/>
              <a:t> showing the maximum number of workers allowed in each room.</a:t>
            </a:r>
          </a:p>
          <a:p>
            <a:pPr marL="0" indent="0">
              <a:buNone/>
            </a:pPr>
            <a:endParaRPr lang="en-US" dirty="0"/>
          </a:p>
        </p:txBody>
      </p:sp>
      <p:sp>
        <p:nvSpPr>
          <p:cNvPr id="2" name="Title 1">
            <a:extLst>
              <a:ext uri="{FF2B5EF4-FFF2-40B4-BE49-F238E27FC236}">
                <a16:creationId xmlns:a16="http://schemas.microsoft.com/office/drawing/2014/main" id="{510B885C-23D0-B3F9-AC20-4353EF0522F1}"/>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56. Overcrowding</a:t>
            </a:r>
          </a:p>
        </p:txBody>
      </p:sp>
    </p:spTree>
    <p:extLst>
      <p:ext uri="{BB962C8B-B14F-4D97-AF65-F5344CB8AC3E}">
        <p14:creationId xmlns:p14="http://schemas.microsoft.com/office/powerpoint/2010/main" val="41084886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BC771-3747-5DD2-5B8E-474237DAA6D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78863D-884F-10AF-549E-F3868ABF4806}"/>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points:</a:t>
            </a:r>
            <a:endParaRPr lang="en-US" dirty="0"/>
          </a:p>
          <a:p>
            <a:r>
              <a:rPr lang="en-US" dirty="0"/>
              <a:t>Every workplace must have </a:t>
            </a:r>
            <a:r>
              <a:rPr lang="en-US" b="1" dirty="0"/>
              <a:t>enough and suitable lighting</a:t>
            </a:r>
            <a:r>
              <a:rPr lang="en-US" dirty="0"/>
              <a:t>, whether natural (sunlight) or artificial (bulbs), so workers can see clearly.</a:t>
            </a:r>
          </a:p>
          <a:p>
            <a:r>
              <a:rPr lang="en-US" dirty="0"/>
              <a:t>All </a:t>
            </a:r>
            <a:r>
              <a:rPr lang="en-US" b="1" dirty="0"/>
              <a:t>glass windows and skylights</a:t>
            </a:r>
            <a:r>
              <a:rPr lang="en-US" dirty="0"/>
              <a:t> that let in light must be kept </a:t>
            </a:r>
            <a:r>
              <a:rPr lang="en-US" b="1" dirty="0"/>
              <a:t>clean on both sides</a:t>
            </a:r>
            <a:r>
              <a:rPr lang="en-US" dirty="0"/>
              <a:t> and kept clear of anything blocking the light.</a:t>
            </a:r>
          </a:p>
          <a:p>
            <a:r>
              <a:rPr lang="en-US" dirty="0"/>
              <a:t>Employers must take steps to prevent:</a:t>
            </a:r>
            <a:br>
              <a:rPr lang="en-US" dirty="0"/>
            </a:br>
            <a:r>
              <a:rPr lang="en-US" dirty="0"/>
              <a:t>(a) </a:t>
            </a:r>
            <a:r>
              <a:rPr lang="en-US" b="1" dirty="0"/>
              <a:t>Glare</a:t>
            </a:r>
            <a:r>
              <a:rPr lang="en-US" dirty="0"/>
              <a:t> — harsh, blinding light from direct or reflected surfaces.</a:t>
            </a:r>
            <a:br>
              <a:rPr lang="en-US" dirty="0"/>
            </a:br>
            <a:r>
              <a:rPr lang="en-US" dirty="0"/>
              <a:t>(b) </a:t>
            </a:r>
            <a:r>
              <a:rPr lang="en-US" b="1" dirty="0"/>
              <a:t>Shadows</a:t>
            </a:r>
            <a:r>
              <a:rPr lang="en-US" dirty="0"/>
              <a:t> — that cause eye strain or increase accident risks.</a:t>
            </a:r>
          </a:p>
          <a:p>
            <a:pPr marL="0" indent="0">
              <a:buNone/>
            </a:pPr>
            <a:endParaRPr lang="en-US" dirty="0"/>
          </a:p>
        </p:txBody>
      </p:sp>
      <p:sp>
        <p:nvSpPr>
          <p:cNvPr id="2" name="Title 1">
            <a:extLst>
              <a:ext uri="{FF2B5EF4-FFF2-40B4-BE49-F238E27FC236}">
                <a16:creationId xmlns:a16="http://schemas.microsoft.com/office/drawing/2014/main" id="{ECC9BB48-FC50-F527-2DA9-420C2BD64C24}"/>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57. Lighting</a:t>
            </a:r>
          </a:p>
        </p:txBody>
      </p:sp>
    </p:spTree>
    <p:extLst>
      <p:ext uri="{BB962C8B-B14F-4D97-AF65-F5344CB8AC3E}">
        <p14:creationId xmlns:p14="http://schemas.microsoft.com/office/powerpoint/2010/main" val="10380710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F3BE8-ABB4-1978-AB07-33E9F81806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8070A5-E3CA-77A7-14E3-9778173E1C70}"/>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points:</a:t>
            </a:r>
            <a:endParaRPr lang="en-US" dirty="0"/>
          </a:p>
          <a:p>
            <a:r>
              <a:rPr lang="en-US" dirty="0"/>
              <a:t>Every workplace must have a </a:t>
            </a:r>
            <a:r>
              <a:rPr lang="en-US" b="1" dirty="0"/>
              <a:t>designated spot</a:t>
            </a:r>
            <a:r>
              <a:rPr lang="en-US" dirty="0"/>
              <a:t> where </a:t>
            </a:r>
            <a:r>
              <a:rPr lang="en-US" b="1" dirty="0"/>
              <a:t>enough purified drinking water</a:t>
            </a:r>
            <a:r>
              <a:rPr lang="en-US" dirty="0"/>
              <a:t> is available for all workers.</a:t>
            </a:r>
          </a:p>
          <a:p>
            <a:r>
              <a:rPr lang="en-US" dirty="0"/>
              <a:t>These water points should be clearly marked with </a:t>
            </a:r>
            <a:r>
              <a:rPr lang="en-US" b="1" dirty="0"/>
              <a:t>“Potable water”</a:t>
            </a:r>
            <a:r>
              <a:rPr lang="en-US" dirty="0"/>
              <a:t> in </a:t>
            </a:r>
            <a:r>
              <a:rPr lang="en-US" b="1" dirty="0"/>
              <a:t>Bangla</a:t>
            </a:r>
            <a:r>
              <a:rPr lang="en-US" dirty="0"/>
              <a:t> so everyone knows it’s safe to drink.</a:t>
            </a:r>
          </a:p>
          <a:p>
            <a:r>
              <a:rPr lang="en-US" dirty="0"/>
              <a:t>If the workplace has </a:t>
            </a:r>
            <a:r>
              <a:rPr lang="en-US" b="1" dirty="0"/>
              <a:t>250 or more workers</a:t>
            </a:r>
            <a:r>
              <a:rPr lang="en-US" dirty="0"/>
              <a:t>, there must be arrangements to </a:t>
            </a:r>
            <a:r>
              <a:rPr lang="en-US" b="1" dirty="0"/>
              <a:t>cool the drinking water</a:t>
            </a:r>
            <a:r>
              <a:rPr lang="en-US" dirty="0"/>
              <a:t> during hot summer months.</a:t>
            </a:r>
          </a:p>
          <a:p>
            <a:r>
              <a:rPr lang="en-US" dirty="0"/>
              <a:t>When workers are working near hot machines and may get dehydrated, the employer must provide </a:t>
            </a:r>
            <a:r>
              <a:rPr lang="en-US" b="1" dirty="0"/>
              <a:t>oral rehydration therapy</a:t>
            </a:r>
            <a:r>
              <a:rPr lang="en-US" dirty="0"/>
              <a:t> (special fluids to help them stay hydrated and healthy).</a:t>
            </a:r>
          </a:p>
          <a:p>
            <a:pPr marL="0" indent="0">
              <a:buNone/>
            </a:pPr>
            <a:endParaRPr lang="en-US" dirty="0"/>
          </a:p>
        </p:txBody>
      </p:sp>
      <p:sp>
        <p:nvSpPr>
          <p:cNvPr id="2" name="Title 1">
            <a:extLst>
              <a:ext uri="{FF2B5EF4-FFF2-40B4-BE49-F238E27FC236}">
                <a16:creationId xmlns:a16="http://schemas.microsoft.com/office/drawing/2014/main" id="{01C3BC76-805A-36F5-6C53-A9045386FAC7}"/>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58. Potable Water</a:t>
            </a:r>
          </a:p>
        </p:txBody>
      </p:sp>
    </p:spTree>
    <p:extLst>
      <p:ext uri="{BB962C8B-B14F-4D97-AF65-F5344CB8AC3E}">
        <p14:creationId xmlns:p14="http://schemas.microsoft.com/office/powerpoint/2010/main" val="40211366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F173D-1F7E-DC03-BF48-A7FAFD0CD39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9682E8-9363-5381-45B3-36291814C8A0}"/>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points:</a:t>
            </a:r>
            <a:endParaRPr lang="en-US" dirty="0"/>
          </a:p>
          <a:p>
            <a:r>
              <a:rPr lang="en-US" dirty="0"/>
              <a:t>Every workplace must provide </a:t>
            </a:r>
            <a:r>
              <a:rPr lang="en-US" b="1" dirty="0"/>
              <a:t>enough toilets and washrooms</a:t>
            </a:r>
            <a:r>
              <a:rPr lang="en-US" dirty="0"/>
              <a:t> in convenient spots so workers can easily use them during work hours.</a:t>
            </a:r>
          </a:p>
          <a:p>
            <a:r>
              <a:rPr lang="en-US" dirty="0"/>
              <a:t>Toilets and washrooms must be </a:t>
            </a:r>
            <a:r>
              <a:rPr lang="en-US" b="1" dirty="0"/>
              <a:t>separate for male and female workers</a:t>
            </a:r>
            <a:r>
              <a:rPr lang="en-US" dirty="0"/>
              <a:t>.</a:t>
            </a:r>
          </a:p>
          <a:p>
            <a:r>
              <a:rPr lang="en-US" dirty="0"/>
              <a:t>They must be </a:t>
            </a:r>
            <a:r>
              <a:rPr lang="en-US" b="1" dirty="0"/>
              <a:t>well-lit and well-ventilated</a:t>
            </a:r>
            <a:r>
              <a:rPr lang="en-US" dirty="0"/>
              <a:t> with </a:t>
            </a:r>
            <a:r>
              <a:rPr lang="en-US" b="1" dirty="0"/>
              <a:t>water available at all times</a:t>
            </a:r>
            <a:r>
              <a:rPr lang="en-US" dirty="0"/>
              <a:t>.</a:t>
            </a:r>
          </a:p>
          <a:p>
            <a:r>
              <a:rPr lang="en-US" dirty="0"/>
              <a:t>Employers are responsible for keeping these toilets and washrooms </a:t>
            </a:r>
            <a:r>
              <a:rPr lang="en-US" b="1" dirty="0"/>
              <a:t>clean and sanitary</a:t>
            </a:r>
            <a:r>
              <a:rPr lang="en-US" dirty="0"/>
              <a:t>, using proper detergents and disinfectants.</a:t>
            </a:r>
          </a:p>
          <a:p>
            <a:pPr marL="0" indent="0">
              <a:buNone/>
            </a:pPr>
            <a:endParaRPr lang="en-US" dirty="0"/>
          </a:p>
        </p:txBody>
      </p:sp>
      <p:sp>
        <p:nvSpPr>
          <p:cNvPr id="2" name="Title 1">
            <a:extLst>
              <a:ext uri="{FF2B5EF4-FFF2-40B4-BE49-F238E27FC236}">
                <a16:creationId xmlns:a16="http://schemas.microsoft.com/office/drawing/2014/main" id="{4DB5C8E3-B354-6193-2DCF-FC1DD6745343}"/>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59. Toilets and Washrooms</a:t>
            </a:r>
          </a:p>
        </p:txBody>
      </p:sp>
    </p:spTree>
    <p:extLst>
      <p:ext uri="{BB962C8B-B14F-4D97-AF65-F5344CB8AC3E}">
        <p14:creationId xmlns:p14="http://schemas.microsoft.com/office/powerpoint/2010/main" val="32333353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3D0F2-9E21-A0D5-B16D-07D0124F345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5047FB-27E8-5BCC-3FDF-61C2B9012D07}"/>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points:</a:t>
            </a:r>
            <a:endParaRPr lang="en-US" dirty="0"/>
          </a:p>
          <a:p>
            <a:r>
              <a:rPr lang="en-US" dirty="0"/>
              <a:t>Every workplace must have </a:t>
            </a:r>
            <a:r>
              <a:rPr lang="en-US" b="1" dirty="0"/>
              <a:t>enough dustbins and spittoons</a:t>
            </a:r>
            <a:r>
              <a:rPr lang="en-US" dirty="0"/>
              <a:t> in easy-to-reach spots.</a:t>
            </a:r>
          </a:p>
          <a:p>
            <a:r>
              <a:rPr lang="en-US" dirty="0"/>
              <a:t>They must always be </a:t>
            </a:r>
            <a:r>
              <a:rPr lang="en-US" b="1" dirty="0"/>
              <a:t>clean and hygienic</a:t>
            </a:r>
            <a:r>
              <a:rPr lang="en-US" dirty="0"/>
              <a:t>, so people don’t spread dirt or diseases.</a:t>
            </a:r>
          </a:p>
          <a:p>
            <a:r>
              <a:rPr lang="en-US" dirty="0"/>
              <a:t>Workers </a:t>
            </a:r>
            <a:r>
              <a:rPr lang="en-US" b="1" dirty="0"/>
              <a:t>cannot throw trash or spit anywhere else</a:t>
            </a:r>
            <a:r>
              <a:rPr lang="en-US" dirty="0"/>
              <a:t> — they must use the dustbins and spittoons provided.</a:t>
            </a:r>
          </a:p>
          <a:p>
            <a:r>
              <a:rPr lang="en-US" dirty="0"/>
              <a:t>A </a:t>
            </a:r>
            <a:r>
              <a:rPr lang="en-US" b="1" dirty="0"/>
              <a:t>notice</a:t>
            </a:r>
            <a:r>
              <a:rPr lang="en-US" dirty="0"/>
              <a:t> explaining this rule (and warning that breaking it is a punishable offense) must be displayed clearly in multiple spots so everyone sees it.</a:t>
            </a:r>
          </a:p>
          <a:p>
            <a:pPr marL="0" indent="0">
              <a:buNone/>
            </a:pPr>
            <a:endParaRPr lang="en-US" dirty="0"/>
          </a:p>
        </p:txBody>
      </p:sp>
      <p:sp>
        <p:nvSpPr>
          <p:cNvPr id="2" name="Title 1">
            <a:extLst>
              <a:ext uri="{FF2B5EF4-FFF2-40B4-BE49-F238E27FC236}">
                <a16:creationId xmlns:a16="http://schemas.microsoft.com/office/drawing/2014/main" id="{54A2BEAC-153D-49E5-0089-1C28ED04FEA3}"/>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60. Dustbins and Spittoons</a:t>
            </a:r>
          </a:p>
        </p:txBody>
      </p:sp>
    </p:spTree>
    <p:extLst>
      <p:ext uri="{BB962C8B-B14F-4D97-AF65-F5344CB8AC3E}">
        <p14:creationId xmlns:p14="http://schemas.microsoft.com/office/powerpoint/2010/main" val="14233541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C7F1D-C2C5-4178-CA05-49119129233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5E0632-B787-C2B3-5F32-C8D2075C669C}"/>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points:</a:t>
            </a:r>
            <a:endParaRPr lang="en-US" dirty="0"/>
          </a:p>
          <a:p>
            <a:r>
              <a:rPr lang="en-US" dirty="0"/>
              <a:t>If a </a:t>
            </a:r>
            <a:r>
              <a:rPr lang="en-US" b="1" dirty="0" err="1"/>
              <a:t>Labour</a:t>
            </a:r>
            <a:r>
              <a:rPr lang="en-US" b="1" dirty="0"/>
              <a:t> Inspector</a:t>
            </a:r>
            <a:r>
              <a:rPr lang="en-US" dirty="0"/>
              <a:t> thinks that a building, road, machine, plant, or internal electrical system in a workplace is </a:t>
            </a:r>
            <a:r>
              <a:rPr lang="en-US" b="1" dirty="0"/>
              <a:t>dangerous to life or safety</a:t>
            </a:r>
            <a:r>
              <a:rPr lang="en-US" dirty="0"/>
              <a:t>, he can order the employer to </a:t>
            </a:r>
            <a:r>
              <a:rPr lang="en-US" b="1" dirty="0"/>
              <a:t>fix it within a certain time</a:t>
            </a:r>
            <a:r>
              <a:rPr lang="en-US" dirty="0"/>
              <a:t>.</a:t>
            </a:r>
          </a:p>
          <a:p>
            <a:r>
              <a:rPr lang="en-US" dirty="0"/>
              <a:t>If the danger is </a:t>
            </a:r>
            <a:r>
              <a:rPr lang="en-US" b="1" dirty="0"/>
              <a:t>serious and immediate</a:t>
            </a:r>
            <a:r>
              <a:rPr lang="en-US" dirty="0"/>
              <a:t>, the Inspector can </a:t>
            </a:r>
            <a:r>
              <a:rPr lang="en-US" b="1" dirty="0"/>
              <a:t>stop the use</a:t>
            </a:r>
            <a:r>
              <a:rPr lang="en-US" dirty="0"/>
              <a:t> of that building, machine, or system </a:t>
            </a:r>
            <a:r>
              <a:rPr lang="en-US" b="1" dirty="0"/>
              <a:t>right away</a:t>
            </a:r>
            <a:r>
              <a:rPr lang="en-US" dirty="0"/>
              <a:t>, until it is properly </a:t>
            </a:r>
            <a:r>
              <a:rPr lang="en-US" b="1" dirty="0"/>
              <a:t>repaired or made safe</a:t>
            </a:r>
            <a:r>
              <a:rPr lang="en-US" dirty="0"/>
              <a:t>.</a:t>
            </a:r>
          </a:p>
          <a:p>
            <a:pPr marL="0" indent="0">
              <a:buNone/>
            </a:pPr>
            <a:endParaRPr lang="en-US" dirty="0"/>
          </a:p>
        </p:txBody>
      </p:sp>
      <p:sp>
        <p:nvSpPr>
          <p:cNvPr id="2" name="Title 1">
            <a:extLst>
              <a:ext uri="{FF2B5EF4-FFF2-40B4-BE49-F238E27FC236}">
                <a16:creationId xmlns:a16="http://schemas.microsoft.com/office/drawing/2014/main" id="{BDC9BDA3-EC39-0CE5-638B-AB1EE05B3337}"/>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61. Safety of Building and Machinery</a:t>
            </a:r>
          </a:p>
        </p:txBody>
      </p:sp>
    </p:spTree>
    <p:extLst>
      <p:ext uri="{BB962C8B-B14F-4D97-AF65-F5344CB8AC3E}">
        <p14:creationId xmlns:p14="http://schemas.microsoft.com/office/powerpoint/2010/main" val="32263737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68BA-0180-3969-E354-6DB19E012E0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63315E-9771-7B67-B151-DF1B71D0F9BB}"/>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points</a:t>
            </a:r>
            <a:endParaRPr lang="en-US" dirty="0"/>
          </a:p>
          <a:p>
            <a:r>
              <a:rPr lang="en-US" dirty="0"/>
              <a:t>Every workplace must have </a:t>
            </a:r>
            <a:r>
              <a:rPr lang="en-US" b="1" dirty="0"/>
              <a:t>safe exits</a:t>
            </a:r>
            <a:r>
              <a:rPr lang="en-US" dirty="0"/>
              <a:t>, including at least one </a:t>
            </a:r>
            <a:r>
              <a:rPr lang="en-US" b="1" dirty="0"/>
              <a:t>alternative staircase</a:t>
            </a:r>
            <a:r>
              <a:rPr lang="en-US" dirty="0"/>
              <a:t>, and enough </a:t>
            </a:r>
            <a:r>
              <a:rPr lang="en-US" b="1" dirty="0"/>
              <a:t>firefighting equipment</a:t>
            </a:r>
            <a:r>
              <a:rPr lang="en-US" dirty="0"/>
              <a:t> on each floor.</a:t>
            </a:r>
          </a:p>
          <a:p>
            <a:r>
              <a:rPr lang="en-US" dirty="0"/>
              <a:t>If a </a:t>
            </a:r>
            <a:r>
              <a:rPr lang="en-US" b="1" dirty="0" err="1"/>
              <a:t>Labour</a:t>
            </a:r>
            <a:r>
              <a:rPr lang="en-US" b="1" dirty="0"/>
              <a:t> Inspector</a:t>
            </a:r>
            <a:r>
              <a:rPr lang="en-US" dirty="0"/>
              <a:t> finds that exits or firefighting tools are not properly provided, he can give a </a:t>
            </a:r>
            <a:r>
              <a:rPr lang="en-US" b="1" dirty="0"/>
              <a:t>written order</a:t>
            </a:r>
            <a:r>
              <a:rPr lang="en-US" dirty="0"/>
              <a:t> to fix them within a set time.</a:t>
            </a:r>
          </a:p>
          <a:p>
            <a:r>
              <a:rPr lang="en-US" b="1" dirty="0"/>
              <a:t>Exit doors</a:t>
            </a:r>
            <a:r>
              <a:rPr lang="en-US" dirty="0"/>
              <a:t> must be easy to open from the inside and should open </a:t>
            </a:r>
            <a:r>
              <a:rPr lang="en-US" b="1" dirty="0"/>
              <a:t>outwards</a:t>
            </a:r>
            <a:r>
              <a:rPr lang="en-US" dirty="0"/>
              <a:t>. They must never be </a:t>
            </a:r>
            <a:r>
              <a:rPr lang="en-US" b="1" dirty="0"/>
              <a:t>locked or blocked</a:t>
            </a:r>
            <a:r>
              <a:rPr lang="en-US" dirty="0"/>
              <a:t> during work.</a:t>
            </a:r>
          </a:p>
          <a:p>
            <a:r>
              <a:rPr lang="en-US" dirty="0"/>
              <a:t>Windows, doors, or other emergency exits must be clearly marked in </a:t>
            </a:r>
            <a:r>
              <a:rPr lang="en-US" b="1" dirty="0"/>
              <a:t>Bangla letters with red color</a:t>
            </a:r>
            <a:r>
              <a:rPr lang="en-US" dirty="0"/>
              <a:t> or other clear signs.</a:t>
            </a:r>
          </a:p>
          <a:p>
            <a:pPr marL="0" indent="0">
              <a:buNone/>
            </a:pPr>
            <a:endParaRPr lang="en-US" dirty="0"/>
          </a:p>
        </p:txBody>
      </p:sp>
      <p:sp>
        <p:nvSpPr>
          <p:cNvPr id="2" name="Title 1">
            <a:extLst>
              <a:ext uri="{FF2B5EF4-FFF2-40B4-BE49-F238E27FC236}">
                <a16:creationId xmlns:a16="http://schemas.microsoft.com/office/drawing/2014/main" id="{A901DAC8-C8F5-2F51-498E-C6065E052AA4}"/>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62. Precaution as to fire</a:t>
            </a:r>
          </a:p>
        </p:txBody>
      </p:sp>
    </p:spTree>
    <p:extLst>
      <p:ext uri="{BB962C8B-B14F-4D97-AF65-F5344CB8AC3E}">
        <p14:creationId xmlns:p14="http://schemas.microsoft.com/office/powerpoint/2010/main" val="24186949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734E5-2A83-5B52-54B7-43E6B53152F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34FBE4-B2D6-F8D6-F97C-40AA74A375C3}"/>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points</a:t>
            </a:r>
            <a:endParaRPr lang="en-US" dirty="0"/>
          </a:p>
          <a:p>
            <a:r>
              <a:rPr lang="en-US" dirty="0"/>
              <a:t>A </a:t>
            </a:r>
            <a:r>
              <a:rPr lang="en-US" b="1" dirty="0"/>
              <a:t>loud alarm (whistle)</a:t>
            </a:r>
            <a:r>
              <a:rPr lang="en-US" dirty="0"/>
              <a:t> must be available to warn workers in case of fire or danger.</a:t>
            </a:r>
          </a:p>
          <a:p>
            <a:r>
              <a:rPr lang="en-US" dirty="0"/>
              <a:t>There must always be a </a:t>
            </a:r>
            <a:r>
              <a:rPr lang="en-US" b="1" dirty="0"/>
              <a:t>clear passageway</a:t>
            </a:r>
            <a:r>
              <a:rPr lang="en-US" dirty="0"/>
              <a:t> to exits.</a:t>
            </a:r>
          </a:p>
          <a:p>
            <a:r>
              <a:rPr lang="en-US" dirty="0"/>
              <a:t>If workers are on higher floors or work with </a:t>
            </a:r>
            <a:r>
              <a:rPr lang="en-US" b="1" dirty="0"/>
              <a:t>flammable materials</a:t>
            </a:r>
            <a:r>
              <a:rPr lang="en-US" dirty="0"/>
              <a:t>, they must be trained in </a:t>
            </a:r>
            <a:r>
              <a:rPr lang="en-US" b="1" dirty="0"/>
              <a:t>fire safety</a:t>
            </a:r>
            <a:r>
              <a:rPr lang="en-US" dirty="0"/>
              <a:t> and evacuation procedures.</a:t>
            </a:r>
          </a:p>
          <a:p>
            <a:r>
              <a:rPr lang="en-US" dirty="0"/>
              <a:t>In workplaces with </a:t>
            </a:r>
            <a:r>
              <a:rPr lang="en-US" b="1" dirty="0"/>
              <a:t>50 or more workers</a:t>
            </a:r>
            <a:r>
              <a:rPr lang="en-US" dirty="0"/>
              <a:t>, a </a:t>
            </a:r>
            <a:r>
              <a:rPr lang="en-US" b="1" dirty="0"/>
              <a:t>mock fire drill</a:t>
            </a:r>
            <a:r>
              <a:rPr lang="en-US" dirty="0"/>
              <a:t> must be held at least </a:t>
            </a:r>
            <a:r>
              <a:rPr lang="en-US" b="1" dirty="0"/>
              <a:t>every 6 months</a:t>
            </a:r>
            <a:r>
              <a:rPr lang="en-US" dirty="0"/>
              <a:t>, and records must be kept.</a:t>
            </a:r>
          </a:p>
          <a:p>
            <a:pPr marL="0" indent="0">
              <a:buNone/>
            </a:pPr>
            <a:endParaRPr lang="en-US" dirty="0"/>
          </a:p>
        </p:txBody>
      </p:sp>
      <p:sp>
        <p:nvSpPr>
          <p:cNvPr id="2" name="Title 1">
            <a:extLst>
              <a:ext uri="{FF2B5EF4-FFF2-40B4-BE49-F238E27FC236}">
                <a16:creationId xmlns:a16="http://schemas.microsoft.com/office/drawing/2014/main" id="{1EDBC202-F19F-9CBA-1202-B5DFC1874E53}"/>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62. Precaution as to fire…</a:t>
            </a:r>
          </a:p>
        </p:txBody>
      </p:sp>
    </p:spTree>
    <p:extLst>
      <p:ext uri="{BB962C8B-B14F-4D97-AF65-F5344CB8AC3E}">
        <p14:creationId xmlns:p14="http://schemas.microsoft.com/office/powerpoint/2010/main" val="17638870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8954C-3659-3240-540C-88602F09EAE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2F0746-7E07-869D-4BB3-03CB0BC3BBE0}"/>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points</a:t>
            </a:r>
            <a:endParaRPr lang="en-US" dirty="0"/>
          </a:p>
          <a:p>
            <a:pPr marL="0" indent="0">
              <a:buNone/>
            </a:pPr>
            <a:r>
              <a:rPr lang="en-US" dirty="0"/>
              <a:t>All </a:t>
            </a:r>
            <a:r>
              <a:rPr lang="en-US" b="1" dirty="0"/>
              <a:t>moving or dangerous parts of machines</a:t>
            </a:r>
            <a:r>
              <a:rPr lang="en-US" dirty="0"/>
              <a:t> must be </a:t>
            </a:r>
            <a:r>
              <a:rPr lang="en-US" b="1" dirty="0"/>
              <a:t>securely fenced</a:t>
            </a:r>
            <a:r>
              <a:rPr lang="en-US" dirty="0"/>
              <a:t> (covered) with strong safety guards.</a:t>
            </a:r>
          </a:p>
          <a:p>
            <a:pPr marL="0" indent="0">
              <a:buNone/>
            </a:pPr>
            <a:r>
              <a:rPr lang="en-US" dirty="0"/>
              <a:t>Examples of parts that </a:t>
            </a:r>
            <a:r>
              <a:rPr lang="en-US" b="1" dirty="0"/>
              <a:t>must be fenced</a:t>
            </a:r>
            <a:r>
              <a:rPr lang="en-US" dirty="0"/>
              <a:t>:</a:t>
            </a:r>
          </a:p>
          <a:p>
            <a:pPr lvl="1"/>
            <a:r>
              <a:rPr lang="en-US" dirty="0"/>
              <a:t>Moving parts of </a:t>
            </a:r>
            <a:r>
              <a:rPr lang="en-US" b="1" dirty="0"/>
              <a:t>prime movers</a:t>
            </a:r>
            <a:r>
              <a:rPr lang="en-US" dirty="0"/>
              <a:t> (main power machines) and their </a:t>
            </a:r>
            <a:r>
              <a:rPr lang="en-US" b="1" dirty="0"/>
              <a:t>fly wheels</a:t>
            </a:r>
            <a:r>
              <a:rPr lang="en-US" dirty="0"/>
              <a:t>.</a:t>
            </a:r>
          </a:p>
          <a:p>
            <a:pPr lvl="1"/>
            <a:r>
              <a:rPr lang="en-US" dirty="0"/>
              <a:t>Both sides of </a:t>
            </a:r>
            <a:r>
              <a:rPr lang="en-US" b="1" dirty="0"/>
              <a:t>water wheels</a:t>
            </a:r>
            <a:r>
              <a:rPr lang="en-US" dirty="0"/>
              <a:t> and </a:t>
            </a:r>
            <a:r>
              <a:rPr lang="en-US" b="1" dirty="0"/>
              <a:t>turbines</a:t>
            </a:r>
            <a:r>
              <a:rPr lang="en-US" dirty="0"/>
              <a:t>.</a:t>
            </a:r>
          </a:p>
          <a:p>
            <a:pPr lvl="1"/>
            <a:r>
              <a:rPr lang="en-US" dirty="0"/>
              <a:t>Any </a:t>
            </a:r>
            <a:r>
              <a:rPr lang="en-US" b="1" dirty="0"/>
              <a:t>stock-bar</a:t>
            </a:r>
            <a:r>
              <a:rPr lang="en-US" dirty="0"/>
              <a:t> sticking out from a lathe.</a:t>
            </a:r>
          </a:p>
          <a:p>
            <a:pPr lvl="1"/>
            <a:r>
              <a:rPr lang="en-US" dirty="0"/>
              <a:t>Parts of </a:t>
            </a:r>
            <a:r>
              <a:rPr lang="en-US" b="1" dirty="0"/>
              <a:t>electric generators, motors, converters</a:t>
            </a:r>
            <a:r>
              <a:rPr lang="en-US" dirty="0"/>
              <a:t>, transmission machinery, or any other </a:t>
            </a:r>
            <a:r>
              <a:rPr lang="en-US" b="1" dirty="0"/>
              <a:t>dangerous machinery</a:t>
            </a:r>
            <a:r>
              <a:rPr lang="en-US" dirty="0"/>
              <a:t>, unless they are already safe by design or position.</a:t>
            </a:r>
          </a:p>
          <a:p>
            <a:pPr marL="0" indent="0">
              <a:buNone/>
            </a:pPr>
            <a:r>
              <a:rPr lang="en-US" dirty="0"/>
              <a:t>Special parts like </a:t>
            </a:r>
            <a:r>
              <a:rPr lang="en-US" b="1" dirty="0"/>
              <a:t>shafts, spindles, screws, bolts, gears, and toothed wheels</a:t>
            </a:r>
            <a:r>
              <a:rPr lang="en-US" dirty="0"/>
              <a:t> also need secure fencing.</a:t>
            </a:r>
          </a:p>
        </p:txBody>
      </p:sp>
      <p:sp>
        <p:nvSpPr>
          <p:cNvPr id="2" name="Title 1">
            <a:extLst>
              <a:ext uri="{FF2B5EF4-FFF2-40B4-BE49-F238E27FC236}">
                <a16:creationId xmlns:a16="http://schemas.microsoft.com/office/drawing/2014/main" id="{8CAC941D-C449-D34E-DE41-B28ED6118B2D}"/>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63. Fencing of Machinery</a:t>
            </a:r>
          </a:p>
        </p:txBody>
      </p:sp>
    </p:spTree>
    <p:extLst>
      <p:ext uri="{BB962C8B-B14F-4D97-AF65-F5344CB8AC3E}">
        <p14:creationId xmlns:p14="http://schemas.microsoft.com/office/powerpoint/2010/main" val="2215154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9CC7B-8FBC-B294-DA7D-E7AC7E1C90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F2095B-2326-372C-78B9-CC6FBE2F2377}"/>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points</a:t>
            </a:r>
            <a:endParaRPr lang="en-US" dirty="0"/>
          </a:p>
          <a:p>
            <a:r>
              <a:rPr lang="en-US" dirty="0"/>
              <a:t>Any </a:t>
            </a:r>
            <a:r>
              <a:rPr lang="en-US" b="1" dirty="0"/>
              <a:t>new power-driven machine</a:t>
            </a:r>
            <a:r>
              <a:rPr lang="en-US" dirty="0"/>
              <a:t> installed after this Act came into force must have </a:t>
            </a:r>
            <a:r>
              <a:rPr lang="en-US" b="1" dirty="0"/>
              <a:t>special safety covers or guards</a:t>
            </a:r>
            <a:r>
              <a:rPr lang="en-US" dirty="0"/>
              <a:t>.</a:t>
            </a:r>
          </a:p>
          <a:p>
            <a:r>
              <a:rPr lang="en-US" b="1" dirty="0"/>
              <a:t>Set screws, belts, keys, revolving shafts, spindles, wheels, or pinions</a:t>
            </a:r>
            <a:r>
              <a:rPr lang="en-US" dirty="0"/>
              <a:t> must be </a:t>
            </a:r>
            <a:r>
              <a:rPr lang="en-US" b="1" dirty="0"/>
              <a:t>sunk, covered, or otherwise protected</a:t>
            </a:r>
            <a:r>
              <a:rPr lang="en-US" dirty="0"/>
              <a:t> so no one gets hurt.</a:t>
            </a:r>
          </a:p>
          <a:p>
            <a:r>
              <a:rPr lang="en-US" dirty="0"/>
              <a:t>All </a:t>
            </a:r>
            <a:r>
              <a:rPr lang="en-US" b="1" dirty="0"/>
              <a:t>gears with teeth</a:t>
            </a:r>
            <a:r>
              <a:rPr lang="en-US" dirty="0"/>
              <a:t> (like spur gears and worm gears), which don’t need to be adjusted often while moving, must be </a:t>
            </a:r>
            <a:r>
              <a:rPr lang="en-US" b="1" dirty="0"/>
              <a:t>completely covered</a:t>
            </a:r>
            <a:r>
              <a:rPr lang="en-US" dirty="0"/>
              <a:t> (unless they’re already in a place that makes them safe without a cover).</a:t>
            </a:r>
          </a:p>
          <a:p>
            <a:pPr marL="0" indent="0">
              <a:buNone/>
            </a:pPr>
            <a:endParaRPr lang="en-US" dirty="0"/>
          </a:p>
        </p:txBody>
      </p:sp>
      <p:sp>
        <p:nvSpPr>
          <p:cNvPr id="2" name="Title 1">
            <a:extLst>
              <a:ext uri="{FF2B5EF4-FFF2-40B4-BE49-F238E27FC236}">
                <a16:creationId xmlns:a16="http://schemas.microsoft.com/office/drawing/2014/main" id="{21B004B3-BF98-09DD-4F23-7B7B7E3CA9DC}"/>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67. Casing of new Machinery</a:t>
            </a:r>
          </a:p>
        </p:txBody>
      </p:sp>
    </p:spTree>
    <p:extLst>
      <p:ext uri="{BB962C8B-B14F-4D97-AF65-F5344CB8AC3E}">
        <p14:creationId xmlns:p14="http://schemas.microsoft.com/office/powerpoint/2010/main" val="41159529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94C6B-543E-F41D-4ABD-F8AF59D4F95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A5329C-5E41-261D-77F4-7937676DD81B}"/>
              </a:ext>
            </a:extLst>
          </p:cNvPr>
          <p:cNvSpPr>
            <a:spLocks noGrp="1"/>
          </p:cNvSpPr>
          <p:nvPr>
            <p:ph idx="1"/>
          </p:nvPr>
        </p:nvSpPr>
        <p:spPr>
          <a:xfrm>
            <a:off x="753979" y="1351320"/>
            <a:ext cx="10515600" cy="5097605"/>
          </a:xfrm>
        </p:spPr>
        <p:txBody>
          <a:bodyPr>
            <a:normAutofit lnSpcReduction="10000"/>
          </a:bodyPr>
          <a:lstStyle/>
          <a:p>
            <a:pPr marL="0" indent="0">
              <a:buNone/>
            </a:pPr>
            <a:r>
              <a:rPr lang="en-US" dirty="0"/>
              <a:t>✅ </a:t>
            </a:r>
            <a:r>
              <a:rPr lang="en-US" b="1" dirty="0"/>
              <a:t>Key points</a:t>
            </a:r>
            <a:endParaRPr lang="en-US" dirty="0"/>
          </a:p>
          <a:p>
            <a:r>
              <a:rPr lang="en-US" dirty="0"/>
              <a:t>All </a:t>
            </a:r>
            <a:r>
              <a:rPr lang="en-US" b="1" dirty="0"/>
              <a:t>cranes and lifting machines</a:t>
            </a:r>
            <a:r>
              <a:rPr lang="en-US" dirty="0"/>
              <a:t> (except lifts/hoists) must follow strict safety rules.</a:t>
            </a:r>
          </a:p>
          <a:p>
            <a:r>
              <a:rPr lang="en-US" dirty="0"/>
              <a:t>Every part — </a:t>
            </a:r>
            <a:r>
              <a:rPr lang="en-US" b="1" dirty="0"/>
              <a:t>ropes, chains, gears, anchoring devices</a:t>
            </a:r>
            <a:r>
              <a:rPr lang="en-US" dirty="0"/>
              <a:t> — must be:</a:t>
            </a:r>
            <a:br>
              <a:rPr lang="en-US" dirty="0"/>
            </a:br>
            <a:r>
              <a:rPr lang="en-US" dirty="0"/>
              <a:t>1️⃣ </a:t>
            </a:r>
            <a:r>
              <a:rPr lang="en-US" b="1" dirty="0"/>
              <a:t>Well-built</a:t>
            </a:r>
            <a:r>
              <a:rPr lang="en-US" dirty="0"/>
              <a:t>, with strong, quality materials.</a:t>
            </a:r>
            <a:br>
              <a:rPr lang="en-US" dirty="0"/>
            </a:br>
            <a:r>
              <a:rPr lang="en-US" dirty="0"/>
              <a:t>2️⃣ </a:t>
            </a:r>
            <a:r>
              <a:rPr lang="en-US" b="1" dirty="0"/>
              <a:t>Properly maintained</a:t>
            </a:r>
            <a:r>
              <a:rPr lang="en-US" dirty="0"/>
              <a:t> (no rusty chains or frayed ropes!).</a:t>
            </a:r>
            <a:br>
              <a:rPr lang="en-US" dirty="0"/>
            </a:br>
            <a:r>
              <a:rPr lang="en-US" dirty="0"/>
              <a:t>3️⃣ </a:t>
            </a:r>
            <a:r>
              <a:rPr lang="en-US" b="1" dirty="0"/>
              <a:t>Checked carefully</a:t>
            </a:r>
            <a:r>
              <a:rPr lang="en-US" dirty="0"/>
              <a:t> by an expert at least </a:t>
            </a:r>
            <a:r>
              <a:rPr lang="en-US" b="1" dirty="0"/>
              <a:t>once a year</a:t>
            </a:r>
            <a:r>
              <a:rPr lang="en-US" dirty="0"/>
              <a:t>, and all checks must be </a:t>
            </a:r>
            <a:r>
              <a:rPr lang="en-US" b="1" dirty="0"/>
              <a:t>written down in a special register</a:t>
            </a:r>
            <a:r>
              <a:rPr lang="en-US" dirty="0"/>
              <a:t>.</a:t>
            </a:r>
          </a:p>
          <a:p>
            <a:r>
              <a:rPr lang="en-US" dirty="0"/>
              <a:t>No crane or lifting machine should ever </a:t>
            </a:r>
            <a:r>
              <a:rPr lang="en-US" b="1" dirty="0"/>
              <a:t>carry more than its marked safe limit</a:t>
            </a:r>
            <a:r>
              <a:rPr lang="en-US" dirty="0"/>
              <a:t> (overloading is strictly forbidden).</a:t>
            </a:r>
          </a:p>
          <a:p>
            <a:r>
              <a:rPr lang="en-US" dirty="0"/>
              <a:t>If someone is working near the track where a crane moves, the crane must </a:t>
            </a:r>
            <a:r>
              <a:rPr lang="en-US" b="1" dirty="0"/>
              <a:t>stay at least 6 meters away</a:t>
            </a:r>
            <a:r>
              <a:rPr lang="en-US" dirty="0"/>
              <a:t> to prevent accidents.</a:t>
            </a:r>
          </a:p>
          <a:p>
            <a:pPr marL="0" indent="0">
              <a:buNone/>
            </a:pPr>
            <a:endParaRPr lang="en-US" dirty="0"/>
          </a:p>
        </p:txBody>
      </p:sp>
      <p:sp>
        <p:nvSpPr>
          <p:cNvPr id="2" name="Title 1">
            <a:extLst>
              <a:ext uri="{FF2B5EF4-FFF2-40B4-BE49-F238E27FC236}">
                <a16:creationId xmlns:a16="http://schemas.microsoft.com/office/drawing/2014/main" id="{2C3734F6-D5D3-6222-C73E-8DF2B4718842}"/>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68. Cranes and other lifting machinery </a:t>
            </a:r>
          </a:p>
        </p:txBody>
      </p:sp>
    </p:spTree>
    <p:extLst>
      <p:ext uri="{BB962C8B-B14F-4D97-AF65-F5344CB8AC3E}">
        <p14:creationId xmlns:p14="http://schemas.microsoft.com/office/powerpoint/2010/main" val="26859371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567A8-19F7-91DB-76CB-2687A78BB1C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01BBFA-0DE0-5B0A-2C90-8E6D7296DCFC}"/>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points</a:t>
            </a:r>
            <a:endParaRPr lang="en-US" dirty="0"/>
          </a:p>
          <a:p>
            <a:r>
              <a:rPr lang="en-US" dirty="0"/>
              <a:t>Every </a:t>
            </a:r>
            <a:r>
              <a:rPr lang="en-US" b="1" dirty="0"/>
              <a:t>hoist and lift</a:t>
            </a:r>
            <a:r>
              <a:rPr lang="en-US" dirty="0"/>
              <a:t> in a workplace must be:</a:t>
            </a:r>
            <a:br>
              <a:rPr lang="en-US" dirty="0"/>
            </a:br>
            <a:r>
              <a:rPr lang="en-US" dirty="0"/>
              <a:t>1️⃣ </a:t>
            </a:r>
            <a:r>
              <a:rPr lang="en-US" b="1" dirty="0"/>
              <a:t>Well-built</a:t>
            </a:r>
            <a:r>
              <a:rPr lang="en-US" dirty="0"/>
              <a:t>, using strong and reliable materials.</a:t>
            </a:r>
            <a:br>
              <a:rPr lang="en-US" dirty="0"/>
            </a:br>
            <a:r>
              <a:rPr lang="en-US" dirty="0"/>
              <a:t>2️⃣ </a:t>
            </a:r>
            <a:r>
              <a:rPr lang="en-US" b="1" dirty="0"/>
              <a:t>Properly maintained</a:t>
            </a:r>
            <a:r>
              <a:rPr lang="en-US" dirty="0"/>
              <a:t> (no skipping checks!).</a:t>
            </a:r>
            <a:br>
              <a:rPr lang="en-US" dirty="0"/>
            </a:br>
            <a:r>
              <a:rPr lang="en-US" dirty="0"/>
              <a:t>3️⃣ </a:t>
            </a:r>
            <a:r>
              <a:rPr lang="en-US" b="1" dirty="0"/>
              <a:t>Inspected by an expert every 6 months</a:t>
            </a:r>
            <a:r>
              <a:rPr lang="en-US" dirty="0"/>
              <a:t>, and details must be recorded in a special register.</a:t>
            </a:r>
          </a:p>
          <a:p>
            <a:r>
              <a:rPr lang="en-US" dirty="0"/>
              <a:t>The </a:t>
            </a:r>
            <a:r>
              <a:rPr lang="en-US" b="1" dirty="0"/>
              <a:t>shaft area</a:t>
            </a:r>
            <a:r>
              <a:rPr lang="en-US" dirty="0"/>
              <a:t> (the space where the lift moves) must be </a:t>
            </a:r>
            <a:r>
              <a:rPr lang="en-US" b="1" dirty="0"/>
              <a:t>fully enclosed and gated</a:t>
            </a:r>
            <a:r>
              <a:rPr lang="en-US" dirty="0"/>
              <a:t>, to stop anyone or anything from getting trapped.</a:t>
            </a:r>
          </a:p>
          <a:p>
            <a:r>
              <a:rPr lang="en-US" dirty="0"/>
              <a:t>The </a:t>
            </a:r>
            <a:r>
              <a:rPr lang="en-US" b="1" dirty="0"/>
              <a:t>maximum safe load</a:t>
            </a:r>
            <a:r>
              <a:rPr lang="en-US" dirty="0"/>
              <a:t> must be </a:t>
            </a:r>
            <a:r>
              <a:rPr lang="en-US" b="1" dirty="0"/>
              <a:t>clearly written</a:t>
            </a:r>
            <a:r>
              <a:rPr lang="en-US" dirty="0"/>
              <a:t> on every lift or hoist — and </a:t>
            </a:r>
            <a:r>
              <a:rPr lang="en-US" b="1" dirty="0"/>
              <a:t>never exceeded</a:t>
            </a:r>
            <a:r>
              <a:rPr lang="en-US" dirty="0"/>
              <a:t>.</a:t>
            </a:r>
          </a:p>
          <a:p>
            <a:pPr marL="0" indent="0">
              <a:buNone/>
            </a:pPr>
            <a:endParaRPr lang="en-US" dirty="0"/>
          </a:p>
        </p:txBody>
      </p:sp>
      <p:sp>
        <p:nvSpPr>
          <p:cNvPr id="2" name="Title 1">
            <a:extLst>
              <a:ext uri="{FF2B5EF4-FFF2-40B4-BE49-F238E27FC236}">
                <a16:creationId xmlns:a16="http://schemas.microsoft.com/office/drawing/2014/main" id="{907786E0-8B30-5C87-EFD2-A2656E9B2E36}"/>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69. Hoists and lifts</a:t>
            </a:r>
          </a:p>
        </p:txBody>
      </p:sp>
    </p:spTree>
    <p:extLst>
      <p:ext uri="{BB962C8B-B14F-4D97-AF65-F5344CB8AC3E}">
        <p14:creationId xmlns:p14="http://schemas.microsoft.com/office/powerpoint/2010/main" val="36666898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B68FF-793D-0911-B0C6-5AB0EFA471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F6C2A1-0511-4C6A-1D25-736E83264DC2}"/>
              </a:ext>
            </a:extLst>
          </p:cNvPr>
          <p:cNvSpPr>
            <a:spLocks noGrp="1"/>
          </p:cNvSpPr>
          <p:nvPr>
            <p:ph idx="1"/>
          </p:nvPr>
        </p:nvSpPr>
        <p:spPr>
          <a:xfrm>
            <a:off x="753979" y="1351320"/>
            <a:ext cx="10515600" cy="5097605"/>
          </a:xfrm>
        </p:spPr>
        <p:txBody>
          <a:bodyPr>
            <a:normAutofit lnSpcReduction="10000"/>
          </a:bodyPr>
          <a:lstStyle/>
          <a:p>
            <a:pPr marL="0" indent="0">
              <a:buNone/>
            </a:pPr>
            <a:r>
              <a:rPr lang="en-US" dirty="0"/>
              <a:t>✅ </a:t>
            </a:r>
            <a:r>
              <a:rPr lang="en-US" b="1" dirty="0"/>
              <a:t>Key points</a:t>
            </a:r>
            <a:endParaRPr lang="en-US" dirty="0"/>
          </a:p>
          <a:p>
            <a:r>
              <a:rPr lang="en-US" dirty="0"/>
              <a:t>Lifts that carry people must have </a:t>
            </a:r>
            <a:r>
              <a:rPr lang="en-US" b="1" dirty="0"/>
              <a:t>gates on both sides</a:t>
            </a:r>
            <a:r>
              <a:rPr lang="en-US" dirty="0"/>
              <a:t> for entering and exiting, and the maximum capacity should be clearly written </a:t>
            </a:r>
            <a:r>
              <a:rPr lang="en-US" b="1" dirty="0"/>
              <a:t>in Bangla</a:t>
            </a:r>
            <a:r>
              <a:rPr lang="en-US" dirty="0"/>
              <a:t>.</a:t>
            </a:r>
          </a:p>
          <a:p>
            <a:r>
              <a:rPr lang="en-US" dirty="0"/>
              <a:t>Gates must have </a:t>
            </a:r>
            <a:r>
              <a:rPr lang="en-US" b="1" dirty="0"/>
              <a:t>automatic safety locks</a:t>
            </a:r>
            <a:r>
              <a:rPr lang="en-US" dirty="0"/>
              <a:t>, so they can’t open when the lift isn’t properly landed and can’t move if the gates aren’t shut.</a:t>
            </a:r>
          </a:p>
          <a:p>
            <a:r>
              <a:rPr lang="en-US" b="1" dirty="0"/>
              <a:t>Extra safety for new or rebuilt lifts:</a:t>
            </a:r>
            <a:br>
              <a:rPr lang="en-US" dirty="0"/>
            </a:br>
            <a:r>
              <a:rPr lang="en-US" dirty="0"/>
              <a:t>🔹 At least </a:t>
            </a:r>
            <a:r>
              <a:rPr lang="en-US" b="1" dirty="0"/>
              <a:t>two ropes or chains</a:t>
            </a:r>
            <a:r>
              <a:rPr lang="en-US" dirty="0"/>
              <a:t> must hold the cage — each strong enough to carry the full load.</a:t>
            </a:r>
            <a:br>
              <a:rPr lang="en-US" dirty="0"/>
            </a:br>
            <a:r>
              <a:rPr lang="en-US" dirty="0"/>
              <a:t>🔹 Special devices must </a:t>
            </a:r>
            <a:r>
              <a:rPr lang="en-US" b="1" dirty="0"/>
              <a:t>catch the lift if a rope breaks</a:t>
            </a:r>
            <a:r>
              <a:rPr lang="en-US" dirty="0"/>
              <a:t>.</a:t>
            </a:r>
            <a:br>
              <a:rPr lang="en-US" dirty="0"/>
            </a:br>
            <a:r>
              <a:rPr lang="en-US" dirty="0"/>
              <a:t>🔹 Automatic controls must </a:t>
            </a:r>
            <a:r>
              <a:rPr lang="en-US" b="1" dirty="0"/>
              <a:t>prevent </a:t>
            </a:r>
            <a:r>
              <a:rPr lang="en-US" b="1" dirty="0" err="1"/>
              <a:t>overspeeding</a:t>
            </a:r>
            <a:r>
              <a:rPr lang="en-US" dirty="0"/>
              <a:t>.</a:t>
            </a:r>
          </a:p>
          <a:p>
            <a:r>
              <a:rPr lang="en-US" dirty="0"/>
              <a:t>Old lifts (before this law) may continue if they meet safety conditions set by the Inspector General.</a:t>
            </a:r>
          </a:p>
          <a:p>
            <a:pPr marL="0" indent="0">
              <a:buNone/>
            </a:pPr>
            <a:endParaRPr lang="en-US" dirty="0"/>
          </a:p>
        </p:txBody>
      </p:sp>
      <p:sp>
        <p:nvSpPr>
          <p:cNvPr id="2" name="Title 1">
            <a:extLst>
              <a:ext uri="{FF2B5EF4-FFF2-40B4-BE49-F238E27FC236}">
                <a16:creationId xmlns:a16="http://schemas.microsoft.com/office/drawing/2014/main" id="{866D472C-642D-D911-528A-2F458B4082CB}"/>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69. Hoists and lifts…</a:t>
            </a:r>
          </a:p>
        </p:txBody>
      </p:sp>
    </p:spTree>
    <p:extLst>
      <p:ext uri="{BB962C8B-B14F-4D97-AF65-F5344CB8AC3E}">
        <p14:creationId xmlns:p14="http://schemas.microsoft.com/office/powerpoint/2010/main" val="37259354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36685-1AB4-71D7-BAEC-F472CAD915E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78055F-338B-EB7B-334E-9D164E4296BC}"/>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points</a:t>
            </a:r>
            <a:endParaRPr lang="en-US" dirty="0"/>
          </a:p>
          <a:p>
            <a:r>
              <a:rPr lang="en-US" b="1" dirty="0"/>
              <a:t>Floors, stairs, and passages</a:t>
            </a:r>
            <a:r>
              <a:rPr lang="en-US" dirty="0"/>
              <a:t> in a workplace must be </a:t>
            </a:r>
            <a:r>
              <a:rPr lang="en-US" b="1" dirty="0"/>
              <a:t>strong, safe, and well-maintained</a:t>
            </a:r>
            <a:r>
              <a:rPr lang="en-US" dirty="0"/>
              <a:t>.</a:t>
            </a:r>
          </a:p>
          <a:p>
            <a:r>
              <a:rPr lang="en-US" b="1" dirty="0"/>
              <a:t>Railings</a:t>
            </a:r>
            <a:r>
              <a:rPr lang="en-US" dirty="0"/>
              <a:t> should be added wherever needed to stop people from falling.</a:t>
            </a:r>
          </a:p>
          <a:p>
            <a:r>
              <a:rPr lang="en-US" dirty="0"/>
              <a:t>All paths and stairs should be </a:t>
            </a:r>
            <a:r>
              <a:rPr lang="en-US" b="1" dirty="0"/>
              <a:t>open and free of obstacles</a:t>
            </a:r>
            <a:r>
              <a:rPr lang="en-US" dirty="0"/>
              <a:t>, so workers can move easily.</a:t>
            </a:r>
          </a:p>
          <a:p>
            <a:r>
              <a:rPr lang="en-US" dirty="0"/>
              <a:t>Safe ways (like ladders, stairs, walkways) must be provided to reach any place where someone has to work.</a:t>
            </a:r>
          </a:p>
          <a:p>
            <a:r>
              <a:rPr lang="en-US" dirty="0"/>
              <a:t>Employers can even use </a:t>
            </a:r>
            <a:r>
              <a:rPr lang="en-US" b="1" dirty="0"/>
              <a:t>CCTV cameras</a:t>
            </a:r>
            <a:r>
              <a:rPr lang="en-US" dirty="0"/>
              <a:t> to monitor passages, stairs, storerooms, and common areas for extra safety.</a:t>
            </a:r>
          </a:p>
          <a:p>
            <a:pPr marL="0" indent="0">
              <a:buNone/>
            </a:pPr>
            <a:endParaRPr lang="en-US" dirty="0"/>
          </a:p>
        </p:txBody>
      </p:sp>
      <p:sp>
        <p:nvSpPr>
          <p:cNvPr id="2" name="Title 1">
            <a:extLst>
              <a:ext uri="{FF2B5EF4-FFF2-40B4-BE49-F238E27FC236}">
                <a16:creationId xmlns:a16="http://schemas.microsoft.com/office/drawing/2014/main" id="{0B6B5A3F-DD38-B202-9D91-30378EE0C9D3}"/>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72. Floors, stairs, and passage</a:t>
            </a:r>
          </a:p>
        </p:txBody>
      </p:sp>
    </p:spTree>
    <p:extLst>
      <p:ext uri="{BB962C8B-B14F-4D97-AF65-F5344CB8AC3E}">
        <p14:creationId xmlns:p14="http://schemas.microsoft.com/office/powerpoint/2010/main" val="7461460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47302-3E9C-6694-C481-ABDC8FF46C7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FABC02-C951-7C1D-A401-015CB9E9948C}"/>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point</a:t>
            </a:r>
            <a:endParaRPr lang="en-US" dirty="0"/>
          </a:p>
          <a:p>
            <a:r>
              <a:rPr lang="en-US" dirty="0"/>
              <a:t>If there is any </a:t>
            </a:r>
            <a:r>
              <a:rPr lang="en-US" b="1" dirty="0"/>
              <a:t>pit, tank, sump, tunnel mouth, or similar deep space</a:t>
            </a:r>
            <a:r>
              <a:rPr lang="en-US" dirty="0"/>
              <a:t> in a workplace that could be dangerous because of its </a:t>
            </a:r>
            <a:r>
              <a:rPr lang="en-US" b="1" dirty="0"/>
              <a:t>depth, location, structure, or what it contains</a:t>
            </a:r>
            <a:r>
              <a:rPr lang="en-US" dirty="0"/>
              <a:t>, it must be either </a:t>
            </a:r>
            <a:r>
              <a:rPr lang="en-US" b="1" dirty="0"/>
              <a:t>securely covered</a:t>
            </a:r>
            <a:r>
              <a:rPr lang="en-US" dirty="0"/>
              <a:t> or </a:t>
            </a:r>
            <a:r>
              <a:rPr lang="en-US" b="1" dirty="0"/>
              <a:t>safely fenced</a:t>
            </a:r>
            <a:r>
              <a:rPr lang="en-US" dirty="0"/>
              <a:t> to prevent accidents.</a:t>
            </a:r>
          </a:p>
          <a:p>
            <a:pPr marL="0" indent="0">
              <a:buNone/>
            </a:pPr>
            <a:endParaRPr lang="en-US" dirty="0"/>
          </a:p>
        </p:txBody>
      </p:sp>
      <p:sp>
        <p:nvSpPr>
          <p:cNvPr id="2" name="Title 1">
            <a:extLst>
              <a:ext uri="{FF2B5EF4-FFF2-40B4-BE49-F238E27FC236}">
                <a16:creationId xmlns:a16="http://schemas.microsoft.com/office/drawing/2014/main" id="{E3ABCB6F-02D6-AD12-AB3E-5BDB9458B174}"/>
              </a:ext>
            </a:extLst>
          </p:cNvPr>
          <p:cNvSpPr>
            <a:spLocks noGrp="1"/>
          </p:cNvSpPr>
          <p:nvPr>
            <p:ph type="ctrTitle" idx="4294967295"/>
          </p:nvPr>
        </p:nvSpPr>
        <p:spPr>
          <a:xfrm>
            <a:off x="0" y="212725"/>
            <a:ext cx="9640888" cy="893763"/>
          </a:xfrm>
          <a:prstGeom prst="rect">
            <a:avLst/>
          </a:prstGeom>
        </p:spPr>
        <p:txBody>
          <a:bodyPr/>
          <a:lstStyle/>
          <a:p>
            <a:r>
              <a:rPr lang="fr-FR" sz="3200" b="1" dirty="0">
                <a:solidFill>
                  <a:schemeClr val="bg1"/>
                </a:solidFill>
                <a:latin typeface="Bell MT" panose="02020503060305020303" pitchFamily="18" charset="0"/>
              </a:rPr>
              <a:t>73. </a:t>
            </a:r>
            <a:r>
              <a:rPr lang="fr-FR" sz="3200" b="1" dirty="0" err="1">
                <a:solidFill>
                  <a:schemeClr val="bg1"/>
                </a:solidFill>
                <a:latin typeface="Bell MT" panose="02020503060305020303" pitchFamily="18" charset="0"/>
              </a:rPr>
              <a:t>Pits</a:t>
            </a:r>
            <a:r>
              <a:rPr lang="fr-FR" sz="3200" b="1" dirty="0">
                <a:solidFill>
                  <a:schemeClr val="bg1"/>
                </a:solidFill>
                <a:latin typeface="Bell MT" panose="02020503060305020303" pitchFamily="18" charset="0"/>
              </a:rPr>
              <a:t>, </a:t>
            </a:r>
            <a:r>
              <a:rPr lang="fr-FR" sz="3200" b="1" dirty="0" err="1">
                <a:solidFill>
                  <a:schemeClr val="bg1"/>
                </a:solidFill>
                <a:latin typeface="Bell MT" panose="02020503060305020303" pitchFamily="18" charset="0"/>
              </a:rPr>
              <a:t>sumps</a:t>
            </a:r>
            <a:r>
              <a:rPr lang="fr-FR" sz="3200" b="1" dirty="0">
                <a:solidFill>
                  <a:schemeClr val="bg1"/>
                </a:solidFill>
                <a:latin typeface="Bell MT" panose="02020503060305020303" pitchFamily="18" charset="0"/>
              </a:rPr>
              <a:t>, tunnel </a:t>
            </a:r>
            <a:r>
              <a:rPr lang="fr-FR" sz="3200" b="1" dirty="0" err="1">
                <a:solidFill>
                  <a:schemeClr val="bg1"/>
                </a:solidFill>
                <a:latin typeface="Bell MT" panose="02020503060305020303" pitchFamily="18" charset="0"/>
              </a:rPr>
              <a:t>mouths</a:t>
            </a:r>
            <a:r>
              <a:rPr lang="fr-FR" sz="3200" b="1" dirty="0">
                <a:solidFill>
                  <a:schemeClr val="bg1"/>
                </a:solidFill>
                <a:latin typeface="Bell MT" panose="02020503060305020303" pitchFamily="18" charset="0"/>
              </a:rPr>
              <a:t>, etc.</a:t>
            </a:r>
            <a:endParaRPr lang="en-GB" sz="3200" b="1" dirty="0">
              <a:solidFill>
                <a:schemeClr val="bg1"/>
              </a:solidFill>
              <a:latin typeface="Bell MT" panose="02020503060305020303" pitchFamily="18" charset="0"/>
            </a:endParaRPr>
          </a:p>
        </p:txBody>
      </p:sp>
    </p:spTree>
    <p:extLst>
      <p:ext uri="{BB962C8B-B14F-4D97-AF65-F5344CB8AC3E}">
        <p14:creationId xmlns:p14="http://schemas.microsoft.com/office/powerpoint/2010/main" val="35416070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FD781-15B4-783F-54E7-126605A7C00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5AE57F-0368-C0C5-9DE5-B2327A172019}"/>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point</a:t>
            </a:r>
            <a:endParaRPr lang="en-US" dirty="0"/>
          </a:p>
          <a:p>
            <a:r>
              <a:rPr lang="en-US" dirty="0"/>
              <a:t>In workplaces, there might be </a:t>
            </a:r>
            <a:r>
              <a:rPr lang="en-US" b="1" dirty="0"/>
              <a:t>confined spaces</a:t>
            </a:r>
            <a:r>
              <a:rPr lang="en-US" dirty="0"/>
              <a:t> (like tanks, pipes, chambers) where </a:t>
            </a:r>
            <a:r>
              <a:rPr lang="en-US" b="1" dirty="0"/>
              <a:t>dangerous fumes</a:t>
            </a:r>
            <a:r>
              <a:rPr lang="en-US" dirty="0"/>
              <a:t> can build up and become deadly.</a:t>
            </a:r>
          </a:p>
          <a:p>
            <a:r>
              <a:rPr lang="en-US" dirty="0"/>
              <a:t>Before anyone enters such spaces:</a:t>
            </a:r>
          </a:p>
          <a:p>
            <a:pPr lvl="1"/>
            <a:r>
              <a:rPr lang="en-US" dirty="0"/>
              <a:t>There must be a </a:t>
            </a:r>
            <a:r>
              <a:rPr lang="en-US" b="1" dirty="0"/>
              <a:t>safe exit (like a manhole)</a:t>
            </a:r>
            <a:r>
              <a:rPr lang="en-US" dirty="0"/>
              <a:t>.</a:t>
            </a:r>
          </a:p>
          <a:p>
            <a:pPr lvl="1"/>
            <a:r>
              <a:rPr lang="en-US" dirty="0"/>
              <a:t>The area must be </a:t>
            </a:r>
            <a:r>
              <a:rPr lang="en-US" b="1" dirty="0"/>
              <a:t>tested and confirmed safe</a:t>
            </a:r>
            <a:r>
              <a:rPr lang="en-US" dirty="0"/>
              <a:t>, or workers must wear </a:t>
            </a:r>
            <a:r>
              <a:rPr lang="en-US" b="1" dirty="0"/>
              <a:t>proper breathing equipment and ropes</a:t>
            </a:r>
            <a:r>
              <a:rPr lang="en-US" dirty="0"/>
              <a:t> for rescue.</a:t>
            </a:r>
          </a:p>
          <a:p>
            <a:pPr lvl="1"/>
            <a:r>
              <a:rPr lang="en-US" dirty="0"/>
              <a:t>Only </a:t>
            </a:r>
            <a:r>
              <a:rPr lang="en-US" b="1" dirty="0"/>
              <a:t>safe, low-voltage lights</a:t>
            </a:r>
            <a:r>
              <a:rPr lang="en-US" dirty="0"/>
              <a:t> should be used inside.</a:t>
            </a:r>
          </a:p>
          <a:p>
            <a:pPr lvl="1"/>
            <a:r>
              <a:rPr lang="en-US" dirty="0"/>
              <a:t>Equipment for </a:t>
            </a:r>
            <a:r>
              <a:rPr lang="en-US" b="1" dirty="0"/>
              <a:t>breathing and reviving</a:t>
            </a:r>
            <a:r>
              <a:rPr lang="en-US" dirty="0"/>
              <a:t> must always be ready nearby.</a:t>
            </a:r>
          </a:p>
          <a:p>
            <a:pPr lvl="1"/>
            <a:r>
              <a:rPr lang="en-US" dirty="0"/>
              <a:t>The space must be </a:t>
            </a:r>
            <a:r>
              <a:rPr lang="en-US" b="1" dirty="0"/>
              <a:t>cooled down</a:t>
            </a:r>
            <a:r>
              <a:rPr lang="en-US" dirty="0"/>
              <a:t> before entry.</a:t>
            </a:r>
          </a:p>
          <a:p>
            <a:pPr marL="0" indent="0">
              <a:buNone/>
            </a:pPr>
            <a:endParaRPr lang="en-US" dirty="0"/>
          </a:p>
        </p:txBody>
      </p:sp>
      <p:sp>
        <p:nvSpPr>
          <p:cNvPr id="2" name="Title 1">
            <a:extLst>
              <a:ext uri="{FF2B5EF4-FFF2-40B4-BE49-F238E27FC236}">
                <a16:creationId xmlns:a16="http://schemas.microsoft.com/office/drawing/2014/main" id="{2AB0DD5B-10D2-8028-310C-5FC6169CF069}"/>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77.</a:t>
            </a:r>
            <a:r>
              <a:rPr lang="en-US" sz="3200" b="1" dirty="0">
                <a:solidFill>
                  <a:schemeClr val="bg1"/>
                </a:solidFill>
                <a:latin typeface="Bell MT" panose="02020503060305020303" pitchFamily="18" charset="0"/>
              </a:rPr>
              <a:t> Precautionary measures against dangerous fumes</a:t>
            </a:r>
            <a:endParaRPr lang="en-GB" sz="3200" b="1" dirty="0">
              <a:solidFill>
                <a:schemeClr val="bg1"/>
              </a:solidFill>
              <a:latin typeface="Bell MT" panose="02020503060305020303" pitchFamily="18" charset="0"/>
            </a:endParaRPr>
          </a:p>
        </p:txBody>
      </p:sp>
    </p:spTree>
    <p:extLst>
      <p:ext uri="{BB962C8B-B14F-4D97-AF65-F5344CB8AC3E}">
        <p14:creationId xmlns:p14="http://schemas.microsoft.com/office/powerpoint/2010/main" val="40966755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8A6C6-B7FA-6B67-52BD-32C8F040284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C75B7-C09C-6F2D-47E6-275AC957A940}"/>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points</a:t>
            </a:r>
            <a:endParaRPr lang="en-US" dirty="0"/>
          </a:p>
          <a:p>
            <a:r>
              <a:rPr lang="en-US" dirty="0"/>
              <a:t>If your workplace deals with </a:t>
            </a:r>
            <a:r>
              <a:rPr lang="en-US" b="1" dirty="0"/>
              <a:t>explosive or flammable gases, dust, fumes, or vapors</a:t>
            </a:r>
            <a:r>
              <a:rPr lang="en-US" dirty="0"/>
              <a:t> during manufacturing, you must take </a:t>
            </a:r>
            <a:r>
              <a:rPr lang="en-US" b="1" dirty="0"/>
              <a:t>all possible safety steps</a:t>
            </a:r>
            <a:r>
              <a:rPr lang="en-US" dirty="0"/>
              <a:t> to avoid explosions or fires.</a:t>
            </a:r>
          </a:p>
          <a:p>
            <a:r>
              <a:rPr lang="en-US" dirty="0"/>
              <a:t>Some ways to do this include:</a:t>
            </a:r>
          </a:p>
          <a:p>
            <a:pPr lvl="1"/>
            <a:r>
              <a:rPr lang="en-US" b="1" dirty="0"/>
              <a:t>Enclosing machinery and plants</a:t>
            </a:r>
            <a:r>
              <a:rPr lang="en-US" dirty="0"/>
              <a:t> to keep dangerous materials contained.</a:t>
            </a:r>
          </a:p>
          <a:p>
            <a:pPr lvl="1"/>
            <a:r>
              <a:rPr lang="en-US" b="1" dirty="0"/>
              <a:t>Removing or preventing build-up</a:t>
            </a:r>
            <a:r>
              <a:rPr lang="en-US" dirty="0"/>
              <a:t> of explosive dust, gas, or fumes.</a:t>
            </a:r>
          </a:p>
          <a:p>
            <a:pPr lvl="1"/>
            <a:r>
              <a:rPr lang="en-US" b="1" dirty="0"/>
              <a:t>Enclosing any possible sources of sparks or flames</a:t>
            </a:r>
            <a:r>
              <a:rPr lang="en-US" dirty="0"/>
              <a:t> carefully.</a:t>
            </a:r>
          </a:p>
          <a:p>
            <a:r>
              <a:rPr lang="en-US" dirty="0"/>
              <a:t>If the machinery can’t handle pressure from an explosion, safety devices like </a:t>
            </a:r>
            <a:r>
              <a:rPr lang="en-US" b="1" dirty="0"/>
              <a:t>vents, baffles, or chokes</a:t>
            </a:r>
            <a:r>
              <a:rPr lang="en-US" dirty="0"/>
              <a:t> must be installed to control the blast.</a:t>
            </a:r>
          </a:p>
          <a:p>
            <a:pPr marL="0" indent="0">
              <a:buNone/>
            </a:pPr>
            <a:endParaRPr lang="en-US" dirty="0"/>
          </a:p>
        </p:txBody>
      </p:sp>
      <p:sp>
        <p:nvSpPr>
          <p:cNvPr id="2" name="Title 1">
            <a:extLst>
              <a:ext uri="{FF2B5EF4-FFF2-40B4-BE49-F238E27FC236}">
                <a16:creationId xmlns:a16="http://schemas.microsoft.com/office/drawing/2014/main" id="{8AACA0DB-4477-03E3-7F40-7F8F388C7040}"/>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78. Explosive or inflammable gas, dust, etc.</a:t>
            </a:r>
          </a:p>
        </p:txBody>
      </p:sp>
    </p:spTree>
    <p:extLst>
      <p:ext uri="{BB962C8B-B14F-4D97-AF65-F5344CB8AC3E}">
        <p14:creationId xmlns:p14="http://schemas.microsoft.com/office/powerpoint/2010/main" val="30751808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E7192-D205-34BC-E211-D7CAF7F886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E99084-67E0-4875-EB8D-754D64B9F5AB}"/>
              </a:ext>
            </a:extLst>
          </p:cNvPr>
          <p:cNvSpPr>
            <a:spLocks noGrp="1"/>
          </p:cNvSpPr>
          <p:nvPr>
            <p:ph idx="1"/>
          </p:nvPr>
        </p:nvSpPr>
        <p:spPr>
          <a:xfrm>
            <a:off x="753979" y="1351320"/>
            <a:ext cx="10515600" cy="5097605"/>
          </a:xfrm>
        </p:spPr>
        <p:txBody>
          <a:bodyPr>
            <a:normAutofit lnSpcReduction="10000"/>
          </a:bodyPr>
          <a:lstStyle/>
          <a:p>
            <a:pPr marL="0" indent="0">
              <a:buNone/>
            </a:pPr>
            <a:r>
              <a:rPr lang="en-US" dirty="0"/>
              <a:t>✅ </a:t>
            </a:r>
            <a:r>
              <a:rPr lang="en-US" b="1" dirty="0"/>
              <a:t>Key points</a:t>
            </a:r>
            <a:endParaRPr lang="en-US" dirty="0"/>
          </a:p>
          <a:p>
            <a:r>
              <a:rPr lang="en-US" dirty="0"/>
              <a:t>When opening any machinery part that holds explosive gas or vapor under pressure:</a:t>
            </a:r>
          </a:p>
          <a:p>
            <a:pPr lvl="1"/>
            <a:r>
              <a:rPr lang="en-US" dirty="0"/>
              <a:t>You must </a:t>
            </a:r>
            <a:r>
              <a:rPr lang="en-US" b="1" dirty="0"/>
              <a:t>stop the gas flow first</a:t>
            </a:r>
            <a:r>
              <a:rPr lang="en-US" dirty="0"/>
              <a:t> before loosening joints or covers.</a:t>
            </a:r>
          </a:p>
          <a:p>
            <a:pPr lvl="1"/>
            <a:r>
              <a:rPr lang="en-US" dirty="0"/>
              <a:t>You need to </a:t>
            </a:r>
            <a:r>
              <a:rPr lang="en-US" b="1" dirty="0"/>
              <a:t>reduce pressure to safe levels</a:t>
            </a:r>
            <a:r>
              <a:rPr lang="en-US" dirty="0"/>
              <a:t> before fully opening.</a:t>
            </a:r>
          </a:p>
          <a:p>
            <a:pPr lvl="1"/>
            <a:r>
              <a:rPr lang="en-US" dirty="0"/>
              <a:t>You must </a:t>
            </a:r>
            <a:r>
              <a:rPr lang="en-US" b="1" dirty="0"/>
              <a:t>prevent any explosive gas from entering</a:t>
            </a:r>
            <a:r>
              <a:rPr lang="en-US" dirty="0"/>
              <a:t> during this process until everything is safely closed again.</a:t>
            </a:r>
          </a:p>
          <a:p>
            <a:r>
              <a:rPr lang="en-US" b="1" dirty="0"/>
              <a:t>Welding or cutting with heat near tanks or machinery containing explosive substances</a:t>
            </a:r>
            <a:r>
              <a:rPr lang="en-US" dirty="0"/>
              <a:t> is only allowed if:</a:t>
            </a:r>
          </a:p>
          <a:p>
            <a:pPr lvl="1"/>
            <a:r>
              <a:rPr lang="en-US" dirty="0"/>
              <a:t>All dangerous gases/fumes have been safely removed or made harmless.</a:t>
            </a:r>
          </a:p>
          <a:p>
            <a:pPr lvl="1"/>
            <a:r>
              <a:rPr lang="en-US" dirty="0"/>
              <a:t>The metal has cooled down enough to avoid ignition afterward.</a:t>
            </a:r>
          </a:p>
          <a:p>
            <a:r>
              <a:rPr lang="en-US" dirty="0"/>
              <a:t>Note: If machinery is installed </a:t>
            </a:r>
            <a:r>
              <a:rPr lang="en-US" b="1" dirty="0"/>
              <a:t>outdoors in open space</a:t>
            </a:r>
            <a:r>
              <a:rPr lang="en-US" dirty="0"/>
              <a:t>, some of these rules might not apply.</a:t>
            </a:r>
          </a:p>
          <a:p>
            <a:pPr marL="0" indent="0">
              <a:buNone/>
            </a:pPr>
            <a:endParaRPr lang="en-US" dirty="0"/>
          </a:p>
        </p:txBody>
      </p:sp>
      <p:sp>
        <p:nvSpPr>
          <p:cNvPr id="2" name="Title 1">
            <a:extLst>
              <a:ext uri="{FF2B5EF4-FFF2-40B4-BE49-F238E27FC236}">
                <a16:creationId xmlns:a16="http://schemas.microsoft.com/office/drawing/2014/main" id="{3BEC7EFF-9371-6132-9035-E10F114C8E97}"/>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78. Explosive or inflammable gas, dust, etc…</a:t>
            </a:r>
          </a:p>
        </p:txBody>
      </p:sp>
    </p:spTree>
    <p:extLst>
      <p:ext uri="{BB962C8B-B14F-4D97-AF65-F5344CB8AC3E}">
        <p14:creationId xmlns:p14="http://schemas.microsoft.com/office/powerpoint/2010/main" val="16468730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192B2-6223-0310-D1CE-B08F346CC8A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DE29DC-CF32-8D5A-DC4A-A948CCF88FE0}"/>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points</a:t>
            </a:r>
            <a:endParaRPr lang="en-US" dirty="0"/>
          </a:p>
          <a:p>
            <a:r>
              <a:rPr lang="en-US" dirty="0"/>
              <a:t>Every workplace must have </a:t>
            </a:r>
            <a:r>
              <a:rPr lang="en-US" b="1" dirty="0"/>
              <a:t>first-aid boxes or cupboards</a:t>
            </a:r>
            <a:r>
              <a:rPr lang="en-US" dirty="0"/>
              <a:t> stocked with prescribed medical supplies, easily accessible during work hours.</a:t>
            </a:r>
          </a:p>
          <a:p>
            <a:r>
              <a:rPr lang="en-US" dirty="0"/>
              <a:t>There should be </a:t>
            </a:r>
            <a:r>
              <a:rPr lang="en-US" b="1" dirty="0"/>
              <a:t>at least one first-aid box for every 150 workers</a:t>
            </a:r>
            <a:r>
              <a:rPr lang="en-US" dirty="0"/>
              <a:t>.</a:t>
            </a:r>
          </a:p>
          <a:p>
            <a:r>
              <a:rPr lang="en-US" dirty="0"/>
              <a:t>A </a:t>
            </a:r>
            <a:r>
              <a:rPr lang="en-US" b="1" dirty="0"/>
              <a:t>trained first-aid person</a:t>
            </a:r>
            <a:r>
              <a:rPr lang="en-US" dirty="0"/>
              <a:t> must be in charge of the box and present during working hours, wearing a badge and named on a notice in every workroom.</a:t>
            </a:r>
          </a:p>
          <a:p>
            <a:pPr marL="0" indent="0">
              <a:buNone/>
            </a:pPr>
            <a:endParaRPr lang="en-US" dirty="0"/>
          </a:p>
        </p:txBody>
      </p:sp>
      <p:sp>
        <p:nvSpPr>
          <p:cNvPr id="2" name="Title 1">
            <a:extLst>
              <a:ext uri="{FF2B5EF4-FFF2-40B4-BE49-F238E27FC236}">
                <a16:creationId xmlns:a16="http://schemas.microsoft.com/office/drawing/2014/main" id="{60AF0E29-F97D-54AC-27BB-5DD089A21644}"/>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89. First-aid appliances</a:t>
            </a:r>
          </a:p>
        </p:txBody>
      </p:sp>
    </p:spTree>
    <p:extLst>
      <p:ext uri="{BB962C8B-B14F-4D97-AF65-F5344CB8AC3E}">
        <p14:creationId xmlns:p14="http://schemas.microsoft.com/office/powerpoint/2010/main" val="35773971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1A155-0D78-1C79-96BA-A3BE4D81E61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63BEBF-13B4-B3A6-8F89-13450BD84F44}"/>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points</a:t>
            </a:r>
            <a:endParaRPr lang="en-US" dirty="0"/>
          </a:p>
          <a:p>
            <a:r>
              <a:rPr lang="en-US" dirty="0"/>
              <a:t>For workplaces with </a:t>
            </a:r>
            <a:r>
              <a:rPr lang="en-US" b="1" dirty="0"/>
              <a:t>300 or more workers</a:t>
            </a:r>
            <a:r>
              <a:rPr lang="en-US" dirty="0"/>
              <a:t>, there must be a </a:t>
            </a:r>
            <a:r>
              <a:rPr lang="en-US" b="1" dirty="0"/>
              <a:t>sick room with dispensary</a:t>
            </a:r>
            <a:r>
              <a:rPr lang="en-US" dirty="0"/>
              <a:t> staffed by medical and nursing professionals.</a:t>
            </a:r>
          </a:p>
          <a:p>
            <a:r>
              <a:rPr lang="en-US" dirty="0"/>
              <a:t>Workplaces with </a:t>
            </a:r>
            <a:r>
              <a:rPr lang="en-US" b="1" dirty="0"/>
              <a:t>5,000 or more workers</a:t>
            </a:r>
            <a:r>
              <a:rPr lang="en-US" dirty="0"/>
              <a:t> must provide a </a:t>
            </a:r>
            <a:r>
              <a:rPr lang="en-US" b="1" dirty="0"/>
              <a:t>permanent medical center</a:t>
            </a:r>
            <a:r>
              <a:rPr lang="en-US" dirty="0"/>
              <a:t>.</a:t>
            </a:r>
          </a:p>
          <a:p>
            <a:r>
              <a:rPr lang="en-US" dirty="0"/>
              <a:t>Employers must cover medical treatment costs for any worker who suffers </a:t>
            </a:r>
            <a:r>
              <a:rPr lang="en-US" b="1" dirty="0"/>
              <a:t>work-related injury or disease</a:t>
            </a:r>
            <a:r>
              <a:rPr lang="en-US" dirty="0"/>
              <a:t> until fully recovered.</a:t>
            </a:r>
          </a:p>
          <a:p>
            <a:r>
              <a:rPr lang="en-US" dirty="0"/>
              <a:t>In establishments with </a:t>
            </a:r>
            <a:r>
              <a:rPr lang="en-US" b="1" dirty="0"/>
              <a:t>500 or more workers</a:t>
            </a:r>
            <a:r>
              <a:rPr lang="en-US" dirty="0"/>
              <a:t>, a </a:t>
            </a:r>
            <a:r>
              <a:rPr lang="en-US" b="1" dirty="0"/>
              <a:t>welfare officer</a:t>
            </a:r>
            <a:r>
              <a:rPr lang="en-US" dirty="0"/>
              <a:t> must be appointed to oversee worker wellbeing.</a:t>
            </a:r>
          </a:p>
          <a:p>
            <a:pPr marL="0" indent="0">
              <a:buNone/>
            </a:pPr>
            <a:endParaRPr lang="en-US" dirty="0"/>
          </a:p>
        </p:txBody>
      </p:sp>
      <p:sp>
        <p:nvSpPr>
          <p:cNvPr id="2" name="Title 1">
            <a:extLst>
              <a:ext uri="{FF2B5EF4-FFF2-40B4-BE49-F238E27FC236}">
                <a16:creationId xmlns:a16="http://schemas.microsoft.com/office/drawing/2014/main" id="{B3EDC849-8312-0307-FA67-5485993A9C58}"/>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89. First-aid appliances…</a:t>
            </a:r>
          </a:p>
        </p:txBody>
      </p:sp>
    </p:spTree>
    <p:extLst>
      <p:ext uri="{BB962C8B-B14F-4D97-AF65-F5344CB8AC3E}">
        <p14:creationId xmlns:p14="http://schemas.microsoft.com/office/powerpoint/2010/main" val="14526303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C846F-C685-CAA4-990B-B699B85EED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E64991-6E1C-D1CF-8960-C3AA6149A45A}"/>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points</a:t>
            </a:r>
            <a:endParaRPr lang="en-US" dirty="0"/>
          </a:p>
          <a:p>
            <a:r>
              <a:rPr lang="en-US" dirty="0"/>
              <a:t>Every workplace must provide enough </a:t>
            </a:r>
            <a:r>
              <a:rPr lang="en-US" b="1" dirty="0"/>
              <a:t>clean and well-maintained bathrooms and washing facilities</a:t>
            </a:r>
            <a:r>
              <a:rPr lang="en-US" dirty="0"/>
              <a:t> for all workers.</a:t>
            </a:r>
          </a:p>
          <a:p>
            <a:r>
              <a:rPr lang="en-US" dirty="0"/>
              <a:t>These facilities must be </a:t>
            </a:r>
            <a:r>
              <a:rPr lang="en-US" b="1" dirty="0"/>
              <a:t>separate and properly screened</a:t>
            </a:r>
            <a:r>
              <a:rPr lang="en-US" dirty="0"/>
              <a:t> for male and female workers to ensure privacy.</a:t>
            </a:r>
          </a:p>
          <a:p>
            <a:r>
              <a:rPr lang="en-US" dirty="0"/>
              <a:t>They should always be </a:t>
            </a:r>
            <a:r>
              <a:rPr lang="en-US" b="1" dirty="0"/>
              <a:t>kept clean and easy to access</a:t>
            </a:r>
            <a:r>
              <a:rPr lang="en-US" dirty="0"/>
              <a:t>.</a:t>
            </a:r>
          </a:p>
          <a:p>
            <a:r>
              <a:rPr lang="en-US" dirty="0"/>
              <a:t>The government can set </a:t>
            </a:r>
            <a:r>
              <a:rPr lang="en-US" b="1" dirty="0"/>
              <a:t>standards for these facilities</a:t>
            </a:r>
            <a:r>
              <a:rPr lang="en-US" dirty="0"/>
              <a:t> depending on the type of workplace.</a:t>
            </a:r>
          </a:p>
          <a:p>
            <a:pPr marL="0" indent="0">
              <a:buNone/>
            </a:pPr>
            <a:endParaRPr lang="en-US" dirty="0"/>
          </a:p>
        </p:txBody>
      </p:sp>
      <p:sp>
        <p:nvSpPr>
          <p:cNvPr id="2" name="Title 1">
            <a:extLst>
              <a:ext uri="{FF2B5EF4-FFF2-40B4-BE49-F238E27FC236}">
                <a16:creationId xmlns:a16="http://schemas.microsoft.com/office/drawing/2014/main" id="{93987633-C918-6C91-970E-35540B352837}"/>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91. Washing facilities</a:t>
            </a:r>
          </a:p>
        </p:txBody>
      </p:sp>
    </p:spTree>
    <p:extLst>
      <p:ext uri="{BB962C8B-B14F-4D97-AF65-F5344CB8AC3E}">
        <p14:creationId xmlns:p14="http://schemas.microsoft.com/office/powerpoint/2010/main" val="16118223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4682B-3006-BA4E-B471-3E8CD83538E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96E381-6BDB-5CFB-FE10-6C2EECFDEBAC}"/>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points</a:t>
            </a:r>
            <a:endParaRPr lang="en-US" dirty="0"/>
          </a:p>
          <a:p>
            <a:r>
              <a:rPr lang="en-US" dirty="0"/>
              <a:t>If a workplace has </a:t>
            </a:r>
            <a:r>
              <a:rPr lang="en-US" b="1" dirty="0"/>
              <a:t>more than 100 workers</a:t>
            </a:r>
            <a:r>
              <a:rPr lang="en-US" dirty="0"/>
              <a:t>, it must provide a </a:t>
            </a:r>
            <a:r>
              <a:rPr lang="en-US" b="1" dirty="0"/>
              <a:t>canteen</a:t>
            </a:r>
            <a:r>
              <a:rPr lang="en-US" dirty="0"/>
              <a:t> for them to eat and relax.</a:t>
            </a:r>
          </a:p>
          <a:p>
            <a:r>
              <a:rPr lang="en-US" dirty="0"/>
              <a:t>The government sets </a:t>
            </a:r>
            <a:r>
              <a:rPr lang="en-US" b="1" dirty="0"/>
              <a:t>rules about how the canteen should be built</a:t>
            </a:r>
            <a:r>
              <a:rPr lang="en-US" dirty="0"/>
              <a:t>, what furniture and equipment it needs.</a:t>
            </a:r>
          </a:p>
          <a:p>
            <a:r>
              <a:rPr lang="en-US" dirty="0"/>
              <a:t>A </a:t>
            </a:r>
            <a:r>
              <a:rPr lang="en-US" b="1" dirty="0"/>
              <a:t>managing committee</a:t>
            </a:r>
            <a:r>
              <a:rPr lang="en-US" dirty="0"/>
              <a:t> will be formed to run the canteen, including </a:t>
            </a:r>
            <a:r>
              <a:rPr lang="en-US" b="1" dirty="0"/>
              <a:t>worker representatives</a:t>
            </a:r>
            <a:r>
              <a:rPr lang="en-US" dirty="0"/>
              <a:t>.</a:t>
            </a:r>
          </a:p>
          <a:p>
            <a:r>
              <a:rPr lang="en-US" dirty="0"/>
              <a:t>This committee decides </a:t>
            </a:r>
            <a:r>
              <a:rPr lang="en-US" b="1" dirty="0"/>
              <a:t>what food will be served</a:t>
            </a:r>
            <a:r>
              <a:rPr lang="en-US" dirty="0"/>
              <a:t> and how much it will cost.</a:t>
            </a:r>
          </a:p>
          <a:p>
            <a:pPr marL="0" indent="0">
              <a:buNone/>
            </a:pPr>
            <a:endParaRPr lang="en-US" dirty="0"/>
          </a:p>
        </p:txBody>
      </p:sp>
      <p:sp>
        <p:nvSpPr>
          <p:cNvPr id="2" name="Title 1">
            <a:extLst>
              <a:ext uri="{FF2B5EF4-FFF2-40B4-BE49-F238E27FC236}">
                <a16:creationId xmlns:a16="http://schemas.microsoft.com/office/drawing/2014/main" id="{C3187EED-DDC6-A73F-8821-D705EDA4A9CF}"/>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92. Canteen</a:t>
            </a:r>
          </a:p>
        </p:txBody>
      </p:sp>
    </p:spTree>
    <p:extLst>
      <p:ext uri="{BB962C8B-B14F-4D97-AF65-F5344CB8AC3E}">
        <p14:creationId xmlns:p14="http://schemas.microsoft.com/office/powerpoint/2010/main" val="13440103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87E58-C855-0DB7-C638-10B025C3D5D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E486A5-5081-5C11-FCA5-D9072A4CC5B4}"/>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points</a:t>
            </a:r>
            <a:endParaRPr lang="en-US" dirty="0"/>
          </a:p>
          <a:p>
            <a:r>
              <a:rPr lang="en-US" dirty="0"/>
              <a:t>If a workplace has </a:t>
            </a:r>
            <a:r>
              <a:rPr lang="en-US" b="1" dirty="0"/>
              <a:t>more than 25 workers</a:t>
            </a:r>
            <a:r>
              <a:rPr lang="en-US" dirty="0"/>
              <a:t>, it must provide enough </a:t>
            </a:r>
            <a:r>
              <a:rPr lang="en-US" b="1" dirty="0"/>
              <a:t>dining rooms</a:t>
            </a:r>
            <a:r>
              <a:rPr lang="en-US" dirty="0"/>
              <a:t> where workers can </a:t>
            </a:r>
            <a:r>
              <a:rPr lang="en-US" b="1" dirty="0"/>
              <a:t>eat their own food</a:t>
            </a:r>
            <a:r>
              <a:rPr lang="en-US" dirty="0"/>
              <a:t> and </a:t>
            </a:r>
            <a:r>
              <a:rPr lang="en-US" b="1" dirty="0"/>
              <a:t>rest</a:t>
            </a:r>
            <a:r>
              <a:rPr lang="en-US" dirty="0"/>
              <a:t>.</a:t>
            </a:r>
          </a:p>
          <a:p>
            <a:r>
              <a:rPr lang="en-US" dirty="0"/>
              <a:t>If there is already a </a:t>
            </a:r>
            <a:r>
              <a:rPr lang="en-US" b="1" dirty="0"/>
              <a:t>canteen</a:t>
            </a:r>
            <a:r>
              <a:rPr lang="en-US" dirty="0"/>
              <a:t> (from the previous rule for 100+ workers), it counts as part of this dining room requirement.</a:t>
            </a:r>
          </a:p>
          <a:p>
            <a:r>
              <a:rPr lang="en-US" dirty="0"/>
              <a:t>Workers </a:t>
            </a:r>
            <a:r>
              <a:rPr lang="en-US" b="1" dirty="0"/>
              <a:t>cannot eat food in the work areas</a:t>
            </a:r>
            <a:r>
              <a:rPr lang="en-US" dirty="0"/>
              <a:t> if there is a dining room available.</a:t>
            </a:r>
          </a:p>
          <a:p>
            <a:r>
              <a:rPr lang="en-US" dirty="0"/>
              <a:t>The dining rooms should be </a:t>
            </a:r>
            <a:r>
              <a:rPr lang="en-US" b="1" dirty="0"/>
              <a:t>well-lit, ventilated, comfortable</a:t>
            </a:r>
            <a:r>
              <a:rPr lang="en-US" dirty="0"/>
              <a:t>, and </a:t>
            </a:r>
            <a:r>
              <a:rPr lang="en-US" b="1" dirty="0"/>
              <a:t>clean</a:t>
            </a:r>
            <a:r>
              <a:rPr lang="en-US" dirty="0"/>
              <a:t>.</a:t>
            </a:r>
          </a:p>
          <a:p>
            <a:pPr marL="0" indent="0">
              <a:buNone/>
            </a:pPr>
            <a:endParaRPr lang="en-US" dirty="0"/>
          </a:p>
        </p:txBody>
      </p:sp>
      <p:sp>
        <p:nvSpPr>
          <p:cNvPr id="2" name="Title 1">
            <a:extLst>
              <a:ext uri="{FF2B5EF4-FFF2-40B4-BE49-F238E27FC236}">
                <a16:creationId xmlns:a16="http://schemas.microsoft.com/office/drawing/2014/main" id="{279D8216-796D-6B34-C896-6B7D68C9D7C2}"/>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93. Dining room</a:t>
            </a:r>
          </a:p>
        </p:txBody>
      </p:sp>
    </p:spTree>
    <p:extLst>
      <p:ext uri="{BB962C8B-B14F-4D97-AF65-F5344CB8AC3E}">
        <p14:creationId xmlns:p14="http://schemas.microsoft.com/office/powerpoint/2010/main" val="8930887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6FB67-ED1D-1DE5-A062-6ABC646A70A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0D5842-2AF2-8875-B5AE-E41D7C9C530F}"/>
              </a:ext>
            </a:extLst>
          </p:cNvPr>
          <p:cNvSpPr>
            <a:spLocks noGrp="1"/>
          </p:cNvSpPr>
          <p:nvPr>
            <p:ph idx="1"/>
          </p:nvPr>
        </p:nvSpPr>
        <p:spPr>
          <a:xfrm>
            <a:off x="753979" y="1351320"/>
            <a:ext cx="10515600" cy="5097605"/>
          </a:xfrm>
        </p:spPr>
        <p:txBody>
          <a:bodyPr>
            <a:normAutofit/>
          </a:bodyPr>
          <a:lstStyle/>
          <a:p>
            <a:pPr marL="0" indent="0">
              <a:buNone/>
            </a:pPr>
            <a:r>
              <a:rPr lang="en-US" dirty="0"/>
              <a:t>If a workplace has </a:t>
            </a:r>
            <a:r>
              <a:rPr lang="en-US" b="1" dirty="0"/>
              <a:t>40 or more female workers</a:t>
            </a:r>
            <a:r>
              <a:rPr lang="en-US" dirty="0"/>
              <a:t>, it must provide a </a:t>
            </a:r>
            <a:r>
              <a:rPr lang="en-US" b="1" dirty="0"/>
              <a:t>safe and comfortable room</a:t>
            </a:r>
            <a:r>
              <a:rPr lang="en-US" dirty="0"/>
              <a:t> for their children under </a:t>
            </a:r>
            <a:r>
              <a:rPr lang="en-US" b="1" dirty="0"/>
              <a:t>6 years old</a:t>
            </a:r>
            <a:r>
              <a:rPr lang="en-US" dirty="0"/>
              <a:t>.</a:t>
            </a:r>
          </a:p>
          <a:p>
            <a:pPr marL="0" indent="0">
              <a:buNone/>
            </a:pPr>
            <a:r>
              <a:rPr lang="en-US" b="1" dirty="0"/>
              <a:t>Key features of this room:</a:t>
            </a:r>
            <a:endParaRPr lang="en-US" dirty="0"/>
          </a:p>
          <a:p>
            <a:r>
              <a:rPr lang="en-US" dirty="0"/>
              <a:t>It should have enough </a:t>
            </a:r>
            <a:r>
              <a:rPr lang="en-US" b="1" dirty="0"/>
              <a:t>space, light, and fresh air</a:t>
            </a:r>
            <a:r>
              <a:rPr lang="en-US" dirty="0"/>
              <a:t> and be kept </a:t>
            </a:r>
            <a:r>
              <a:rPr lang="en-US" b="1" dirty="0"/>
              <a:t>clean and sanitary</a:t>
            </a:r>
            <a:r>
              <a:rPr lang="en-US" dirty="0"/>
              <a:t>.</a:t>
            </a:r>
          </a:p>
          <a:p>
            <a:r>
              <a:rPr lang="en-US" dirty="0"/>
              <a:t>An </a:t>
            </a:r>
            <a:r>
              <a:rPr lang="en-US" b="1" dirty="0"/>
              <a:t>experienced or trained woman</a:t>
            </a:r>
            <a:r>
              <a:rPr lang="en-US" dirty="0"/>
              <a:t> must be in charge to care for the children.</a:t>
            </a:r>
          </a:p>
          <a:p>
            <a:r>
              <a:rPr lang="en-US" dirty="0"/>
              <a:t>The room should be </a:t>
            </a:r>
            <a:r>
              <a:rPr lang="en-US" b="1" dirty="0"/>
              <a:t>easy for mothers to access</a:t>
            </a:r>
            <a:r>
              <a:rPr lang="en-US" dirty="0"/>
              <a:t> but not near any </a:t>
            </a:r>
            <a:r>
              <a:rPr lang="en-US" b="1" dirty="0"/>
              <a:t>bad smells, dust, or noisy work areas</a:t>
            </a:r>
            <a:r>
              <a:rPr lang="en-US" dirty="0"/>
              <a:t>.</a:t>
            </a:r>
          </a:p>
          <a:p>
            <a:r>
              <a:rPr lang="en-US" dirty="0"/>
              <a:t>Built strong and safe, with </a:t>
            </a:r>
            <a:r>
              <a:rPr lang="en-US" b="1" dirty="0"/>
              <a:t>heat-resistant, waterproof walls and roof</a:t>
            </a:r>
            <a:r>
              <a:rPr lang="en-US" dirty="0"/>
              <a:t>.</a:t>
            </a:r>
          </a:p>
          <a:p>
            <a:pPr marL="0" indent="0">
              <a:buNone/>
            </a:pPr>
            <a:endParaRPr lang="en-US" dirty="0"/>
          </a:p>
        </p:txBody>
      </p:sp>
      <p:sp>
        <p:nvSpPr>
          <p:cNvPr id="2" name="Title 1">
            <a:extLst>
              <a:ext uri="{FF2B5EF4-FFF2-40B4-BE49-F238E27FC236}">
                <a16:creationId xmlns:a16="http://schemas.microsoft.com/office/drawing/2014/main" id="{42626F18-29D0-5104-A776-8BD0355757F5}"/>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94. Rooms for children</a:t>
            </a:r>
          </a:p>
        </p:txBody>
      </p:sp>
    </p:spTree>
    <p:extLst>
      <p:ext uri="{BB962C8B-B14F-4D97-AF65-F5344CB8AC3E}">
        <p14:creationId xmlns:p14="http://schemas.microsoft.com/office/powerpoint/2010/main" val="25421409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FD0FC-5D13-8458-503D-BCF09F706F6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0A94B-476A-FFA0-CB8A-9B6F7ECF4A0C}"/>
              </a:ext>
            </a:extLst>
          </p:cNvPr>
          <p:cNvSpPr>
            <a:spLocks noGrp="1"/>
          </p:cNvSpPr>
          <p:nvPr>
            <p:ph idx="1"/>
          </p:nvPr>
        </p:nvSpPr>
        <p:spPr>
          <a:xfrm>
            <a:off x="753979" y="1351320"/>
            <a:ext cx="10515600" cy="5097605"/>
          </a:xfrm>
        </p:spPr>
        <p:txBody>
          <a:bodyPr>
            <a:normAutofit/>
          </a:bodyPr>
          <a:lstStyle/>
          <a:p>
            <a:pPr marL="0" indent="0">
              <a:buNone/>
            </a:pPr>
            <a:r>
              <a:rPr lang="en-US" b="1" dirty="0"/>
              <a:t>Key features of this room:</a:t>
            </a:r>
            <a:endParaRPr lang="en-US" dirty="0"/>
          </a:p>
          <a:p>
            <a:r>
              <a:rPr lang="en-US" dirty="0"/>
              <a:t>Room height must be at least </a:t>
            </a:r>
            <a:r>
              <a:rPr lang="en-US" b="1" dirty="0"/>
              <a:t>360 cm</a:t>
            </a:r>
            <a:r>
              <a:rPr lang="en-US" dirty="0"/>
              <a:t> and have enough floor space for each child (at least </a:t>
            </a:r>
            <a:r>
              <a:rPr lang="en-US" b="1" dirty="0"/>
              <a:t>600 sq cm per child</a:t>
            </a:r>
            <a:r>
              <a:rPr lang="en-US" dirty="0"/>
              <a:t>).</a:t>
            </a:r>
          </a:p>
          <a:p>
            <a:r>
              <a:rPr lang="en-US" dirty="0"/>
              <a:t>Must have </a:t>
            </a:r>
            <a:r>
              <a:rPr lang="en-US" b="1" dirty="0"/>
              <a:t>good ventilation</a:t>
            </a:r>
            <a:r>
              <a:rPr lang="en-US" dirty="0"/>
              <a:t> to keep the air fresh.</a:t>
            </a:r>
          </a:p>
          <a:p>
            <a:r>
              <a:rPr lang="en-US" dirty="0"/>
              <a:t>Equipped with a </a:t>
            </a:r>
            <a:r>
              <a:rPr lang="en-US" b="1" dirty="0"/>
              <a:t>cot or cradle for every child</a:t>
            </a:r>
            <a:r>
              <a:rPr lang="en-US" dirty="0"/>
              <a:t>, a </a:t>
            </a:r>
            <a:r>
              <a:rPr lang="en-US" b="1" dirty="0"/>
              <a:t>chair for each mother</a:t>
            </a:r>
            <a:r>
              <a:rPr lang="en-US" dirty="0"/>
              <a:t>, and </a:t>
            </a:r>
            <a:r>
              <a:rPr lang="en-US" b="1" dirty="0"/>
              <a:t>toys for older children</a:t>
            </a:r>
            <a:r>
              <a:rPr lang="en-US" dirty="0"/>
              <a:t>.</a:t>
            </a:r>
          </a:p>
          <a:p>
            <a:r>
              <a:rPr lang="en-US" dirty="0"/>
              <a:t>A </a:t>
            </a:r>
            <a:r>
              <a:rPr lang="en-US" b="1" dirty="0"/>
              <a:t>fenced, shady outdoor playground</a:t>
            </a:r>
            <a:r>
              <a:rPr lang="en-US" dirty="0"/>
              <a:t> should be available for older children, unless there is no space (in which case, the Inspector General may exempt the workplace).</a:t>
            </a:r>
          </a:p>
          <a:p>
            <a:pPr marL="0" indent="0">
              <a:buNone/>
            </a:pPr>
            <a:endParaRPr lang="en-US" dirty="0"/>
          </a:p>
        </p:txBody>
      </p:sp>
      <p:sp>
        <p:nvSpPr>
          <p:cNvPr id="2" name="Title 1">
            <a:extLst>
              <a:ext uri="{FF2B5EF4-FFF2-40B4-BE49-F238E27FC236}">
                <a16:creationId xmlns:a16="http://schemas.microsoft.com/office/drawing/2014/main" id="{6C9C2848-E460-8AE3-2D5D-AD0CB2FFD757}"/>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94. Rooms for children…</a:t>
            </a:r>
          </a:p>
        </p:txBody>
      </p:sp>
    </p:spTree>
    <p:extLst>
      <p:ext uri="{BB962C8B-B14F-4D97-AF65-F5344CB8AC3E}">
        <p14:creationId xmlns:p14="http://schemas.microsoft.com/office/powerpoint/2010/main" val="5107388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89981-B116-FCDD-0367-1D7EB26A488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C6A425-1F01-443D-1F19-E74411FCD2CB}"/>
              </a:ext>
            </a:extLst>
          </p:cNvPr>
          <p:cNvSpPr>
            <a:spLocks noGrp="1"/>
          </p:cNvSpPr>
          <p:nvPr>
            <p:ph idx="1"/>
          </p:nvPr>
        </p:nvSpPr>
        <p:spPr>
          <a:xfrm>
            <a:off x="753979" y="1351320"/>
            <a:ext cx="10515600" cy="5097605"/>
          </a:xfrm>
        </p:spPr>
        <p:txBody>
          <a:bodyPr>
            <a:normAutofit/>
          </a:bodyPr>
          <a:lstStyle/>
          <a:p>
            <a:pPr marL="0" indent="0">
              <a:buNone/>
            </a:pPr>
            <a:r>
              <a:rPr lang="en-US" dirty="0"/>
              <a:t>When a company in Bangladesh employs 100 or more permanent workers, the employer is required to establish a group insurance plan for those workers, following existing insurance laws.</a:t>
            </a:r>
          </a:p>
          <a:p>
            <a:pPr marL="0" indent="0">
              <a:buNone/>
            </a:pPr>
            <a:endParaRPr lang="en-US" dirty="0"/>
          </a:p>
          <a:p>
            <a:pPr marL="0" indent="0">
              <a:buNone/>
            </a:pPr>
            <a:r>
              <a:rPr lang="en-US" dirty="0"/>
              <a:t>✅ Key points:</a:t>
            </a:r>
            <a:br>
              <a:rPr lang="en-US" dirty="0"/>
            </a:br>
            <a:r>
              <a:rPr lang="en-US" dirty="0"/>
              <a:t>1️⃣ The insurance payout is extra — it doesn’t replace any other money the worker is owed under the law.</a:t>
            </a:r>
            <a:br>
              <a:rPr lang="en-US" dirty="0"/>
            </a:br>
            <a:r>
              <a:rPr lang="en-US" dirty="0"/>
              <a:t>2️⃣ If a worker dies, the employer must make sure the insurance money gets paid directly to the worker’s family (dependents).</a:t>
            </a:r>
            <a:br>
              <a:rPr lang="en-US" dirty="0"/>
            </a:br>
            <a:r>
              <a:rPr lang="en-US" dirty="0"/>
              <a:t>3️⃣ Any insurance claim must be settled quickly — within 120 days — through cooperation between the insurance company and the employer.</a:t>
            </a:r>
          </a:p>
        </p:txBody>
      </p:sp>
      <p:sp>
        <p:nvSpPr>
          <p:cNvPr id="2" name="Title 1">
            <a:extLst>
              <a:ext uri="{FF2B5EF4-FFF2-40B4-BE49-F238E27FC236}">
                <a16:creationId xmlns:a16="http://schemas.microsoft.com/office/drawing/2014/main" id="{C3A5DC68-502E-0338-52FE-94830E1DDD9D}"/>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99. Introduction of group insurance</a:t>
            </a:r>
          </a:p>
        </p:txBody>
      </p:sp>
    </p:spTree>
    <p:extLst>
      <p:ext uri="{BB962C8B-B14F-4D97-AF65-F5344CB8AC3E}">
        <p14:creationId xmlns:p14="http://schemas.microsoft.com/office/powerpoint/2010/main" val="22005178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B6B8B-2837-69A7-38BB-28739245ECF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709975-1F84-40A4-2804-51DCB121D18F}"/>
              </a:ext>
            </a:extLst>
          </p:cNvPr>
          <p:cNvSpPr>
            <a:spLocks noGrp="1"/>
          </p:cNvSpPr>
          <p:nvPr>
            <p:ph idx="1"/>
          </p:nvPr>
        </p:nvSpPr>
        <p:spPr>
          <a:xfrm>
            <a:off x="753979" y="1351320"/>
            <a:ext cx="10515600" cy="5097605"/>
          </a:xfrm>
        </p:spPr>
        <p:txBody>
          <a:bodyPr>
            <a:normAutofit/>
          </a:bodyPr>
          <a:lstStyle/>
          <a:p>
            <a:pPr marL="0" indent="0">
              <a:buNone/>
            </a:pPr>
            <a:r>
              <a:rPr lang="en-US" dirty="0"/>
              <a:t>✅ Key points:</a:t>
            </a:r>
          </a:p>
          <a:p>
            <a:pPr marL="0" indent="0">
              <a:buNone/>
            </a:pPr>
            <a:r>
              <a:rPr lang="en-US" dirty="0"/>
              <a:t>4️⃣ However, if the company belongs to a 100% export-oriented sector with a government-established central fund, group insurance is not required. Instead, workers get payments from that central fund equal to group insurance money.</a:t>
            </a:r>
            <a:br>
              <a:rPr lang="en-US" dirty="0"/>
            </a:br>
            <a:r>
              <a:rPr lang="en-US" dirty="0"/>
              <a:t>5️⃣ Half of that central fund money goes as compensation to workers, and the other half is used for worker welfare programs.</a:t>
            </a:r>
          </a:p>
        </p:txBody>
      </p:sp>
      <p:sp>
        <p:nvSpPr>
          <p:cNvPr id="2" name="Title 1">
            <a:extLst>
              <a:ext uri="{FF2B5EF4-FFF2-40B4-BE49-F238E27FC236}">
                <a16:creationId xmlns:a16="http://schemas.microsoft.com/office/drawing/2014/main" id="{760DBA47-DFA0-6463-7F21-89D1A02135D9}"/>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99. Introduction of group insurance…</a:t>
            </a:r>
          </a:p>
        </p:txBody>
      </p:sp>
    </p:spTree>
    <p:extLst>
      <p:ext uri="{BB962C8B-B14F-4D97-AF65-F5344CB8AC3E}">
        <p14:creationId xmlns:p14="http://schemas.microsoft.com/office/powerpoint/2010/main" val="26630521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F339E-9CC0-7A70-B8F9-733A4C46F50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5FB2AF-98BC-6D10-ABD9-6FAEB7AE5534}"/>
              </a:ext>
            </a:extLst>
          </p:cNvPr>
          <p:cNvSpPr>
            <a:spLocks noGrp="1"/>
          </p:cNvSpPr>
          <p:nvPr>
            <p:ph idx="1"/>
          </p:nvPr>
        </p:nvSpPr>
        <p:spPr>
          <a:xfrm>
            <a:off x="753979" y="1351320"/>
            <a:ext cx="10515600" cy="5097605"/>
          </a:xfrm>
        </p:spPr>
        <p:txBody>
          <a:bodyPr>
            <a:normAutofit/>
          </a:bodyPr>
          <a:lstStyle/>
          <a:p>
            <a:pPr marL="0" indent="0">
              <a:buNone/>
            </a:pPr>
            <a:r>
              <a:rPr lang="en-US" dirty="0"/>
              <a:t>✅ What you must know</a:t>
            </a:r>
            <a:br>
              <a:rPr lang="en-US" dirty="0"/>
            </a:br>
            <a:r>
              <a:rPr lang="en-US" dirty="0"/>
              <a:t>1️⃣ The standard working day for an adult worker is 8 hours.</a:t>
            </a:r>
            <a:br>
              <a:rPr lang="en-US" dirty="0"/>
            </a:br>
            <a:r>
              <a:rPr lang="en-US" dirty="0"/>
              <a:t>2️⃣ Under certain conditions, work can extend up to 10 hours a day.</a:t>
            </a:r>
          </a:p>
        </p:txBody>
      </p:sp>
      <p:sp>
        <p:nvSpPr>
          <p:cNvPr id="2" name="Title 1">
            <a:extLst>
              <a:ext uri="{FF2B5EF4-FFF2-40B4-BE49-F238E27FC236}">
                <a16:creationId xmlns:a16="http://schemas.microsoft.com/office/drawing/2014/main" id="{7727A382-8F85-2F81-7E45-C9EAAA5DF9D1}"/>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100. Daily working hour</a:t>
            </a:r>
          </a:p>
        </p:txBody>
      </p:sp>
    </p:spTree>
    <p:extLst>
      <p:ext uri="{BB962C8B-B14F-4D97-AF65-F5344CB8AC3E}">
        <p14:creationId xmlns:p14="http://schemas.microsoft.com/office/powerpoint/2010/main" val="18671144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86327-DA32-53F8-BDE0-A8CD510D31E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916E51-E046-46B2-8097-512F2922F738}"/>
              </a:ext>
            </a:extLst>
          </p:cNvPr>
          <p:cNvSpPr>
            <a:spLocks noGrp="1"/>
          </p:cNvSpPr>
          <p:nvPr>
            <p:ph idx="1"/>
          </p:nvPr>
        </p:nvSpPr>
        <p:spPr>
          <a:xfrm>
            <a:off x="753979" y="1351320"/>
            <a:ext cx="10515600" cy="5097605"/>
          </a:xfrm>
        </p:spPr>
        <p:txBody>
          <a:bodyPr>
            <a:normAutofit/>
          </a:bodyPr>
          <a:lstStyle/>
          <a:p>
            <a:pPr marL="0" indent="0">
              <a:buNone/>
            </a:pPr>
            <a:r>
              <a:rPr lang="en-US" dirty="0"/>
              <a:t>✅ What you must know</a:t>
            </a:r>
            <a:br>
              <a:rPr lang="en-US" dirty="0"/>
            </a:br>
            <a:r>
              <a:rPr lang="en-US" dirty="0"/>
              <a:t>1️⃣ If a worker works </a:t>
            </a:r>
            <a:r>
              <a:rPr lang="en-US" b="1" dirty="0"/>
              <a:t>more than 6 hours</a:t>
            </a:r>
            <a:r>
              <a:rPr lang="en-US" dirty="0"/>
              <a:t>, they must get a </a:t>
            </a:r>
            <a:r>
              <a:rPr lang="en-US" b="1" dirty="0"/>
              <a:t>1-hour break</a:t>
            </a:r>
            <a:r>
              <a:rPr lang="en-US" dirty="0"/>
              <a:t> for rest or meal.</a:t>
            </a:r>
            <a:br>
              <a:rPr lang="en-US" dirty="0"/>
            </a:br>
            <a:r>
              <a:rPr lang="en-US" dirty="0"/>
              <a:t>2️⃣ If a worker works </a:t>
            </a:r>
            <a:r>
              <a:rPr lang="en-US" b="1" dirty="0"/>
              <a:t>more than 5 hours</a:t>
            </a:r>
            <a:r>
              <a:rPr lang="en-US" dirty="0"/>
              <a:t>, they must get at least a </a:t>
            </a:r>
            <a:r>
              <a:rPr lang="en-US" b="1" dirty="0"/>
              <a:t>30-minute break</a:t>
            </a:r>
            <a:r>
              <a:rPr lang="en-US" dirty="0"/>
              <a:t>.</a:t>
            </a:r>
            <a:br>
              <a:rPr lang="en-US" dirty="0"/>
            </a:br>
            <a:r>
              <a:rPr lang="en-US" dirty="0"/>
              <a:t>3️⃣ If a worker works </a:t>
            </a:r>
            <a:r>
              <a:rPr lang="en-US" b="1" dirty="0"/>
              <a:t>more than 8 hours</a:t>
            </a:r>
            <a:r>
              <a:rPr lang="en-US" dirty="0"/>
              <a:t>, they must get either one 1-hour break or two 30-minute breaks.</a:t>
            </a:r>
            <a:br>
              <a:rPr lang="en-US" dirty="0"/>
            </a:br>
            <a:r>
              <a:rPr lang="en-US" dirty="0"/>
              <a:t>4️⃣ For tough jobs like construction or steel mills, the government sets special rules for working and rest hours to protect workers.</a:t>
            </a:r>
          </a:p>
        </p:txBody>
      </p:sp>
      <p:sp>
        <p:nvSpPr>
          <p:cNvPr id="2" name="Title 1">
            <a:extLst>
              <a:ext uri="{FF2B5EF4-FFF2-40B4-BE49-F238E27FC236}">
                <a16:creationId xmlns:a16="http://schemas.microsoft.com/office/drawing/2014/main" id="{33112C67-E54A-31FE-2904-735C3CA9A9B3}"/>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101. Interval for rest and meal</a:t>
            </a:r>
          </a:p>
        </p:txBody>
      </p:sp>
    </p:spTree>
    <p:extLst>
      <p:ext uri="{BB962C8B-B14F-4D97-AF65-F5344CB8AC3E}">
        <p14:creationId xmlns:p14="http://schemas.microsoft.com/office/powerpoint/2010/main" val="26882065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004B6-2856-6934-8919-AA3CE7A9EF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A35CCE-9026-DF11-878F-1BAF7237263C}"/>
              </a:ext>
            </a:extLst>
          </p:cNvPr>
          <p:cNvSpPr>
            <a:spLocks noGrp="1"/>
          </p:cNvSpPr>
          <p:nvPr>
            <p:ph idx="1"/>
          </p:nvPr>
        </p:nvSpPr>
        <p:spPr>
          <a:xfrm>
            <a:off x="753979" y="1351320"/>
            <a:ext cx="10515600" cy="5097605"/>
          </a:xfrm>
        </p:spPr>
        <p:txBody>
          <a:bodyPr>
            <a:normAutofit/>
          </a:bodyPr>
          <a:lstStyle/>
          <a:p>
            <a:pPr marL="0" indent="0">
              <a:buNone/>
            </a:pPr>
            <a:r>
              <a:rPr lang="en-US" dirty="0"/>
              <a:t>✅ What you must know</a:t>
            </a:r>
            <a:br>
              <a:rPr lang="en-US" dirty="0"/>
            </a:br>
            <a:r>
              <a:rPr lang="en-US" dirty="0"/>
              <a:t>1️⃣ Normal weekly work limit is </a:t>
            </a:r>
            <a:r>
              <a:rPr lang="en-US" b="1" dirty="0"/>
              <a:t>48 hours</a:t>
            </a:r>
            <a:r>
              <a:rPr lang="en-US" dirty="0"/>
              <a:t> for adult workers.</a:t>
            </a:r>
            <a:br>
              <a:rPr lang="en-US" dirty="0"/>
            </a:br>
            <a:r>
              <a:rPr lang="en-US" dirty="0"/>
              <a:t>2️⃣ With permission, they can work up to </a:t>
            </a:r>
            <a:r>
              <a:rPr lang="en-US" b="1" dirty="0"/>
              <a:t>60 hours in a week</a:t>
            </a:r>
            <a:r>
              <a:rPr lang="en-US" dirty="0"/>
              <a:t>, but the yearly average must not exceed </a:t>
            </a:r>
            <a:r>
              <a:rPr lang="en-US" b="1" dirty="0"/>
              <a:t>56 hours per week</a:t>
            </a:r>
            <a:r>
              <a:rPr lang="en-US" dirty="0"/>
              <a:t>.</a:t>
            </a:r>
            <a:br>
              <a:rPr lang="en-US" dirty="0"/>
            </a:br>
            <a:r>
              <a:rPr lang="en-US" dirty="0"/>
              <a:t>3️⃣ For workers in road transport, the extra work hours cannot exceed </a:t>
            </a:r>
            <a:r>
              <a:rPr lang="en-US" b="1" dirty="0"/>
              <a:t>150 hours in a year</a:t>
            </a:r>
            <a:r>
              <a:rPr lang="en-US" dirty="0"/>
              <a:t>.</a:t>
            </a:r>
            <a:br>
              <a:rPr lang="en-US" dirty="0"/>
            </a:br>
            <a:r>
              <a:rPr lang="en-US" dirty="0"/>
              <a:t>4️⃣ The government can relax or exempt these limits for certain industries temporarily (up to 6 months) if it benefits the economy or public interest.</a:t>
            </a:r>
          </a:p>
        </p:txBody>
      </p:sp>
      <p:sp>
        <p:nvSpPr>
          <p:cNvPr id="2" name="Title 1">
            <a:extLst>
              <a:ext uri="{FF2B5EF4-FFF2-40B4-BE49-F238E27FC236}">
                <a16:creationId xmlns:a16="http://schemas.microsoft.com/office/drawing/2014/main" id="{FCA7F77C-8F4A-6B0E-B218-6EB1EE73AD1D}"/>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102. Weekly working hours</a:t>
            </a:r>
          </a:p>
        </p:txBody>
      </p:sp>
    </p:spTree>
    <p:extLst>
      <p:ext uri="{BB962C8B-B14F-4D97-AF65-F5344CB8AC3E}">
        <p14:creationId xmlns:p14="http://schemas.microsoft.com/office/powerpoint/2010/main" val="32170239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0C17E-29D6-AAB3-EA93-B79BBA170AA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959F81-E477-4D8D-7769-C0D46075F2DB}"/>
              </a:ext>
            </a:extLst>
          </p:cNvPr>
          <p:cNvSpPr>
            <a:spLocks noGrp="1"/>
          </p:cNvSpPr>
          <p:nvPr>
            <p:ph idx="1"/>
          </p:nvPr>
        </p:nvSpPr>
        <p:spPr>
          <a:xfrm>
            <a:off x="753979" y="1351320"/>
            <a:ext cx="10515600" cy="5097605"/>
          </a:xfrm>
        </p:spPr>
        <p:txBody>
          <a:bodyPr>
            <a:normAutofit/>
          </a:bodyPr>
          <a:lstStyle/>
          <a:p>
            <a:pPr marL="0" indent="0">
              <a:buNone/>
            </a:pPr>
            <a:r>
              <a:rPr lang="en-US" dirty="0"/>
              <a:t>✅ What you must know</a:t>
            </a:r>
            <a:br>
              <a:rPr lang="en-US" dirty="0"/>
            </a:br>
            <a:r>
              <a:rPr lang="en-US" dirty="0"/>
              <a:t>1️⃣ Workers in shops, commercial places get at least </a:t>
            </a:r>
            <a:r>
              <a:rPr lang="en-US" b="1" dirty="0"/>
              <a:t>one and a half days off every week</a:t>
            </a:r>
            <a:r>
              <a:rPr lang="en-US" dirty="0"/>
              <a:t>.</a:t>
            </a:r>
            <a:br>
              <a:rPr lang="en-US" dirty="0"/>
            </a:br>
            <a:r>
              <a:rPr lang="en-US" dirty="0"/>
              <a:t>2️⃣ Workers in factories and industrial establishments get at least </a:t>
            </a:r>
            <a:r>
              <a:rPr lang="en-US" b="1" dirty="0"/>
              <a:t>one full day (24 hours) off each week</a:t>
            </a:r>
            <a:r>
              <a:rPr lang="en-US" dirty="0"/>
              <a:t>.</a:t>
            </a:r>
            <a:br>
              <a:rPr lang="en-US" dirty="0"/>
            </a:br>
            <a:r>
              <a:rPr lang="en-US" dirty="0"/>
              <a:t>3️⃣ Workers in road transport get </a:t>
            </a:r>
            <a:r>
              <a:rPr lang="en-US" b="1" dirty="0"/>
              <a:t>one full day (24 hours) off every week</a:t>
            </a:r>
            <a:r>
              <a:rPr lang="en-US" dirty="0"/>
              <a:t> too.</a:t>
            </a:r>
            <a:br>
              <a:rPr lang="en-US" dirty="0"/>
            </a:br>
            <a:r>
              <a:rPr lang="en-US" dirty="0"/>
              <a:t>4️⃣ No employer can deduct wages for these guaranteed holidays — workers get paid fully for their day off.</a:t>
            </a:r>
          </a:p>
        </p:txBody>
      </p:sp>
      <p:sp>
        <p:nvSpPr>
          <p:cNvPr id="2" name="Title 1">
            <a:extLst>
              <a:ext uri="{FF2B5EF4-FFF2-40B4-BE49-F238E27FC236}">
                <a16:creationId xmlns:a16="http://schemas.microsoft.com/office/drawing/2014/main" id="{05CF0163-C980-56D8-D2C4-4365DE3EB664}"/>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103. Weekly holiday</a:t>
            </a:r>
          </a:p>
        </p:txBody>
      </p:sp>
    </p:spTree>
    <p:extLst>
      <p:ext uri="{BB962C8B-B14F-4D97-AF65-F5344CB8AC3E}">
        <p14:creationId xmlns:p14="http://schemas.microsoft.com/office/powerpoint/2010/main" val="28414110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170E9-71E3-C2C1-41E7-E08C0AAF098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C81CDF-843D-AE51-7B08-3D2613FDECE0}"/>
              </a:ext>
            </a:extLst>
          </p:cNvPr>
          <p:cNvSpPr>
            <a:spLocks noGrp="1"/>
          </p:cNvSpPr>
          <p:nvPr>
            <p:ph idx="1"/>
          </p:nvPr>
        </p:nvSpPr>
        <p:spPr>
          <a:xfrm>
            <a:off x="753979" y="1351320"/>
            <a:ext cx="10515600" cy="5097605"/>
          </a:xfrm>
        </p:spPr>
        <p:txBody>
          <a:bodyPr>
            <a:normAutofit/>
          </a:bodyPr>
          <a:lstStyle/>
          <a:p>
            <a:pPr marL="0" indent="0">
              <a:buNone/>
            </a:pPr>
            <a:r>
              <a:rPr lang="en-US" dirty="0"/>
              <a:t>✅ What you must know</a:t>
            </a:r>
            <a:br>
              <a:rPr lang="en-US" dirty="0"/>
            </a:br>
            <a:r>
              <a:rPr lang="en-US" dirty="0"/>
              <a:t>1️⃣ If a worker misses their weekly holiday due to an exemption order, they must be given an equal number of compensatory holidays as soon as possible.</a:t>
            </a:r>
            <a:br>
              <a:rPr lang="en-US" dirty="0"/>
            </a:br>
            <a:r>
              <a:rPr lang="en-US" dirty="0"/>
              <a:t>2️⃣ Workers can choose, with agreement from worker representatives, to work on their weekly holiday and then take that day off later combined with a festival holiday instead.</a:t>
            </a:r>
            <a:br>
              <a:rPr lang="en-US" dirty="0"/>
            </a:br>
            <a:r>
              <a:rPr lang="en-US" dirty="0"/>
              <a:t>3️⃣ If workers decide to work on their weekly holiday this way, they </a:t>
            </a:r>
            <a:r>
              <a:rPr lang="en-US" b="1" dirty="0"/>
              <a:t>won’t get extra overtime pay</a:t>
            </a:r>
            <a:r>
              <a:rPr lang="en-US" dirty="0"/>
              <a:t> for that day.</a:t>
            </a:r>
          </a:p>
        </p:txBody>
      </p:sp>
      <p:sp>
        <p:nvSpPr>
          <p:cNvPr id="2" name="Title 1">
            <a:extLst>
              <a:ext uri="{FF2B5EF4-FFF2-40B4-BE49-F238E27FC236}">
                <a16:creationId xmlns:a16="http://schemas.microsoft.com/office/drawing/2014/main" id="{68C6E463-2476-E935-AF04-743490881862}"/>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104. Compensatory weekly holiday</a:t>
            </a:r>
          </a:p>
        </p:txBody>
      </p:sp>
    </p:spTree>
    <p:extLst>
      <p:ext uri="{BB962C8B-B14F-4D97-AF65-F5344CB8AC3E}">
        <p14:creationId xmlns:p14="http://schemas.microsoft.com/office/powerpoint/2010/main" val="42048595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7D3E1-665A-B381-7AB3-2378ACBDAA4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CAB0E3-46A3-3CF0-C7FA-2FC1C3C59DD9}"/>
              </a:ext>
            </a:extLst>
          </p:cNvPr>
          <p:cNvSpPr>
            <a:spLocks noGrp="1"/>
          </p:cNvSpPr>
          <p:nvPr>
            <p:ph idx="1"/>
          </p:nvPr>
        </p:nvSpPr>
        <p:spPr>
          <a:xfrm>
            <a:off x="753979" y="1351320"/>
            <a:ext cx="10515600" cy="5097605"/>
          </a:xfrm>
        </p:spPr>
        <p:txBody>
          <a:bodyPr>
            <a:normAutofit/>
          </a:bodyPr>
          <a:lstStyle/>
          <a:p>
            <a:pPr marL="0" indent="0">
              <a:buNone/>
            </a:pPr>
            <a:r>
              <a:rPr lang="en-US" dirty="0"/>
              <a:t>✅ What you must know</a:t>
            </a:r>
            <a:br>
              <a:rPr lang="en-US" dirty="0"/>
            </a:br>
            <a:r>
              <a:rPr lang="en-US" dirty="0"/>
              <a:t>1️⃣ A “whole day holiday” means a full 24 hours starting right after the worker finishes their night shift — no shortcuts!</a:t>
            </a:r>
            <a:br>
              <a:rPr lang="en-US" dirty="0"/>
            </a:br>
            <a:r>
              <a:rPr lang="en-US" dirty="0"/>
              <a:t>2️⃣ The “next day” for counting work hours also starts right after the night shift ends, even if it’s already past midnight.</a:t>
            </a:r>
            <a:br>
              <a:rPr lang="en-US" dirty="0"/>
            </a:br>
            <a:r>
              <a:rPr lang="en-US" dirty="0"/>
              <a:t>3️⃣ Any hours worked after midnight still count as part of the previous day’s work hours.</a:t>
            </a:r>
          </a:p>
        </p:txBody>
      </p:sp>
      <p:sp>
        <p:nvSpPr>
          <p:cNvPr id="2" name="Title 1">
            <a:extLst>
              <a:ext uri="{FF2B5EF4-FFF2-40B4-BE49-F238E27FC236}">
                <a16:creationId xmlns:a16="http://schemas.microsoft.com/office/drawing/2014/main" id="{FC04D431-1181-C1DD-C5D4-20452CD43A32}"/>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106. Night shift</a:t>
            </a:r>
          </a:p>
        </p:txBody>
      </p:sp>
    </p:spTree>
    <p:extLst>
      <p:ext uri="{BB962C8B-B14F-4D97-AF65-F5344CB8AC3E}">
        <p14:creationId xmlns:p14="http://schemas.microsoft.com/office/powerpoint/2010/main" val="22144524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EE3D4-1314-FC1E-2533-D54CF4D166F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D3DD57-A3C1-C549-78CE-D4F0659D53DF}"/>
              </a:ext>
            </a:extLst>
          </p:cNvPr>
          <p:cNvSpPr>
            <a:spLocks noGrp="1"/>
          </p:cNvSpPr>
          <p:nvPr>
            <p:ph idx="1"/>
          </p:nvPr>
        </p:nvSpPr>
        <p:spPr>
          <a:xfrm>
            <a:off x="753979" y="1351320"/>
            <a:ext cx="10515600" cy="5097605"/>
          </a:xfrm>
        </p:spPr>
        <p:txBody>
          <a:bodyPr>
            <a:normAutofit/>
          </a:bodyPr>
          <a:lstStyle/>
          <a:p>
            <a:pPr marL="0" indent="0">
              <a:buNone/>
            </a:pPr>
            <a:r>
              <a:rPr lang="en-US" dirty="0"/>
              <a:t>✅ What you must know</a:t>
            </a:r>
            <a:br>
              <a:rPr lang="en-US" dirty="0"/>
            </a:br>
            <a:r>
              <a:rPr lang="en-US" dirty="0"/>
              <a:t>1️⃣ Overtime pay = 2 times the worker’s </a:t>
            </a:r>
            <a:r>
              <a:rPr lang="en-US" b="1" dirty="0"/>
              <a:t>ordinary basic wage + dearness allowance + any ad-hoc or interim wage</a:t>
            </a:r>
            <a:r>
              <a:rPr lang="en-US" dirty="0"/>
              <a:t>.</a:t>
            </a:r>
            <a:br>
              <a:rPr lang="en-US" dirty="0"/>
            </a:br>
            <a:r>
              <a:rPr lang="en-US" dirty="0"/>
              <a:t>2️⃣ Piece-rate workers (who get paid per piece produced) don’t get this double overtime pay under this section.</a:t>
            </a:r>
            <a:br>
              <a:rPr lang="en-US" dirty="0"/>
            </a:br>
            <a:r>
              <a:rPr lang="en-US" dirty="0"/>
              <a:t>3️⃣ The employer must keep a proper register (official record) of overtime hours to make sure workers are paid fairly.</a:t>
            </a:r>
          </a:p>
        </p:txBody>
      </p:sp>
      <p:sp>
        <p:nvSpPr>
          <p:cNvPr id="2" name="Title 1">
            <a:extLst>
              <a:ext uri="{FF2B5EF4-FFF2-40B4-BE49-F238E27FC236}">
                <a16:creationId xmlns:a16="http://schemas.microsoft.com/office/drawing/2014/main" id="{660AEDA3-7C28-8E78-B1AD-59F5C067EC0A}"/>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108. Extra-allowance for overtime</a:t>
            </a:r>
          </a:p>
        </p:txBody>
      </p:sp>
    </p:spTree>
    <p:extLst>
      <p:ext uri="{BB962C8B-B14F-4D97-AF65-F5344CB8AC3E}">
        <p14:creationId xmlns:p14="http://schemas.microsoft.com/office/powerpoint/2010/main" val="24741658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AA39F-C4AB-CFF0-965D-EA3D2E38D2A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09B4DE-9165-FE71-610B-CFCA012D6A69}"/>
              </a:ext>
            </a:extLst>
          </p:cNvPr>
          <p:cNvSpPr>
            <a:spLocks noGrp="1"/>
          </p:cNvSpPr>
          <p:nvPr>
            <p:ph idx="1"/>
          </p:nvPr>
        </p:nvSpPr>
        <p:spPr>
          <a:xfrm>
            <a:off x="753979" y="1351320"/>
            <a:ext cx="10515600" cy="5097605"/>
          </a:xfrm>
        </p:spPr>
        <p:txBody>
          <a:bodyPr>
            <a:normAutofit lnSpcReduction="10000"/>
          </a:bodyPr>
          <a:lstStyle/>
          <a:p>
            <a:pPr marL="0" indent="0">
              <a:buNone/>
            </a:pPr>
            <a:r>
              <a:rPr lang="en-US" b="1" dirty="0"/>
              <a:t>109. Limited hours of work for women workers</a:t>
            </a:r>
          </a:p>
          <a:p>
            <a:pPr marL="0" indent="0">
              <a:buNone/>
            </a:pPr>
            <a:r>
              <a:rPr lang="en-US" dirty="0"/>
              <a:t>1️⃣ </a:t>
            </a:r>
            <a:r>
              <a:rPr lang="en-US" b="1" dirty="0"/>
              <a:t>For women workers</a:t>
            </a:r>
            <a:r>
              <a:rPr lang="en-US" dirty="0"/>
              <a:t>:</a:t>
            </a:r>
            <a:br>
              <a:rPr lang="en-US" dirty="0"/>
            </a:br>
            <a:r>
              <a:rPr lang="en-US" dirty="0"/>
              <a:t>They cannot be forced to work between </a:t>
            </a:r>
            <a:r>
              <a:rPr lang="en-US" b="1" dirty="0"/>
              <a:t>10 PM and 6 AM</a:t>
            </a:r>
            <a:r>
              <a:rPr lang="en-US" dirty="0"/>
              <a:t>, unless they agree to it. This protects their safety and health, especially when traveling at night.</a:t>
            </a:r>
          </a:p>
          <a:p>
            <a:pPr marL="0" indent="0">
              <a:buNone/>
            </a:pPr>
            <a:endParaRPr lang="en-US" b="1" dirty="0"/>
          </a:p>
          <a:p>
            <a:pPr marL="0" indent="0">
              <a:buNone/>
            </a:pPr>
            <a:r>
              <a:rPr lang="en-US" b="1" dirty="0"/>
              <a:t>110. Restriction on double employment</a:t>
            </a:r>
          </a:p>
          <a:p>
            <a:pPr marL="0" indent="0">
              <a:buNone/>
            </a:pPr>
            <a:r>
              <a:rPr lang="en-US" dirty="0"/>
              <a:t>2️⃣ </a:t>
            </a:r>
            <a:r>
              <a:rPr lang="en-US" b="1" dirty="0"/>
              <a:t>For all adult workers</a:t>
            </a:r>
            <a:r>
              <a:rPr lang="en-US" dirty="0"/>
              <a:t>:</a:t>
            </a:r>
            <a:br>
              <a:rPr lang="en-US" dirty="0"/>
            </a:br>
            <a:r>
              <a:rPr lang="en-US" dirty="0"/>
              <a:t>They cannot work in more than </a:t>
            </a:r>
            <a:r>
              <a:rPr lang="en-US" b="1" dirty="0"/>
              <a:t>one establishment on the same day unless they obtain official permission from the Inspector General and comply with</a:t>
            </a:r>
            <a:r>
              <a:rPr lang="en-US" dirty="0"/>
              <a:t> any conditions set by him. This prevents excessive fatigue and health risks.</a:t>
            </a:r>
            <a:endParaRPr lang="en-US" b="1" dirty="0"/>
          </a:p>
        </p:txBody>
      </p:sp>
      <p:sp>
        <p:nvSpPr>
          <p:cNvPr id="2" name="Title 1">
            <a:extLst>
              <a:ext uri="{FF2B5EF4-FFF2-40B4-BE49-F238E27FC236}">
                <a16:creationId xmlns:a16="http://schemas.microsoft.com/office/drawing/2014/main" id="{BDB0AFBA-F00F-C9F8-85C6-FAAFEAE80A66}"/>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109/110</a:t>
            </a:r>
          </a:p>
        </p:txBody>
      </p:sp>
    </p:spTree>
    <p:extLst>
      <p:ext uri="{BB962C8B-B14F-4D97-AF65-F5344CB8AC3E}">
        <p14:creationId xmlns:p14="http://schemas.microsoft.com/office/powerpoint/2010/main" val="23562021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FDF5B-DE16-756C-7FDD-39A5DD23F9C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39EC30-F5F0-2EDA-CDC1-899953D465FE}"/>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What you must know</a:t>
            </a:r>
            <a:endParaRPr lang="en-US" dirty="0"/>
          </a:p>
          <a:p>
            <a:r>
              <a:rPr lang="en-US" dirty="0"/>
              <a:t>1️⃣ Every </a:t>
            </a:r>
            <a:r>
              <a:rPr lang="en-US" b="1" dirty="0"/>
              <a:t>shop or commercial/industrial establishment</a:t>
            </a:r>
            <a:r>
              <a:rPr lang="en-US" dirty="0"/>
              <a:t> must remain fully closed for at least </a:t>
            </a:r>
            <a:r>
              <a:rPr lang="en-US" b="1" dirty="0"/>
              <a:t>one and a half days each week</a:t>
            </a:r>
            <a:r>
              <a:rPr lang="en-US" dirty="0"/>
              <a:t> (so workers get a proper break).</a:t>
            </a:r>
          </a:p>
          <a:p>
            <a:r>
              <a:rPr lang="en-US" dirty="0"/>
              <a:t>2️⃣ The </a:t>
            </a:r>
            <a:r>
              <a:rPr lang="en-US" b="1" dirty="0"/>
              <a:t>Inspector General</a:t>
            </a:r>
            <a:r>
              <a:rPr lang="en-US" dirty="0"/>
              <a:t> decides </a:t>
            </a:r>
            <a:r>
              <a:rPr lang="en-US" b="1" dirty="0"/>
              <a:t>which day(s)</a:t>
            </a:r>
            <a:r>
              <a:rPr lang="en-US" dirty="0"/>
              <a:t> businesses in an area must stay closed, and can change it when needed for public interest.</a:t>
            </a:r>
          </a:p>
          <a:p>
            <a:r>
              <a:rPr lang="en-US" dirty="0"/>
              <a:t>3️⃣ Shops </a:t>
            </a:r>
            <a:r>
              <a:rPr lang="en-US" b="1" dirty="0"/>
              <a:t>cannot stay open after 8 PM</a:t>
            </a:r>
            <a:r>
              <a:rPr lang="en-US" dirty="0"/>
              <a:t>, but if a customer is already inside, they can finish buying within the next </a:t>
            </a:r>
            <a:r>
              <a:rPr lang="en-US" b="1" dirty="0"/>
              <a:t>30 minutes</a:t>
            </a:r>
            <a:r>
              <a:rPr lang="en-US" dirty="0"/>
              <a:t>.</a:t>
            </a:r>
          </a:p>
          <a:p>
            <a:r>
              <a:rPr lang="en-US" dirty="0"/>
              <a:t>4️⃣ In special cases (like festivals or busy seasons), the </a:t>
            </a:r>
            <a:r>
              <a:rPr lang="en-US" b="1" dirty="0"/>
              <a:t>government</a:t>
            </a:r>
            <a:r>
              <a:rPr lang="en-US" dirty="0"/>
              <a:t> can change closing hours temporarily.</a:t>
            </a:r>
          </a:p>
          <a:p>
            <a:pPr marL="0" indent="0">
              <a:buNone/>
            </a:pPr>
            <a:endParaRPr lang="en-US" dirty="0"/>
          </a:p>
        </p:txBody>
      </p:sp>
      <p:sp>
        <p:nvSpPr>
          <p:cNvPr id="2" name="Title 1">
            <a:extLst>
              <a:ext uri="{FF2B5EF4-FFF2-40B4-BE49-F238E27FC236}">
                <a16:creationId xmlns:a16="http://schemas.microsoft.com/office/drawing/2014/main" id="{ACE2BCE2-02BA-C5B2-FDCA-DCD445DB7B71}"/>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114. Closure of shops etc.</a:t>
            </a:r>
          </a:p>
        </p:txBody>
      </p:sp>
    </p:spTree>
    <p:extLst>
      <p:ext uri="{BB962C8B-B14F-4D97-AF65-F5344CB8AC3E}">
        <p14:creationId xmlns:p14="http://schemas.microsoft.com/office/powerpoint/2010/main" val="35947022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12D91-E04F-49E3-9289-1A1B51BB63F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1C444C-26E3-1449-E77E-30150D750C2E}"/>
              </a:ext>
            </a:extLst>
          </p:cNvPr>
          <p:cNvSpPr>
            <a:spLocks noGrp="1"/>
          </p:cNvSpPr>
          <p:nvPr>
            <p:ph idx="1"/>
          </p:nvPr>
        </p:nvSpPr>
        <p:spPr>
          <a:xfrm>
            <a:off x="753979" y="1351320"/>
            <a:ext cx="10515600" cy="5097605"/>
          </a:xfrm>
        </p:spPr>
        <p:txBody>
          <a:bodyPr>
            <a:normAutofit lnSpcReduction="10000"/>
          </a:bodyPr>
          <a:lstStyle/>
          <a:p>
            <a:pPr marL="0" indent="0">
              <a:buNone/>
            </a:pPr>
            <a:r>
              <a:rPr lang="en-US" dirty="0"/>
              <a:t>5️⃣ </a:t>
            </a:r>
            <a:r>
              <a:rPr lang="en-US" b="1" dirty="0"/>
              <a:t>Exceptions</a:t>
            </a:r>
            <a:r>
              <a:rPr lang="en-US" dirty="0"/>
              <a:t>: Some businesses don’t have to follow these rules. For example:</a:t>
            </a:r>
          </a:p>
          <a:p>
            <a:r>
              <a:rPr lang="en-US" dirty="0"/>
              <a:t>Airports, train stations, docks</a:t>
            </a:r>
          </a:p>
          <a:p>
            <a:r>
              <a:rPr lang="en-US" dirty="0"/>
              <a:t>Shops selling vegetables, fish, meat, dairy, bread, sweets, flowers</a:t>
            </a:r>
          </a:p>
          <a:p>
            <a:r>
              <a:rPr lang="en-US" dirty="0"/>
              <a:t>Medicine shops</a:t>
            </a:r>
          </a:p>
          <a:p>
            <a:r>
              <a:rPr lang="en-US" dirty="0"/>
              <a:t>Shops for funeral items</a:t>
            </a:r>
          </a:p>
          <a:p>
            <a:r>
              <a:rPr lang="en-US" dirty="0"/>
              <a:t>Tobacco, newspapers, snacks shops</a:t>
            </a:r>
          </a:p>
          <a:p>
            <a:r>
              <a:rPr lang="en-US" dirty="0"/>
              <a:t>Petrol pumps and car service stations</a:t>
            </a:r>
          </a:p>
          <a:p>
            <a:r>
              <a:rPr lang="en-US" dirty="0"/>
              <a:t>Barber shops</a:t>
            </a:r>
          </a:p>
          <a:p>
            <a:r>
              <a:rPr lang="en-US" dirty="0"/>
              <a:t>Water, electricity, or sanitation services</a:t>
            </a:r>
          </a:p>
          <a:p>
            <a:r>
              <a:rPr lang="en-US" dirty="0"/>
              <a:t>Clubs, hotels, restaurants, cinemas, and theatres</a:t>
            </a:r>
          </a:p>
          <a:p>
            <a:pPr marL="0" indent="0">
              <a:buNone/>
            </a:pPr>
            <a:endParaRPr lang="en-US" dirty="0"/>
          </a:p>
        </p:txBody>
      </p:sp>
      <p:sp>
        <p:nvSpPr>
          <p:cNvPr id="2" name="Title 1">
            <a:extLst>
              <a:ext uri="{FF2B5EF4-FFF2-40B4-BE49-F238E27FC236}">
                <a16:creationId xmlns:a16="http://schemas.microsoft.com/office/drawing/2014/main" id="{640C1839-CB63-0235-F4D9-491BFDA61A9E}"/>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114. Closure of shops etc…</a:t>
            </a:r>
          </a:p>
        </p:txBody>
      </p:sp>
    </p:spTree>
    <p:extLst>
      <p:ext uri="{BB962C8B-B14F-4D97-AF65-F5344CB8AC3E}">
        <p14:creationId xmlns:p14="http://schemas.microsoft.com/office/powerpoint/2010/main" val="5540085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19158-F3F7-7CD5-8737-DCFD4A1C0A5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E3DEB1-1EF5-F03C-C357-E78052E1ADB5}"/>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What it means</a:t>
            </a:r>
            <a:endParaRPr lang="en-US" dirty="0"/>
          </a:p>
          <a:p>
            <a:pPr marL="0" indent="0">
              <a:buNone/>
            </a:pPr>
            <a:r>
              <a:rPr lang="en-US" dirty="0"/>
              <a:t>1️⃣ Every worker can take </a:t>
            </a:r>
            <a:r>
              <a:rPr lang="en-US" b="1" dirty="0"/>
              <a:t>10 days of casual leave</a:t>
            </a:r>
            <a:r>
              <a:rPr lang="en-US" dirty="0"/>
              <a:t> each calendar year, with </a:t>
            </a:r>
            <a:r>
              <a:rPr lang="en-US" b="1" dirty="0"/>
              <a:t>full pay</a:t>
            </a:r>
            <a:r>
              <a:rPr lang="en-US" dirty="0"/>
              <a:t>.</a:t>
            </a:r>
          </a:p>
          <a:p>
            <a:pPr marL="0" indent="0">
              <a:buNone/>
            </a:pPr>
            <a:r>
              <a:rPr lang="en-US" dirty="0"/>
              <a:t>2️⃣ This type of leave is meant for </a:t>
            </a:r>
            <a:r>
              <a:rPr lang="en-US" b="1" dirty="0"/>
              <a:t>unexpected situations</a:t>
            </a:r>
            <a:r>
              <a:rPr lang="en-US" dirty="0"/>
              <a:t> — like a sudden illness, family emergency, or important personal matter.</a:t>
            </a:r>
          </a:p>
          <a:p>
            <a:pPr marL="0" indent="0">
              <a:buNone/>
            </a:pPr>
            <a:r>
              <a:rPr lang="en-US" dirty="0"/>
              <a:t>3️⃣ </a:t>
            </a:r>
            <a:r>
              <a:rPr lang="en-US" b="1" dirty="0"/>
              <a:t>It cannot be carried over</a:t>
            </a:r>
            <a:r>
              <a:rPr lang="en-US" dirty="0"/>
              <a:t> to the next year. If you don’t use it, it’s gone!</a:t>
            </a:r>
          </a:p>
          <a:p>
            <a:pPr marL="0" indent="0">
              <a:buNone/>
            </a:pPr>
            <a:r>
              <a:rPr lang="en-US" dirty="0"/>
              <a:t>4️⃣ </a:t>
            </a:r>
            <a:r>
              <a:rPr lang="en-US" b="1" dirty="0"/>
              <a:t>Exception</a:t>
            </a:r>
            <a:r>
              <a:rPr lang="en-US" dirty="0"/>
              <a:t>: This rule </a:t>
            </a:r>
            <a:r>
              <a:rPr lang="en-US" b="1" dirty="0"/>
              <a:t>does not apply</a:t>
            </a:r>
            <a:r>
              <a:rPr lang="en-US" dirty="0"/>
              <a:t> to workers in tea plantations.</a:t>
            </a:r>
          </a:p>
          <a:p>
            <a:pPr marL="0" indent="0">
              <a:buNone/>
            </a:pPr>
            <a:endParaRPr lang="en-US" dirty="0"/>
          </a:p>
        </p:txBody>
      </p:sp>
      <p:sp>
        <p:nvSpPr>
          <p:cNvPr id="2" name="Title 1">
            <a:extLst>
              <a:ext uri="{FF2B5EF4-FFF2-40B4-BE49-F238E27FC236}">
                <a16:creationId xmlns:a16="http://schemas.microsoft.com/office/drawing/2014/main" id="{767E4FDD-B9AD-E012-3893-D8EDE6C495AD}"/>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115. Casual leave</a:t>
            </a:r>
          </a:p>
        </p:txBody>
      </p:sp>
    </p:spTree>
    <p:extLst>
      <p:ext uri="{BB962C8B-B14F-4D97-AF65-F5344CB8AC3E}">
        <p14:creationId xmlns:p14="http://schemas.microsoft.com/office/powerpoint/2010/main" val="16967160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24A18-578D-23BC-5B56-048BAE10DE5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FF1922-7692-3369-8E5A-20E28260DEF2}"/>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What it means</a:t>
            </a:r>
            <a:endParaRPr lang="en-US" dirty="0"/>
          </a:p>
          <a:p>
            <a:pPr marL="0" indent="0">
              <a:buNone/>
            </a:pPr>
            <a:r>
              <a:rPr lang="en-US" dirty="0"/>
              <a:t>1️⃣ In general, every worker (except newspaper workers) gets </a:t>
            </a:r>
            <a:r>
              <a:rPr lang="en-US" b="1" dirty="0"/>
              <a:t>14 days of sick leave with full pay</a:t>
            </a:r>
            <a:r>
              <a:rPr lang="en-US" dirty="0"/>
              <a:t> each year.</a:t>
            </a:r>
          </a:p>
          <a:p>
            <a:pPr marL="0" indent="0">
              <a:buNone/>
            </a:pPr>
            <a:r>
              <a:rPr lang="en-US" dirty="0"/>
              <a:t>2️⃣ </a:t>
            </a:r>
            <a:r>
              <a:rPr lang="en-US" b="1" dirty="0"/>
              <a:t>Newspaper workers</a:t>
            </a:r>
            <a:r>
              <a:rPr lang="en-US" dirty="0"/>
              <a:t> have a different rule: they get sick leave with </a:t>
            </a:r>
            <a:r>
              <a:rPr lang="en-US" b="1" dirty="0"/>
              <a:t>half pay</a:t>
            </a:r>
            <a:r>
              <a:rPr lang="en-US" dirty="0"/>
              <a:t>, equal to </a:t>
            </a:r>
            <a:r>
              <a:rPr lang="en-US" b="1" dirty="0"/>
              <a:t>at least one-eighteenth of their total service period</a:t>
            </a:r>
            <a:r>
              <a:rPr lang="en-US" dirty="0"/>
              <a:t>. (So, if someone worked 18 months, they'd get at least 1-month half-pay sick leave.)</a:t>
            </a:r>
          </a:p>
          <a:p>
            <a:pPr marL="0" indent="0">
              <a:buNone/>
            </a:pPr>
            <a:r>
              <a:rPr lang="en-US" dirty="0"/>
              <a:t>3️⃣ Workers must show a </a:t>
            </a:r>
            <a:r>
              <a:rPr lang="en-US" b="1" dirty="0"/>
              <a:t>medical certificate</a:t>
            </a:r>
            <a:r>
              <a:rPr lang="en-US" dirty="0"/>
              <a:t> from a registered doctor to get this leave — they can’t just say "I feel unwell" and stay home!</a:t>
            </a:r>
          </a:p>
          <a:p>
            <a:pPr marL="0" indent="0">
              <a:buNone/>
            </a:pPr>
            <a:r>
              <a:rPr lang="en-US" dirty="0"/>
              <a:t>4️⃣ Like casual leave, </a:t>
            </a:r>
            <a:r>
              <a:rPr lang="en-US" b="1" dirty="0"/>
              <a:t>sick leave cannot be carried over</a:t>
            </a:r>
            <a:r>
              <a:rPr lang="en-US" dirty="0"/>
              <a:t>. If you don’t use it this year, it does not accumulate.</a:t>
            </a:r>
          </a:p>
          <a:p>
            <a:pPr marL="0" indent="0">
              <a:buNone/>
            </a:pPr>
            <a:endParaRPr lang="en-US" dirty="0"/>
          </a:p>
        </p:txBody>
      </p:sp>
      <p:sp>
        <p:nvSpPr>
          <p:cNvPr id="2" name="Title 1">
            <a:extLst>
              <a:ext uri="{FF2B5EF4-FFF2-40B4-BE49-F238E27FC236}">
                <a16:creationId xmlns:a16="http://schemas.microsoft.com/office/drawing/2014/main" id="{3335D7F5-501C-0FA6-9FB0-0DEBD9E7D59A}"/>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116. Sick leave</a:t>
            </a:r>
          </a:p>
        </p:txBody>
      </p:sp>
    </p:spTree>
    <p:extLst>
      <p:ext uri="{BB962C8B-B14F-4D97-AF65-F5344CB8AC3E}">
        <p14:creationId xmlns:p14="http://schemas.microsoft.com/office/powerpoint/2010/main" val="41825446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9128B-BB81-6CA7-746C-D303A45A931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3F7862-5147-643B-EB58-AA4DCAFE08F0}"/>
              </a:ext>
            </a:extLst>
          </p:cNvPr>
          <p:cNvSpPr>
            <a:spLocks noGrp="1"/>
          </p:cNvSpPr>
          <p:nvPr>
            <p:ph idx="1"/>
          </p:nvPr>
        </p:nvSpPr>
        <p:spPr>
          <a:xfrm>
            <a:off x="753979" y="1351320"/>
            <a:ext cx="10515600" cy="5097605"/>
          </a:xfrm>
        </p:spPr>
        <p:txBody>
          <a:bodyPr>
            <a:normAutofit fontScale="92500" lnSpcReduction="10000"/>
          </a:bodyPr>
          <a:lstStyle/>
          <a:p>
            <a:pPr marL="0" indent="0">
              <a:buNone/>
            </a:pPr>
            <a:r>
              <a:rPr lang="en-US" dirty="0"/>
              <a:t>✅ </a:t>
            </a:r>
            <a:r>
              <a:rPr lang="en-US" b="1" dirty="0"/>
              <a:t>What it means</a:t>
            </a:r>
            <a:endParaRPr lang="en-US" dirty="0"/>
          </a:p>
          <a:p>
            <a:pPr marL="0" indent="0">
              <a:buNone/>
            </a:pPr>
            <a:r>
              <a:rPr lang="en-US" dirty="0"/>
              <a:t>1️⃣ </a:t>
            </a:r>
            <a:r>
              <a:rPr lang="en-US" b="1" dirty="0"/>
              <a:t>Who qualifies?</a:t>
            </a:r>
            <a:br>
              <a:rPr lang="en-US" dirty="0"/>
            </a:br>
            <a:r>
              <a:rPr lang="en-US" dirty="0"/>
              <a:t>Any adult or adolescent worker who has worked </a:t>
            </a:r>
            <a:r>
              <a:rPr lang="en-US" b="1" dirty="0"/>
              <a:t>continuously for one year</a:t>
            </a:r>
            <a:r>
              <a:rPr lang="en-US" dirty="0"/>
              <a:t> in the establishment.</a:t>
            </a:r>
          </a:p>
          <a:p>
            <a:pPr marL="0" indent="0">
              <a:buNone/>
            </a:pPr>
            <a:r>
              <a:rPr lang="en-US" dirty="0"/>
              <a:t>2️⃣ </a:t>
            </a:r>
            <a:r>
              <a:rPr lang="en-US" b="1" dirty="0"/>
              <a:t>How is leave calculated?</a:t>
            </a:r>
            <a:endParaRPr lang="en-US" dirty="0"/>
          </a:p>
          <a:p>
            <a:pPr marL="0" indent="0">
              <a:buNone/>
            </a:pPr>
            <a:r>
              <a:rPr lang="en-US" b="1" dirty="0"/>
              <a:t>Adult workers:</a:t>
            </a:r>
            <a:endParaRPr lang="en-US" dirty="0"/>
          </a:p>
          <a:p>
            <a:pPr lvl="1"/>
            <a:r>
              <a:rPr lang="en-US" dirty="0"/>
              <a:t>1 day off for every </a:t>
            </a:r>
            <a:r>
              <a:rPr lang="en-US" b="1" dirty="0"/>
              <a:t>18 days</a:t>
            </a:r>
            <a:r>
              <a:rPr lang="en-US" dirty="0"/>
              <a:t> worked (shops, factories, transport, commercial).</a:t>
            </a:r>
          </a:p>
          <a:p>
            <a:pPr lvl="1"/>
            <a:r>
              <a:rPr lang="en-US" dirty="0"/>
              <a:t>1 day for every </a:t>
            </a:r>
            <a:r>
              <a:rPr lang="en-US" b="1" dirty="0"/>
              <a:t>22 days</a:t>
            </a:r>
            <a:r>
              <a:rPr lang="en-US" dirty="0"/>
              <a:t> (tea plantations).</a:t>
            </a:r>
          </a:p>
          <a:p>
            <a:pPr lvl="1"/>
            <a:r>
              <a:rPr lang="en-US" dirty="0"/>
              <a:t>1 day for every </a:t>
            </a:r>
            <a:r>
              <a:rPr lang="en-US" b="1" dirty="0"/>
              <a:t>11 days</a:t>
            </a:r>
            <a:r>
              <a:rPr lang="en-US" dirty="0"/>
              <a:t> (newspaper workers).</a:t>
            </a:r>
          </a:p>
          <a:p>
            <a:pPr marL="0" indent="0">
              <a:buNone/>
            </a:pPr>
            <a:r>
              <a:rPr lang="en-US" b="1" dirty="0"/>
              <a:t>Adolescent workers:</a:t>
            </a:r>
            <a:endParaRPr lang="en-US" dirty="0"/>
          </a:p>
          <a:p>
            <a:pPr lvl="1"/>
            <a:r>
              <a:rPr lang="en-US" dirty="0"/>
              <a:t>1 day for every </a:t>
            </a:r>
            <a:r>
              <a:rPr lang="en-US" b="1" dirty="0"/>
              <a:t>15 days</a:t>
            </a:r>
            <a:r>
              <a:rPr lang="en-US" dirty="0"/>
              <a:t> (factories).</a:t>
            </a:r>
          </a:p>
          <a:p>
            <a:pPr lvl="1"/>
            <a:r>
              <a:rPr lang="en-US" dirty="0"/>
              <a:t>1 day for every </a:t>
            </a:r>
            <a:r>
              <a:rPr lang="en-US" b="1" dirty="0"/>
              <a:t>18 days</a:t>
            </a:r>
            <a:r>
              <a:rPr lang="en-US" dirty="0"/>
              <a:t> (tea plantations).</a:t>
            </a:r>
          </a:p>
          <a:p>
            <a:pPr lvl="1"/>
            <a:r>
              <a:rPr lang="en-US" dirty="0"/>
              <a:t>1 day for every </a:t>
            </a:r>
            <a:r>
              <a:rPr lang="en-US" b="1" dirty="0"/>
              <a:t>14 days</a:t>
            </a:r>
            <a:r>
              <a:rPr lang="en-US" dirty="0"/>
              <a:t> (shops, commercial/industrial).</a:t>
            </a:r>
          </a:p>
          <a:p>
            <a:pPr marL="0" indent="0">
              <a:buNone/>
            </a:pPr>
            <a:endParaRPr lang="en-US" dirty="0"/>
          </a:p>
          <a:p>
            <a:pPr marL="0" indent="0">
              <a:buNone/>
            </a:pPr>
            <a:endParaRPr lang="en-US" dirty="0"/>
          </a:p>
        </p:txBody>
      </p:sp>
      <p:sp>
        <p:nvSpPr>
          <p:cNvPr id="2" name="Title 1">
            <a:extLst>
              <a:ext uri="{FF2B5EF4-FFF2-40B4-BE49-F238E27FC236}">
                <a16:creationId xmlns:a16="http://schemas.microsoft.com/office/drawing/2014/main" id="{8177587C-5226-2BF3-E061-912397D82714}"/>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117. Annual leave with wages</a:t>
            </a:r>
          </a:p>
        </p:txBody>
      </p:sp>
    </p:spTree>
    <p:extLst>
      <p:ext uri="{BB962C8B-B14F-4D97-AF65-F5344CB8AC3E}">
        <p14:creationId xmlns:p14="http://schemas.microsoft.com/office/powerpoint/2010/main" val="2661525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C211-014E-B152-B055-4897405B7B9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E4D643-5F49-10A7-E7E6-7823EF196B4B}"/>
              </a:ext>
            </a:extLst>
          </p:cNvPr>
          <p:cNvSpPr>
            <a:spLocks noGrp="1"/>
          </p:cNvSpPr>
          <p:nvPr>
            <p:ph idx="1"/>
          </p:nvPr>
        </p:nvSpPr>
        <p:spPr>
          <a:xfrm>
            <a:off x="753979" y="1351320"/>
            <a:ext cx="10515600" cy="5097605"/>
          </a:xfrm>
        </p:spPr>
        <p:txBody>
          <a:bodyPr>
            <a:normAutofit/>
          </a:bodyPr>
          <a:lstStyle/>
          <a:p>
            <a:pPr marL="0" indent="0">
              <a:buNone/>
            </a:pPr>
            <a:r>
              <a:rPr lang="en-US" dirty="0"/>
              <a:t>3️⃣ </a:t>
            </a:r>
            <a:r>
              <a:rPr lang="en-US" b="1" dirty="0"/>
              <a:t>Holidays included!</a:t>
            </a:r>
            <a:br>
              <a:rPr lang="en-US" dirty="0"/>
            </a:br>
            <a:r>
              <a:rPr lang="en-US" dirty="0"/>
              <a:t>If a public holiday falls during your leave, it still counts as part of your leave period (no extra day off).</a:t>
            </a:r>
          </a:p>
          <a:p>
            <a:pPr marL="0" indent="0">
              <a:buNone/>
            </a:pPr>
            <a:r>
              <a:rPr lang="en-US" dirty="0"/>
              <a:t>4️⃣ </a:t>
            </a:r>
            <a:r>
              <a:rPr lang="en-US" b="1" dirty="0"/>
              <a:t>Leave can be carried forward!</a:t>
            </a:r>
            <a:br>
              <a:rPr lang="en-US" dirty="0"/>
            </a:br>
            <a:r>
              <a:rPr lang="en-US" dirty="0"/>
              <a:t>If you don’t use your full leave in a year, it gets added to next year's leave.</a:t>
            </a:r>
          </a:p>
          <a:p>
            <a:pPr marL="0" indent="0">
              <a:buNone/>
            </a:pPr>
            <a:r>
              <a:rPr lang="en-US" dirty="0"/>
              <a:t>5️⃣ </a:t>
            </a:r>
            <a:r>
              <a:rPr lang="en-US" b="1" dirty="0"/>
              <a:t>But there’s a limit:</a:t>
            </a:r>
            <a:endParaRPr lang="en-US" dirty="0"/>
          </a:p>
          <a:p>
            <a:r>
              <a:rPr lang="en-US" dirty="0"/>
              <a:t>Adults: Max </a:t>
            </a:r>
            <a:r>
              <a:rPr lang="en-US" b="1" dirty="0"/>
              <a:t>40 days</a:t>
            </a:r>
            <a:r>
              <a:rPr lang="en-US" dirty="0"/>
              <a:t> (factories, transport) or </a:t>
            </a:r>
            <a:r>
              <a:rPr lang="en-US" b="1" dirty="0"/>
              <a:t>60 days</a:t>
            </a:r>
            <a:r>
              <a:rPr lang="en-US" dirty="0"/>
              <a:t> (tea plantations, shops).</a:t>
            </a:r>
          </a:p>
          <a:p>
            <a:r>
              <a:rPr lang="en-US" dirty="0"/>
              <a:t>Adolescents: Max </a:t>
            </a:r>
            <a:r>
              <a:rPr lang="en-US" b="1" dirty="0"/>
              <a:t>60 days</a:t>
            </a:r>
            <a:r>
              <a:rPr lang="en-US" dirty="0"/>
              <a:t> (factories, tea) or </a:t>
            </a:r>
            <a:r>
              <a:rPr lang="en-US" b="1" dirty="0"/>
              <a:t>80 days</a:t>
            </a:r>
            <a:r>
              <a:rPr lang="en-US" dirty="0"/>
              <a:t> (shops, commercial).</a:t>
            </a:r>
          </a:p>
          <a:p>
            <a:pPr marL="0" indent="0">
              <a:buNone/>
            </a:pPr>
            <a:endParaRPr lang="en-US" dirty="0"/>
          </a:p>
        </p:txBody>
      </p:sp>
      <p:sp>
        <p:nvSpPr>
          <p:cNvPr id="2" name="Title 1">
            <a:extLst>
              <a:ext uri="{FF2B5EF4-FFF2-40B4-BE49-F238E27FC236}">
                <a16:creationId xmlns:a16="http://schemas.microsoft.com/office/drawing/2014/main" id="{892F65D0-C6FB-8CCF-C5B4-79AA3B019763}"/>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117. Annual leave with wages…</a:t>
            </a:r>
          </a:p>
        </p:txBody>
      </p:sp>
    </p:spTree>
    <p:extLst>
      <p:ext uri="{BB962C8B-B14F-4D97-AF65-F5344CB8AC3E}">
        <p14:creationId xmlns:p14="http://schemas.microsoft.com/office/powerpoint/2010/main" val="258600704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68705-F9F0-2D32-B96D-50922923E76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DC36B9-74C4-6164-8870-E91C0AAC0164}"/>
              </a:ext>
            </a:extLst>
          </p:cNvPr>
          <p:cNvSpPr>
            <a:spLocks noGrp="1"/>
          </p:cNvSpPr>
          <p:nvPr>
            <p:ph idx="1"/>
          </p:nvPr>
        </p:nvSpPr>
        <p:spPr>
          <a:xfrm>
            <a:off x="753979" y="1351320"/>
            <a:ext cx="10515600" cy="5097605"/>
          </a:xfrm>
        </p:spPr>
        <p:txBody>
          <a:bodyPr>
            <a:normAutofit/>
          </a:bodyPr>
          <a:lstStyle/>
          <a:p>
            <a:pPr marL="0" indent="0">
              <a:buNone/>
            </a:pPr>
            <a:r>
              <a:rPr lang="en-US" dirty="0"/>
              <a:t>6️⃣ </a:t>
            </a:r>
            <a:r>
              <a:rPr lang="en-US" b="1" dirty="0"/>
              <a:t>If leave is refused:</a:t>
            </a:r>
            <a:br>
              <a:rPr lang="en-US" dirty="0"/>
            </a:br>
            <a:r>
              <a:rPr lang="en-US" dirty="0"/>
              <a:t>If a worker asks for leave but the employer refuses, that leave is </a:t>
            </a:r>
            <a:r>
              <a:rPr lang="en-US" b="1" dirty="0"/>
              <a:t>credited beyond the limit</a:t>
            </a:r>
            <a:r>
              <a:rPr lang="en-US" dirty="0"/>
              <a:t>, meaning they don’t lose it.</a:t>
            </a:r>
          </a:p>
          <a:p>
            <a:pPr marL="0" indent="0">
              <a:buNone/>
            </a:pPr>
            <a:r>
              <a:rPr lang="en-US" dirty="0"/>
              <a:t>7️⃣ </a:t>
            </a:r>
            <a:r>
              <a:rPr lang="en-US" b="1" dirty="0"/>
              <a:t>Service interruptions don't break continuity!</a:t>
            </a:r>
            <a:br>
              <a:rPr lang="en-US" dirty="0"/>
            </a:br>
            <a:r>
              <a:rPr lang="en-US" dirty="0"/>
              <a:t>Things like holidays, sick leave, maternity leave (up to 16 weeks), strikes, lock-outs, or lay-offs </a:t>
            </a:r>
            <a:r>
              <a:rPr lang="en-US" b="1" dirty="0"/>
              <a:t>don’t count as a break</a:t>
            </a:r>
            <a:r>
              <a:rPr lang="en-US" dirty="0"/>
              <a:t> in service.</a:t>
            </a:r>
          </a:p>
          <a:p>
            <a:pPr marL="0" indent="0">
              <a:buNone/>
            </a:pPr>
            <a:endParaRPr lang="en-US" dirty="0"/>
          </a:p>
        </p:txBody>
      </p:sp>
      <p:sp>
        <p:nvSpPr>
          <p:cNvPr id="2" name="Title 1">
            <a:extLst>
              <a:ext uri="{FF2B5EF4-FFF2-40B4-BE49-F238E27FC236}">
                <a16:creationId xmlns:a16="http://schemas.microsoft.com/office/drawing/2014/main" id="{A665BFC0-4839-A6E6-6565-9D4FA261E8FC}"/>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117. </a:t>
            </a:r>
            <a:r>
              <a:rPr lang="en-GB" sz="3200" b="1">
                <a:solidFill>
                  <a:schemeClr val="bg1"/>
                </a:solidFill>
                <a:latin typeface="Bell MT" panose="02020503060305020303" pitchFamily="18" charset="0"/>
              </a:rPr>
              <a:t>Annual leave with wages…</a:t>
            </a:r>
            <a:endParaRPr lang="en-GB" sz="3200" b="1" dirty="0">
              <a:solidFill>
                <a:schemeClr val="bg1"/>
              </a:solidFill>
              <a:latin typeface="Bell MT" panose="02020503060305020303" pitchFamily="18" charset="0"/>
            </a:endParaRPr>
          </a:p>
        </p:txBody>
      </p:sp>
    </p:spTree>
    <p:extLst>
      <p:ext uri="{BB962C8B-B14F-4D97-AF65-F5344CB8AC3E}">
        <p14:creationId xmlns:p14="http://schemas.microsoft.com/office/powerpoint/2010/main" val="3558453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D0CB0-BD28-67E0-5338-FDE39E5178A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8802CE-2105-53F8-3FFD-ABCD87E8EB42}"/>
              </a:ext>
            </a:extLst>
          </p:cNvPr>
          <p:cNvSpPr>
            <a:spLocks noGrp="1"/>
          </p:cNvSpPr>
          <p:nvPr>
            <p:ph idx="1"/>
          </p:nvPr>
        </p:nvSpPr>
        <p:spPr>
          <a:xfrm>
            <a:off x="753979" y="1351320"/>
            <a:ext cx="10515600" cy="5097605"/>
          </a:xfrm>
        </p:spPr>
        <p:txBody>
          <a:bodyPr>
            <a:normAutofit fontScale="92500" lnSpcReduction="20000"/>
          </a:bodyPr>
          <a:lstStyle/>
          <a:p>
            <a:pPr marL="0" indent="0">
              <a:buNone/>
            </a:pPr>
            <a:r>
              <a:rPr lang="en-US" dirty="0"/>
              <a:t>1️⃣ </a:t>
            </a:r>
            <a:r>
              <a:rPr lang="en-US" b="1" dirty="0"/>
              <a:t>Basic meaning</a:t>
            </a:r>
            <a:br>
              <a:rPr lang="en-US" dirty="0"/>
            </a:br>
            <a:r>
              <a:rPr lang="en-US" dirty="0"/>
              <a:t>Wages start with the definition from section 2(45), which is your regular payment from work.</a:t>
            </a:r>
          </a:p>
          <a:p>
            <a:pPr marL="0" indent="0">
              <a:buNone/>
            </a:pPr>
            <a:r>
              <a:rPr lang="en-US" dirty="0"/>
              <a:t>2️⃣ </a:t>
            </a:r>
            <a:r>
              <a:rPr lang="en-US" b="1" dirty="0"/>
              <a:t>But also includes:</a:t>
            </a:r>
            <a:endParaRPr lang="en-US" dirty="0"/>
          </a:p>
          <a:p>
            <a:pPr marL="0" indent="0">
              <a:buNone/>
            </a:pPr>
            <a:r>
              <a:rPr lang="en-US" dirty="0"/>
              <a:t>(a) </a:t>
            </a:r>
            <a:r>
              <a:rPr lang="en-US" b="1" dirty="0"/>
              <a:t>Bonuses or extra payments</a:t>
            </a:r>
            <a:r>
              <a:rPr lang="en-US" dirty="0"/>
              <a:t> — like festival bonuses or any additional money promised in your job contract.</a:t>
            </a:r>
          </a:p>
          <a:p>
            <a:pPr marL="0" indent="0">
              <a:buNone/>
            </a:pPr>
            <a:r>
              <a:rPr lang="en-US" dirty="0"/>
              <a:t>(b) </a:t>
            </a:r>
            <a:r>
              <a:rPr lang="en-US" b="1" dirty="0"/>
              <a:t>Payment for leave, holidays, or overtime</a:t>
            </a:r>
            <a:r>
              <a:rPr lang="en-US" dirty="0"/>
              <a:t> — so if you worked extra hours or took paid leave, that money counts as wages too.</a:t>
            </a:r>
          </a:p>
          <a:p>
            <a:pPr marL="0" indent="0">
              <a:buNone/>
            </a:pPr>
            <a:r>
              <a:rPr lang="en-US" dirty="0"/>
              <a:t>(c) </a:t>
            </a:r>
            <a:r>
              <a:rPr lang="en-US" b="1" dirty="0"/>
              <a:t>Payments ordered by court or agreements</a:t>
            </a:r>
            <a:r>
              <a:rPr lang="en-US" dirty="0"/>
              <a:t> — for example, if a labor court orders your employer to pay you some extra amount, that’s part of wages.</a:t>
            </a:r>
          </a:p>
          <a:p>
            <a:pPr marL="0" indent="0">
              <a:buNone/>
            </a:pPr>
            <a:r>
              <a:rPr lang="en-US" dirty="0"/>
              <a:t>(d) </a:t>
            </a:r>
            <a:r>
              <a:rPr lang="en-US" b="1" dirty="0"/>
              <a:t>Termination dues</a:t>
            </a:r>
            <a:r>
              <a:rPr lang="en-US" dirty="0"/>
              <a:t> — any money you get when you leave the job, no matter why (retirement, resignation, dismissal, etc.).</a:t>
            </a:r>
          </a:p>
          <a:p>
            <a:pPr marL="0" indent="0">
              <a:buNone/>
            </a:pPr>
            <a:r>
              <a:rPr lang="en-US" dirty="0"/>
              <a:t>(e) </a:t>
            </a:r>
            <a:r>
              <a:rPr lang="en-US" b="1" dirty="0"/>
              <a:t>Lay-off or suspension pay</a:t>
            </a:r>
            <a:r>
              <a:rPr lang="en-US" dirty="0"/>
              <a:t> — money paid if your work is temporarily stopped or you’re suspended.</a:t>
            </a:r>
          </a:p>
          <a:p>
            <a:pPr marL="0" indent="0">
              <a:buNone/>
            </a:pPr>
            <a:endParaRPr lang="en-US" dirty="0"/>
          </a:p>
        </p:txBody>
      </p:sp>
      <p:sp>
        <p:nvSpPr>
          <p:cNvPr id="2" name="Title 1">
            <a:extLst>
              <a:ext uri="{FF2B5EF4-FFF2-40B4-BE49-F238E27FC236}">
                <a16:creationId xmlns:a16="http://schemas.microsoft.com/office/drawing/2014/main" id="{0B58FB6D-A293-4757-7902-7BB4EB2BE25D}"/>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120. Definition of Wage</a:t>
            </a:r>
          </a:p>
        </p:txBody>
      </p:sp>
    </p:spTree>
    <p:extLst>
      <p:ext uri="{BB962C8B-B14F-4D97-AF65-F5344CB8AC3E}">
        <p14:creationId xmlns:p14="http://schemas.microsoft.com/office/powerpoint/2010/main" val="14340752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99B94-0FEA-CD3C-1974-F67358BB0DB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AEA302-1367-14F3-7AF1-D3E369A20B12}"/>
              </a:ext>
            </a:extLst>
          </p:cNvPr>
          <p:cNvSpPr>
            <a:spLocks noGrp="1"/>
          </p:cNvSpPr>
          <p:nvPr>
            <p:ph idx="1"/>
          </p:nvPr>
        </p:nvSpPr>
        <p:spPr>
          <a:xfrm>
            <a:off x="753979" y="1351320"/>
            <a:ext cx="10515600" cy="5097605"/>
          </a:xfrm>
        </p:spPr>
        <p:txBody>
          <a:bodyPr>
            <a:normAutofit/>
          </a:bodyPr>
          <a:lstStyle/>
          <a:p>
            <a:pPr marL="0" indent="0">
              <a:buNone/>
            </a:pPr>
            <a:r>
              <a:rPr lang="en-US" dirty="0"/>
              <a:t>1️⃣ </a:t>
            </a:r>
            <a:r>
              <a:rPr lang="en-US" b="1" dirty="0"/>
              <a:t>Regular payment</a:t>
            </a:r>
            <a:br>
              <a:rPr lang="en-US" dirty="0"/>
            </a:br>
            <a:r>
              <a:rPr lang="en-US" dirty="0"/>
              <a:t>Workers must receive their wages </a:t>
            </a:r>
            <a:r>
              <a:rPr lang="en-US" b="1" dirty="0"/>
              <a:t>within 7 working days</a:t>
            </a:r>
            <a:r>
              <a:rPr lang="en-US" dirty="0"/>
              <a:t> after the last day of each wage period (for example, if the month ends on June 30, they must be paid by July 7).</a:t>
            </a:r>
          </a:p>
          <a:p>
            <a:pPr marL="0" indent="0">
              <a:buNone/>
            </a:pPr>
            <a:r>
              <a:rPr lang="en-US" dirty="0"/>
              <a:t>2️⃣ </a:t>
            </a:r>
            <a:r>
              <a:rPr lang="en-US" b="1" dirty="0"/>
              <a:t>Payment after leaving a job</a:t>
            </a:r>
            <a:br>
              <a:rPr lang="en-US" dirty="0"/>
            </a:br>
            <a:r>
              <a:rPr lang="en-US" dirty="0"/>
              <a:t>If a worker leaves — whether by retirement, retrenchment, dismissal, or resignation — they must be paid </a:t>
            </a:r>
            <a:r>
              <a:rPr lang="en-US" b="1" dirty="0"/>
              <a:t>within 30 working days</a:t>
            </a:r>
            <a:r>
              <a:rPr lang="en-US" dirty="0"/>
              <a:t> of leaving. This helps ensure they don’t have to chase the employer for their dues.</a:t>
            </a:r>
          </a:p>
          <a:p>
            <a:pPr marL="0" indent="0">
              <a:buNone/>
            </a:pPr>
            <a:r>
              <a:rPr lang="en-US" dirty="0"/>
              <a:t>3️⃣ </a:t>
            </a:r>
            <a:r>
              <a:rPr lang="en-US" b="1" dirty="0"/>
              <a:t>On a working day</a:t>
            </a:r>
            <a:br>
              <a:rPr lang="en-US" dirty="0"/>
            </a:br>
            <a:r>
              <a:rPr lang="en-US" dirty="0"/>
              <a:t>All wages must be paid </a:t>
            </a:r>
            <a:r>
              <a:rPr lang="en-US" b="1" dirty="0"/>
              <a:t>on a working day</a:t>
            </a:r>
            <a:r>
              <a:rPr lang="en-US" dirty="0"/>
              <a:t> (so workers don’t need to come to the factory on a holiday just to collect money).</a:t>
            </a:r>
          </a:p>
          <a:p>
            <a:pPr marL="0" indent="0">
              <a:buNone/>
            </a:pPr>
            <a:endParaRPr lang="en-US" dirty="0"/>
          </a:p>
        </p:txBody>
      </p:sp>
      <p:sp>
        <p:nvSpPr>
          <p:cNvPr id="2" name="Title 1">
            <a:extLst>
              <a:ext uri="{FF2B5EF4-FFF2-40B4-BE49-F238E27FC236}">
                <a16:creationId xmlns:a16="http://schemas.microsoft.com/office/drawing/2014/main" id="{474F83CC-DE8C-3B38-5543-E2DF7DC23A75}"/>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123. Time of payment of wages</a:t>
            </a:r>
          </a:p>
        </p:txBody>
      </p:sp>
    </p:spTree>
    <p:extLst>
      <p:ext uri="{BB962C8B-B14F-4D97-AF65-F5344CB8AC3E}">
        <p14:creationId xmlns:p14="http://schemas.microsoft.com/office/powerpoint/2010/main" val="203669773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62386-980B-E89C-DD72-AE6BD942911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904A8-6749-0FD6-994E-704799A27608}"/>
              </a:ext>
            </a:extLst>
          </p:cNvPr>
          <p:cNvSpPr>
            <a:spLocks noGrp="1"/>
          </p:cNvSpPr>
          <p:nvPr>
            <p:ph idx="1"/>
          </p:nvPr>
        </p:nvSpPr>
        <p:spPr>
          <a:xfrm>
            <a:off x="753979" y="1351320"/>
            <a:ext cx="10515600" cy="5097605"/>
          </a:xfrm>
        </p:spPr>
        <p:txBody>
          <a:bodyPr>
            <a:normAutofit/>
          </a:bodyPr>
          <a:lstStyle/>
          <a:p>
            <a:pPr marL="0" indent="0">
              <a:buNone/>
            </a:pPr>
            <a:r>
              <a:rPr lang="en-US" dirty="0"/>
              <a:t>1️⃣ </a:t>
            </a:r>
            <a:r>
              <a:rPr lang="en-US" b="1" dirty="0"/>
              <a:t>Fines</a:t>
            </a:r>
            <a:r>
              <a:rPr lang="en-US" dirty="0"/>
              <a:t> — Only if properly imposed (e.g., for breaking rules under section 25).</a:t>
            </a:r>
            <a:br>
              <a:rPr lang="en-US" dirty="0"/>
            </a:br>
            <a:r>
              <a:rPr lang="en-US" dirty="0"/>
              <a:t>2️⃣ </a:t>
            </a:r>
            <a:r>
              <a:rPr lang="en-US" b="1" dirty="0"/>
              <a:t>Unauthorized absence</a:t>
            </a:r>
            <a:r>
              <a:rPr lang="en-US" dirty="0"/>
              <a:t> — If you skip work without permission, your pay can be cut for those days.</a:t>
            </a:r>
            <a:br>
              <a:rPr lang="en-US" dirty="0"/>
            </a:br>
            <a:r>
              <a:rPr lang="en-US" dirty="0"/>
              <a:t>3️⃣ </a:t>
            </a:r>
            <a:r>
              <a:rPr lang="en-US" b="1" dirty="0"/>
              <a:t>Damage or loss</a:t>
            </a:r>
            <a:r>
              <a:rPr lang="en-US" dirty="0"/>
              <a:t> — If you damage or lose goods/money due to your own negligence, you can be charged.</a:t>
            </a:r>
            <a:br>
              <a:rPr lang="en-US" dirty="0"/>
            </a:br>
            <a:r>
              <a:rPr lang="en-US" dirty="0"/>
              <a:t>4️⃣ </a:t>
            </a:r>
            <a:r>
              <a:rPr lang="en-US" b="1" dirty="0"/>
              <a:t>House rent</a:t>
            </a:r>
            <a:r>
              <a:rPr lang="en-US" dirty="0"/>
              <a:t> — If you live in company-provided housing.</a:t>
            </a:r>
            <a:br>
              <a:rPr lang="en-US" dirty="0"/>
            </a:br>
            <a:r>
              <a:rPr lang="en-US" dirty="0"/>
              <a:t>5️⃣ </a:t>
            </a:r>
            <a:r>
              <a:rPr lang="en-US" b="1" dirty="0"/>
              <a:t>Facilities/services</a:t>
            </a:r>
            <a:r>
              <a:rPr lang="en-US" dirty="0"/>
              <a:t> — For approved facilities (not raw materials or work equipment).</a:t>
            </a:r>
          </a:p>
          <a:p>
            <a:pPr marL="0" indent="0">
              <a:buNone/>
            </a:pPr>
            <a:r>
              <a:rPr lang="en-US" dirty="0"/>
              <a:t>6️⃣ </a:t>
            </a:r>
            <a:r>
              <a:rPr lang="en-US" b="1" dirty="0"/>
              <a:t>Advance repayments</a:t>
            </a:r>
            <a:r>
              <a:rPr lang="en-US" dirty="0"/>
              <a:t> — If you took loans or wage advances.</a:t>
            </a:r>
            <a:br>
              <a:rPr lang="en-US" dirty="0"/>
            </a:br>
            <a:r>
              <a:rPr lang="en-US" dirty="0"/>
              <a:t>7️⃣ </a:t>
            </a:r>
            <a:r>
              <a:rPr lang="en-US" b="1" dirty="0"/>
              <a:t>Income tax</a:t>
            </a:r>
            <a:r>
              <a:rPr lang="en-US" dirty="0"/>
              <a:t> — Deducted as per law.</a:t>
            </a:r>
          </a:p>
        </p:txBody>
      </p:sp>
      <p:sp>
        <p:nvSpPr>
          <p:cNvPr id="2" name="Title 1">
            <a:extLst>
              <a:ext uri="{FF2B5EF4-FFF2-40B4-BE49-F238E27FC236}">
                <a16:creationId xmlns:a16="http://schemas.microsoft.com/office/drawing/2014/main" id="{6E456E7C-CAC6-0419-146D-9A3EFC2A901E}"/>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125. Deductions from wages</a:t>
            </a:r>
          </a:p>
        </p:txBody>
      </p:sp>
    </p:spTree>
    <p:extLst>
      <p:ext uri="{BB962C8B-B14F-4D97-AF65-F5344CB8AC3E}">
        <p14:creationId xmlns:p14="http://schemas.microsoft.com/office/powerpoint/2010/main" val="4502193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FE000-8D96-E1DE-E0B2-36FB7AC33FD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AF0877-C24C-72E2-8A53-F31F1ADB63D8}"/>
              </a:ext>
            </a:extLst>
          </p:cNvPr>
          <p:cNvSpPr>
            <a:spLocks noGrp="1"/>
          </p:cNvSpPr>
          <p:nvPr>
            <p:ph idx="1"/>
          </p:nvPr>
        </p:nvSpPr>
        <p:spPr>
          <a:xfrm>
            <a:off x="753979" y="1351320"/>
            <a:ext cx="10515600" cy="5097605"/>
          </a:xfrm>
        </p:spPr>
        <p:txBody>
          <a:bodyPr>
            <a:normAutofit/>
          </a:bodyPr>
          <a:lstStyle/>
          <a:p>
            <a:pPr marL="0" indent="0">
              <a:buNone/>
            </a:pPr>
            <a:r>
              <a:rPr lang="en-US" dirty="0"/>
              <a:t>8️⃣ </a:t>
            </a:r>
            <a:r>
              <a:rPr lang="en-US" b="1" dirty="0"/>
              <a:t>Court orders</a:t>
            </a:r>
            <a:r>
              <a:rPr lang="en-US" dirty="0"/>
              <a:t> — For example, if a court says money must be deducted for maintenance payments.</a:t>
            </a:r>
            <a:br>
              <a:rPr lang="en-US" dirty="0"/>
            </a:br>
            <a:r>
              <a:rPr lang="en-US" dirty="0"/>
              <a:t>9️⃣ </a:t>
            </a:r>
            <a:r>
              <a:rPr lang="en-US" b="1" dirty="0"/>
              <a:t>Provident fund contributions</a:t>
            </a:r>
            <a:r>
              <a:rPr lang="en-US" dirty="0"/>
              <a:t> — For retirement savings or government-approved funds.</a:t>
            </a:r>
            <a:br>
              <a:rPr lang="en-US" dirty="0"/>
            </a:br>
            <a:r>
              <a:rPr lang="en-US" dirty="0"/>
              <a:t>🔟 </a:t>
            </a:r>
            <a:r>
              <a:rPr lang="en-US" b="1" dirty="0"/>
              <a:t>Co-operative societies or insurance</a:t>
            </a:r>
            <a:r>
              <a:rPr lang="en-US" dirty="0"/>
              <a:t> — Approved deductions for schemes or savings.</a:t>
            </a:r>
            <a:br>
              <a:rPr lang="en-US" dirty="0"/>
            </a:br>
            <a:r>
              <a:rPr lang="en-US" dirty="0"/>
              <a:t>1️⃣1️⃣ </a:t>
            </a:r>
            <a:r>
              <a:rPr lang="en-US" b="1" dirty="0"/>
              <a:t>Voluntary welfare contributions</a:t>
            </a:r>
            <a:r>
              <a:rPr lang="en-US" dirty="0"/>
              <a:t> — If you give written consent to contribute to welfare funds.</a:t>
            </a:r>
            <a:br>
              <a:rPr lang="en-US" dirty="0"/>
            </a:br>
            <a:r>
              <a:rPr lang="en-US" dirty="0"/>
              <a:t>1️⃣2️⃣ </a:t>
            </a:r>
            <a:r>
              <a:rPr lang="en-US" b="1" dirty="0"/>
              <a:t>Union subscriptions</a:t>
            </a:r>
            <a:r>
              <a:rPr lang="en-US" dirty="0"/>
              <a:t> — For Collective Bargaining Agent (CBA) unions via the check-off system.</a:t>
            </a:r>
          </a:p>
        </p:txBody>
      </p:sp>
      <p:sp>
        <p:nvSpPr>
          <p:cNvPr id="2" name="Title 1">
            <a:extLst>
              <a:ext uri="{FF2B5EF4-FFF2-40B4-BE49-F238E27FC236}">
                <a16:creationId xmlns:a16="http://schemas.microsoft.com/office/drawing/2014/main" id="{4EF4C88C-AE89-931F-D177-B5359BB9F34D}"/>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125. Deductions from wages…</a:t>
            </a:r>
          </a:p>
        </p:txBody>
      </p:sp>
    </p:spTree>
    <p:extLst>
      <p:ext uri="{BB962C8B-B14F-4D97-AF65-F5344CB8AC3E}">
        <p14:creationId xmlns:p14="http://schemas.microsoft.com/office/powerpoint/2010/main" val="165548095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1C6A1-F3E0-7D4A-1C33-36D15FC3EB8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944E38-6B2B-83B5-E0F8-4943753980A6}"/>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When the employer MUST pay compensation</a:t>
            </a:r>
            <a:endParaRPr lang="en-US" dirty="0"/>
          </a:p>
          <a:p>
            <a:pPr marL="0" indent="0">
              <a:buNone/>
            </a:pPr>
            <a:r>
              <a:rPr lang="en-US" dirty="0"/>
              <a:t>👉 If a worker gets hurt in an accident </a:t>
            </a:r>
            <a:r>
              <a:rPr lang="en-US" b="1" dirty="0"/>
              <a:t>arising out of or during work</a:t>
            </a:r>
            <a:r>
              <a:rPr lang="en-US" dirty="0"/>
              <a:t>, the employer is </a:t>
            </a:r>
            <a:r>
              <a:rPr lang="en-US" b="1" dirty="0"/>
              <a:t>legally bound</a:t>
            </a:r>
            <a:r>
              <a:rPr lang="en-US" dirty="0"/>
              <a:t> to pay compensation.</a:t>
            </a:r>
          </a:p>
          <a:p>
            <a:pPr marL="0" indent="0">
              <a:buNone/>
            </a:pPr>
            <a:r>
              <a:rPr lang="en-US" dirty="0"/>
              <a:t>✅ </a:t>
            </a:r>
            <a:r>
              <a:rPr lang="en-US" b="1" dirty="0"/>
              <a:t>When the employer does NOT have to pay</a:t>
            </a:r>
            <a:br>
              <a:rPr lang="en-US" dirty="0"/>
            </a:br>
            <a:r>
              <a:rPr lang="en-US" dirty="0"/>
              <a:t>❌ If the injury happened because the worker was drunk or on drugs.</a:t>
            </a:r>
            <a:br>
              <a:rPr lang="en-US" dirty="0"/>
            </a:br>
            <a:r>
              <a:rPr lang="en-US" dirty="0"/>
              <a:t>❌ If the worker </a:t>
            </a:r>
            <a:r>
              <a:rPr lang="en-US" b="1" dirty="0"/>
              <a:t>disobeyed safety rules or orders</a:t>
            </a:r>
            <a:r>
              <a:rPr lang="en-US" dirty="0"/>
              <a:t> on purpose.</a:t>
            </a:r>
            <a:br>
              <a:rPr lang="en-US" dirty="0"/>
            </a:br>
            <a:r>
              <a:rPr lang="en-US" dirty="0"/>
              <a:t>❌ If the worker </a:t>
            </a:r>
            <a:r>
              <a:rPr lang="en-US" b="1" dirty="0"/>
              <a:t>removed or ignored safety guards or devices</a:t>
            </a:r>
            <a:r>
              <a:rPr lang="en-US" dirty="0"/>
              <a:t> intentionally.</a:t>
            </a:r>
          </a:p>
          <a:p>
            <a:pPr marL="0" indent="0">
              <a:buNone/>
            </a:pPr>
            <a:endParaRPr lang="en-US" dirty="0"/>
          </a:p>
        </p:txBody>
      </p:sp>
      <p:sp>
        <p:nvSpPr>
          <p:cNvPr id="2" name="Title 1">
            <a:extLst>
              <a:ext uri="{FF2B5EF4-FFF2-40B4-BE49-F238E27FC236}">
                <a16:creationId xmlns:a16="http://schemas.microsoft.com/office/drawing/2014/main" id="{350CB385-FF85-56BC-90EB-78EF5E0D9962}"/>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150 Liability of employer to pay compensation</a:t>
            </a:r>
          </a:p>
        </p:txBody>
      </p:sp>
    </p:spTree>
    <p:extLst>
      <p:ext uri="{BB962C8B-B14F-4D97-AF65-F5344CB8AC3E}">
        <p14:creationId xmlns:p14="http://schemas.microsoft.com/office/powerpoint/2010/main" val="26292666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5100D-8367-1932-9A79-8725F06F84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B3D413-3A46-5002-75BB-F70DF615CB5B}"/>
              </a:ext>
            </a:extLst>
          </p:cNvPr>
          <p:cNvSpPr>
            <a:spLocks noGrp="1"/>
          </p:cNvSpPr>
          <p:nvPr>
            <p:ph idx="1"/>
          </p:nvPr>
        </p:nvSpPr>
        <p:spPr>
          <a:xfrm>
            <a:off x="753979" y="1351320"/>
            <a:ext cx="10515600" cy="5097605"/>
          </a:xfrm>
        </p:spPr>
        <p:txBody>
          <a:bodyPr>
            <a:normAutofit lnSpcReduction="10000"/>
          </a:bodyPr>
          <a:lstStyle/>
          <a:p>
            <a:pPr marL="0" indent="0">
              <a:buNone/>
            </a:pPr>
            <a:r>
              <a:rPr lang="en-US" dirty="0"/>
              <a:t>✅ </a:t>
            </a:r>
            <a:r>
              <a:rPr lang="en-US" b="1" dirty="0"/>
              <a:t>Who can form a trade union?</a:t>
            </a:r>
            <a:endParaRPr lang="en-US" dirty="0"/>
          </a:p>
          <a:p>
            <a:pPr marL="0" indent="0">
              <a:buNone/>
            </a:pPr>
            <a:r>
              <a:rPr lang="en-US" dirty="0"/>
              <a:t>1️⃣ </a:t>
            </a:r>
            <a:r>
              <a:rPr lang="en-US" b="1" dirty="0"/>
              <a:t>Workers</a:t>
            </a:r>
            <a:r>
              <a:rPr lang="en-US" dirty="0"/>
              <a:t> — All workers can form a trade union to:</a:t>
            </a:r>
          </a:p>
          <a:p>
            <a:r>
              <a:rPr lang="en-US" dirty="0"/>
              <a:t>Discuss and improve relationships between </a:t>
            </a:r>
            <a:r>
              <a:rPr lang="en-US" b="1" dirty="0"/>
              <a:t>workers and employers</a:t>
            </a:r>
            <a:r>
              <a:rPr lang="en-US" dirty="0"/>
              <a:t> (for example, salary negotiations, safety issues).</a:t>
            </a:r>
          </a:p>
          <a:p>
            <a:r>
              <a:rPr lang="en-US" dirty="0"/>
              <a:t>Work out relations among </a:t>
            </a:r>
            <a:r>
              <a:rPr lang="en-US" b="1" dirty="0"/>
              <a:t>workers themselves</a:t>
            </a:r>
            <a:r>
              <a:rPr lang="en-US" dirty="0"/>
              <a:t>.</a:t>
            </a:r>
          </a:p>
          <a:p>
            <a:r>
              <a:rPr lang="en-US" dirty="0"/>
              <a:t>Join any union of their choice (as long as it matches the union’s constitution).</a:t>
            </a:r>
          </a:p>
          <a:p>
            <a:pPr marL="0" indent="0">
              <a:buNone/>
            </a:pPr>
            <a:r>
              <a:rPr lang="en-US" dirty="0"/>
              <a:t>2️⃣ </a:t>
            </a:r>
            <a:r>
              <a:rPr lang="en-US" b="1" dirty="0"/>
              <a:t>Employers</a:t>
            </a:r>
            <a:r>
              <a:rPr lang="en-US" dirty="0"/>
              <a:t> — Employers can also form trade unions to:</a:t>
            </a:r>
          </a:p>
          <a:p>
            <a:r>
              <a:rPr lang="en-US" dirty="0"/>
              <a:t>Manage relationships with workers.</a:t>
            </a:r>
          </a:p>
          <a:p>
            <a:r>
              <a:rPr lang="en-US" dirty="0"/>
              <a:t>Coordinate among employers.</a:t>
            </a:r>
          </a:p>
          <a:p>
            <a:r>
              <a:rPr lang="en-US" dirty="0"/>
              <a:t>Join any union they like.</a:t>
            </a:r>
          </a:p>
          <a:p>
            <a:pPr marL="0" indent="0">
              <a:buNone/>
            </a:pPr>
            <a:endParaRPr lang="en-US" dirty="0"/>
          </a:p>
        </p:txBody>
      </p:sp>
      <p:sp>
        <p:nvSpPr>
          <p:cNvPr id="2" name="Title 1">
            <a:extLst>
              <a:ext uri="{FF2B5EF4-FFF2-40B4-BE49-F238E27FC236}">
                <a16:creationId xmlns:a16="http://schemas.microsoft.com/office/drawing/2014/main" id="{17D1D7F9-8EB9-41CD-201F-B6DE6027E60A}"/>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176. Trade unions and workers</a:t>
            </a:r>
          </a:p>
        </p:txBody>
      </p:sp>
    </p:spTree>
    <p:extLst>
      <p:ext uri="{BB962C8B-B14F-4D97-AF65-F5344CB8AC3E}">
        <p14:creationId xmlns:p14="http://schemas.microsoft.com/office/powerpoint/2010/main" val="200812079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31055-FC24-9C92-78F2-2214BD74A29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F836BD-9358-8A27-B6AF-916614EEC228}"/>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What else can they do?</a:t>
            </a:r>
            <a:endParaRPr lang="en-US" dirty="0"/>
          </a:p>
          <a:p>
            <a:pPr marL="0" indent="0">
              <a:buNone/>
            </a:pPr>
            <a:r>
              <a:rPr lang="en-US" dirty="0"/>
              <a:t>3️⃣ Both workers’ and employers’ trade unions can:</a:t>
            </a:r>
          </a:p>
          <a:p>
            <a:r>
              <a:rPr lang="en-US" dirty="0"/>
              <a:t>Form and join </a:t>
            </a:r>
            <a:r>
              <a:rPr lang="en-US" b="1" dirty="0"/>
              <a:t>federations</a:t>
            </a:r>
            <a:r>
              <a:rPr lang="en-US" dirty="0"/>
              <a:t> (larger groups of unions).</a:t>
            </a:r>
          </a:p>
          <a:p>
            <a:r>
              <a:rPr lang="en-US" dirty="0"/>
              <a:t>Affiliate (connect) with </a:t>
            </a:r>
            <a:r>
              <a:rPr lang="en-US" b="1" dirty="0"/>
              <a:t>international organizations</a:t>
            </a:r>
            <a:r>
              <a:rPr lang="en-US" dirty="0"/>
              <a:t> to strengthen their influence.</a:t>
            </a:r>
          </a:p>
          <a:p>
            <a:pPr marL="0" indent="0">
              <a:buNone/>
            </a:pPr>
            <a:r>
              <a:rPr lang="en-US" dirty="0"/>
              <a:t>4️⃣ Trade unions and employers' associations have the freedom to:</a:t>
            </a:r>
          </a:p>
          <a:p>
            <a:r>
              <a:rPr lang="en-US" dirty="0"/>
              <a:t>Make their own </a:t>
            </a:r>
            <a:r>
              <a:rPr lang="en-US" b="1" dirty="0"/>
              <a:t>constitution and rules</a:t>
            </a:r>
            <a:r>
              <a:rPr lang="en-US" dirty="0"/>
              <a:t>.</a:t>
            </a:r>
          </a:p>
          <a:p>
            <a:r>
              <a:rPr lang="en-US" dirty="0"/>
              <a:t>Elect their own </a:t>
            </a:r>
            <a:r>
              <a:rPr lang="en-US" b="1" dirty="0"/>
              <a:t>leaders independently</a:t>
            </a:r>
            <a:r>
              <a:rPr lang="en-US" dirty="0"/>
              <a:t>.</a:t>
            </a:r>
          </a:p>
          <a:p>
            <a:r>
              <a:rPr lang="en-US" dirty="0"/>
              <a:t>Organize their activities and run their own programs without outside interference.</a:t>
            </a:r>
          </a:p>
          <a:p>
            <a:pPr marL="0" indent="0">
              <a:buNone/>
            </a:pPr>
            <a:endParaRPr lang="en-US" dirty="0"/>
          </a:p>
        </p:txBody>
      </p:sp>
      <p:sp>
        <p:nvSpPr>
          <p:cNvPr id="2" name="Title 1">
            <a:extLst>
              <a:ext uri="{FF2B5EF4-FFF2-40B4-BE49-F238E27FC236}">
                <a16:creationId xmlns:a16="http://schemas.microsoft.com/office/drawing/2014/main" id="{6482806F-5805-DE3F-1788-83E88708E91C}"/>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176. Trade unions and workers…</a:t>
            </a:r>
          </a:p>
        </p:txBody>
      </p:sp>
    </p:spTree>
    <p:extLst>
      <p:ext uri="{BB962C8B-B14F-4D97-AF65-F5344CB8AC3E}">
        <p14:creationId xmlns:p14="http://schemas.microsoft.com/office/powerpoint/2010/main" val="375260863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C09F5-FD93-DF0E-2D04-EF048476476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BE851B-4250-245A-236D-594D57C3B2F1}"/>
              </a:ext>
            </a:extLst>
          </p:cNvPr>
          <p:cNvSpPr>
            <a:spLocks noGrp="1"/>
          </p:cNvSpPr>
          <p:nvPr>
            <p:ph idx="1"/>
          </p:nvPr>
        </p:nvSpPr>
        <p:spPr>
          <a:xfrm>
            <a:off x="753979" y="1351320"/>
            <a:ext cx="10515600" cy="5097605"/>
          </a:xfrm>
        </p:spPr>
        <p:txBody>
          <a:bodyPr>
            <a:normAutofit/>
          </a:bodyPr>
          <a:lstStyle/>
          <a:p>
            <a:pPr marL="0" indent="0">
              <a:buNone/>
            </a:pPr>
            <a:r>
              <a:rPr lang="en-US" dirty="0"/>
              <a:t>✅ </a:t>
            </a:r>
            <a:r>
              <a:rPr lang="en-US" b="1" dirty="0"/>
              <a:t>Key ideas</a:t>
            </a:r>
            <a:endParaRPr lang="en-US" dirty="0"/>
          </a:p>
          <a:p>
            <a:pPr marL="0" indent="0">
              <a:buNone/>
            </a:pPr>
            <a:r>
              <a:rPr lang="en-US" dirty="0"/>
              <a:t>1️⃣ </a:t>
            </a:r>
            <a:r>
              <a:rPr lang="en-US" b="1" dirty="0"/>
              <a:t>Group of establishments = one union</a:t>
            </a:r>
            <a:br>
              <a:rPr lang="en-US" dirty="0"/>
            </a:br>
            <a:r>
              <a:rPr lang="en-US" dirty="0"/>
              <a:t>If different factories or businesses in the </a:t>
            </a:r>
            <a:r>
              <a:rPr lang="en-US" b="1" dirty="0"/>
              <a:t>same area and same industry</a:t>
            </a:r>
            <a:r>
              <a:rPr lang="en-US" dirty="0"/>
              <a:t> want to form a union, they must do it </a:t>
            </a:r>
            <a:r>
              <a:rPr lang="en-US" b="1" dirty="0"/>
              <a:t>together</a:t>
            </a:r>
            <a:r>
              <a:rPr lang="en-US" dirty="0"/>
              <a:t> as one group — they can’t form separate unions in each small factory.</a:t>
            </a:r>
          </a:p>
          <a:p>
            <a:pPr marL="0" indent="0">
              <a:buNone/>
            </a:pPr>
            <a:r>
              <a:rPr lang="en-US" dirty="0"/>
              <a:t>2️⃣ </a:t>
            </a:r>
            <a:r>
              <a:rPr lang="en-US" b="1" dirty="0"/>
              <a:t>What is a “group of establishments”?</a:t>
            </a:r>
            <a:br>
              <a:rPr lang="en-US" dirty="0"/>
            </a:br>
            <a:r>
              <a:rPr lang="en-US" dirty="0"/>
              <a:t>A group means:</a:t>
            </a:r>
          </a:p>
          <a:p>
            <a:r>
              <a:rPr lang="en-US" dirty="0"/>
              <a:t>All factories or businesses in a </a:t>
            </a:r>
            <a:r>
              <a:rPr lang="en-US" b="1" dirty="0"/>
              <a:t>specific area</a:t>
            </a:r>
            <a:r>
              <a:rPr lang="en-US" dirty="0"/>
              <a:t> doing the </a:t>
            </a:r>
            <a:r>
              <a:rPr lang="en-US" b="1" dirty="0"/>
              <a:t>same industry work</a:t>
            </a:r>
            <a:r>
              <a:rPr lang="en-US" dirty="0"/>
              <a:t>.</a:t>
            </a:r>
          </a:p>
          <a:p>
            <a:r>
              <a:rPr lang="en-US" dirty="0"/>
              <a:t>They have at least </a:t>
            </a:r>
            <a:r>
              <a:rPr lang="en-US" b="1" dirty="0"/>
              <a:t>20 workers</a:t>
            </a:r>
            <a:r>
              <a:rPr lang="en-US" dirty="0"/>
              <a:t> in total.</a:t>
            </a:r>
          </a:p>
          <a:p>
            <a:pPr marL="0" indent="0">
              <a:buNone/>
            </a:pPr>
            <a:endParaRPr lang="en-US" dirty="0"/>
          </a:p>
        </p:txBody>
      </p:sp>
      <p:sp>
        <p:nvSpPr>
          <p:cNvPr id="2" name="Title 1">
            <a:extLst>
              <a:ext uri="{FF2B5EF4-FFF2-40B4-BE49-F238E27FC236}">
                <a16:creationId xmlns:a16="http://schemas.microsoft.com/office/drawing/2014/main" id="{CE57FA01-868C-DB8D-BCB3-45011352AB46}"/>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183. Trade unions in group of establishment</a:t>
            </a:r>
          </a:p>
        </p:txBody>
      </p:sp>
    </p:spTree>
    <p:extLst>
      <p:ext uri="{BB962C8B-B14F-4D97-AF65-F5344CB8AC3E}">
        <p14:creationId xmlns:p14="http://schemas.microsoft.com/office/powerpoint/2010/main" val="112485418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5BDC2-32ED-0539-02A0-FC02BAEBBAA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0941A4-D0ED-1DB3-A078-43BB4EF42F95}"/>
              </a:ext>
            </a:extLst>
          </p:cNvPr>
          <p:cNvSpPr>
            <a:spLocks noGrp="1"/>
          </p:cNvSpPr>
          <p:nvPr>
            <p:ph idx="1"/>
          </p:nvPr>
        </p:nvSpPr>
        <p:spPr>
          <a:xfrm>
            <a:off x="753979" y="1351320"/>
            <a:ext cx="10515600" cy="5097605"/>
          </a:xfrm>
        </p:spPr>
        <p:txBody>
          <a:bodyPr>
            <a:normAutofit fontScale="92500" lnSpcReduction="10000"/>
          </a:bodyPr>
          <a:lstStyle/>
          <a:p>
            <a:pPr marL="0" indent="0">
              <a:buNone/>
            </a:pPr>
            <a:r>
              <a:rPr lang="en-US" dirty="0"/>
              <a:t>3️⃣ </a:t>
            </a:r>
            <a:r>
              <a:rPr lang="en-US" b="1" dirty="0"/>
              <a:t>Special industries (even if small) are included</a:t>
            </a:r>
            <a:br>
              <a:rPr lang="en-US" dirty="0"/>
            </a:br>
            <a:r>
              <a:rPr lang="en-US" dirty="0"/>
              <a:t>Some industries can form a group union no matter how many workers they have. Examples:</a:t>
            </a:r>
          </a:p>
          <a:p>
            <a:r>
              <a:rPr lang="en-US" dirty="0"/>
              <a:t>🚛 Road transport (bus, truck, van, rickshaw)</a:t>
            </a:r>
          </a:p>
          <a:p>
            <a:r>
              <a:rPr lang="en-US" dirty="0"/>
              <a:t>🧵 Tailoring or garments with up to 100 workers</a:t>
            </a:r>
          </a:p>
          <a:p>
            <a:r>
              <a:rPr lang="en-US" dirty="0"/>
              <a:t>🍵 Tea industry</a:t>
            </a:r>
          </a:p>
          <a:p>
            <a:r>
              <a:rPr lang="en-US" dirty="0"/>
              <a:t>🩴 Tannery, bidi, handloom, hosiery</a:t>
            </a:r>
          </a:p>
          <a:p>
            <a:r>
              <a:rPr lang="en-US" dirty="0"/>
              <a:t>📚 Printing press, book-binding</a:t>
            </a:r>
          </a:p>
          <a:p>
            <a:r>
              <a:rPr lang="en-US" dirty="0"/>
              <a:t>🏨 Small hotels (max 25 guest rooms), small restaurants</a:t>
            </a:r>
          </a:p>
          <a:p>
            <a:r>
              <a:rPr lang="en-US" dirty="0"/>
              <a:t>🎥 Cinema, theatre</a:t>
            </a:r>
          </a:p>
          <a:p>
            <a:r>
              <a:rPr lang="en-US" dirty="0"/>
              <a:t>🚢 Ship building or recycling</a:t>
            </a:r>
          </a:p>
          <a:p>
            <a:r>
              <a:rPr lang="en-US" dirty="0"/>
              <a:t>👷 Construction, rice mills, agricultural farms</a:t>
            </a:r>
          </a:p>
          <a:p>
            <a:pPr marL="0" indent="0">
              <a:buNone/>
            </a:pPr>
            <a:endParaRPr lang="en-US" dirty="0"/>
          </a:p>
        </p:txBody>
      </p:sp>
      <p:sp>
        <p:nvSpPr>
          <p:cNvPr id="2" name="Title 1">
            <a:extLst>
              <a:ext uri="{FF2B5EF4-FFF2-40B4-BE49-F238E27FC236}">
                <a16:creationId xmlns:a16="http://schemas.microsoft.com/office/drawing/2014/main" id="{553DFBE4-974B-8A92-BBAF-FA55CB3E11B6}"/>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183. Trade unions in group of establishment…</a:t>
            </a:r>
          </a:p>
        </p:txBody>
      </p:sp>
    </p:spTree>
    <p:extLst>
      <p:ext uri="{BB962C8B-B14F-4D97-AF65-F5344CB8AC3E}">
        <p14:creationId xmlns:p14="http://schemas.microsoft.com/office/powerpoint/2010/main" val="119002942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43C05-4DFB-5C39-6E0D-D64ED588703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EB9F0E-5650-D09F-FCFE-565BF4983E2E}"/>
              </a:ext>
            </a:extLst>
          </p:cNvPr>
          <p:cNvSpPr>
            <a:spLocks noGrp="1"/>
          </p:cNvSpPr>
          <p:nvPr>
            <p:ph idx="1"/>
          </p:nvPr>
        </p:nvSpPr>
        <p:spPr>
          <a:xfrm>
            <a:off x="753979" y="1351320"/>
            <a:ext cx="10515600" cy="5097605"/>
          </a:xfrm>
        </p:spPr>
        <p:txBody>
          <a:bodyPr>
            <a:normAutofit/>
          </a:bodyPr>
          <a:lstStyle/>
          <a:p>
            <a:pPr marL="0" indent="0">
              <a:buNone/>
            </a:pPr>
            <a:r>
              <a:rPr lang="en-US" dirty="0"/>
              <a:t>4️⃣ </a:t>
            </a:r>
            <a:r>
              <a:rPr lang="en-US" b="1" dirty="0"/>
              <a:t>Who decides the area?</a:t>
            </a:r>
            <a:br>
              <a:rPr lang="en-US" dirty="0"/>
            </a:br>
            <a:r>
              <a:rPr lang="en-US" dirty="0"/>
              <a:t>The </a:t>
            </a:r>
            <a:r>
              <a:rPr lang="en-US" b="1" dirty="0"/>
              <a:t>government</a:t>
            </a:r>
            <a:r>
              <a:rPr lang="en-US" dirty="0"/>
              <a:t> defines the area by official notice — it can be national, regional, or local.</a:t>
            </a:r>
          </a:p>
          <a:p>
            <a:pPr marL="0" indent="0">
              <a:buNone/>
            </a:pPr>
            <a:r>
              <a:rPr lang="en-US" dirty="0"/>
              <a:t>5️⃣ </a:t>
            </a:r>
            <a:r>
              <a:rPr lang="en-US" b="1" dirty="0"/>
              <a:t>Membership requirement</a:t>
            </a:r>
            <a:br>
              <a:rPr lang="en-US" dirty="0"/>
            </a:br>
            <a:r>
              <a:rPr lang="en-US" dirty="0"/>
              <a:t>A trade union in a group must have at least </a:t>
            </a:r>
            <a:r>
              <a:rPr lang="en-US" b="1" dirty="0"/>
              <a:t>30% of all workers combined</a:t>
            </a:r>
            <a:r>
              <a:rPr lang="en-US" dirty="0"/>
              <a:t> in that group of establishments to be registered.</a:t>
            </a:r>
          </a:p>
          <a:p>
            <a:pPr marL="0" indent="0">
              <a:buNone/>
            </a:pPr>
            <a:r>
              <a:rPr lang="en-US" dirty="0"/>
              <a:t>6️⃣ </a:t>
            </a:r>
            <a:r>
              <a:rPr lang="en-US" b="1" dirty="0"/>
              <a:t>Outside officers allowed (limited)</a:t>
            </a:r>
            <a:br>
              <a:rPr lang="en-US" dirty="0"/>
            </a:br>
            <a:r>
              <a:rPr lang="en-US" dirty="0"/>
              <a:t>A person </a:t>
            </a:r>
            <a:r>
              <a:rPr lang="en-US" b="1" dirty="0"/>
              <a:t>not employed</a:t>
            </a:r>
            <a:r>
              <a:rPr lang="en-US" dirty="0"/>
              <a:t> in any of these factories can still become a union officer — but only up to </a:t>
            </a:r>
            <a:r>
              <a:rPr lang="en-US" b="1" dirty="0"/>
              <a:t>one-fourth</a:t>
            </a:r>
            <a:r>
              <a:rPr lang="en-US" dirty="0"/>
              <a:t> of total officers.</a:t>
            </a:r>
          </a:p>
          <a:p>
            <a:pPr marL="0" indent="0">
              <a:buNone/>
            </a:pPr>
            <a:r>
              <a:rPr lang="en-US" dirty="0"/>
              <a:t>***Trade union’s registration can get cancelled if unfair labor practices prevail.</a:t>
            </a:r>
          </a:p>
          <a:p>
            <a:pPr marL="0" indent="0">
              <a:buNone/>
            </a:pPr>
            <a:endParaRPr lang="en-US" dirty="0"/>
          </a:p>
        </p:txBody>
      </p:sp>
      <p:sp>
        <p:nvSpPr>
          <p:cNvPr id="2" name="Title 1">
            <a:extLst>
              <a:ext uri="{FF2B5EF4-FFF2-40B4-BE49-F238E27FC236}">
                <a16:creationId xmlns:a16="http://schemas.microsoft.com/office/drawing/2014/main" id="{90962654-CC41-BA15-122D-8E0DF1C732B6}"/>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183. Trade unions in group of establishment…</a:t>
            </a:r>
          </a:p>
        </p:txBody>
      </p:sp>
    </p:spTree>
    <p:extLst>
      <p:ext uri="{BB962C8B-B14F-4D97-AF65-F5344CB8AC3E}">
        <p14:creationId xmlns:p14="http://schemas.microsoft.com/office/powerpoint/2010/main" val="47660215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9EAB3-10F8-7D30-C18B-1DB67A325AC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E52E71-6613-3DBE-40CD-3F0E2F468C26}"/>
              </a:ext>
            </a:extLst>
          </p:cNvPr>
          <p:cNvSpPr>
            <a:spLocks noGrp="1"/>
          </p:cNvSpPr>
          <p:nvPr>
            <p:ph idx="1"/>
          </p:nvPr>
        </p:nvSpPr>
        <p:spPr>
          <a:xfrm>
            <a:off x="753979" y="1351320"/>
            <a:ext cx="10515600" cy="5097605"/>
          </a:xfrm>
        </p:spPr>
        <p:txBody>
          <a:bodyPr>
            <a:normAutofit fontScale="85000" lnSpcReduction="20000"/>
          </a:bodyPr>
          <a:lstStyle/>
          <a:p>
            <a:pPr marL="0" indent="0">
              <a:buNone/>
            </a:pPr>
            <a:r>
              <a:rPr lang="en-US" dirty="0"/>
              <a:t>✅ </a:t>
            </a:r>
            <a:r>
              <a:rPr lang="en-US" b="1" dirty="0"/>
              <a:t>Key points</a:t>
            </a:r>
            <a:endParaRPr lang="en-US" dirty="0"/>
          </a:p>
          <a:p>
            <a:pPr marL="0" indent="0">
              <a:buNone/>
            </a:pPr>
            <a:r>
              <a:rPr lang="en-US" dirty="0"/>
              <a:t>1️⃣ </a:t>
            </a:r>
            <a:r>
              <a:rPr lang="en-US" b="1" dirty="0"/>
              <a:t>Freedom to join unions</a:t>
            </a:r>
            <a:br>
              <a:rPr lang="en-US" dirty="0"/>
            </a:br>
            <a:r>
              <a:rPr lang="en-US" dirty="0"/>
              <a:t>Employers </a:t>
            </a:r>
            <a:r>
              <a:rPr lang="en-US" b="1" dirty="0"/>
              <a:t>cannot</a:t>
            </a:r>
            <a:r>
              <a:rPr lang="en-US" dirty="0"/>
              <a:t> force a worker to agree not to join a trade union, or punish them for joining or leaving a union.</a:t>
            </a:r>
          </a:p>
          <a:p>
            <a:pPr marL="0" indent="0">
              <a:buNone/>
            </a:pPr>
            <a:r>
              <a:rPr lang="en-US" dirty="0"/>
              <a:t>2️⃣ </a:t>
            </a:r>
            <a:r>
              <a:rPr lang="en-US" b="1" dirty="0"/>
              <a:t>No discrimination</a:t>
            </a:r>
            <a:br>
              <a:rPr lang="en-US" dirty="0"/>
            </a:br>
            <a:r>
              <a:rPr lang="en-US" dirty="0"/>
              <a:t>Employers </a:t>
            </a:r>
            <a:r>
              <a:rPr lang="en-US" b="1" dirty="0"/>
              <a:t>cannot</a:t>
            </a:r>
            <a:r>
              <a:rPr lang="en-US" dirty="0"/>
              <a:t> hire, fire, promote, or treat a worker badly just because they are (or are not) part of a trade union.</a:t>
            </a:r>
          </a:p>
          <a:p>
            <a:pPr marL="0" indent="0">
              <a:buNone/>
            </a:pPr>
            <a:r>
              <a:rPr lang="en-US" dirty="0"/>
              <a:t>3️⃣ </a:t>
            </a:r>
            <a:r>
              <a:rPr lang="en-US" b="1" dirty="0"/>
              <a:t>No threats or punishments</a:t>
            </a:r>
            <a:br>
              <a:rPr lang="en-US" dirty="0"/>
            </a:br>
            <a:r>
              <a:rPr lang="en-US" dirty="0"/>
              <a:t>Employers </a:t>
            </a:r>
            <a:r>
              <a:rPr lang="en-US" b="1" dirty="0"/>
              <a:t>cannot</a:t>
            </a:r>
            <a:r>
              <a:rPr lang="en-US" dirty="0"/>
              <a:t> threaten to fire someone, actually fire them, or harm them just because they want to join or help form a union.</a:t>
            </a:r>
          </a:p>
          <a:p>
            <a:pPr marL="0" indent="0">
              <a:buNone/>
            </a:pPr>
            <a:r>
              <a:rPr lang="en-US" dirty="0"/>
              <a:t>4️⃣ </a:t>
            </a:r>
            <a:r>
              <a:rPr lang="en-US" b="1" dirty="0"/>
              <a:t>No bribes or tricks</a:t>
            </a:r>
            <a:br>
              <a:rPr lang="en-US" dirty="0"/>
            </a:br>
            <a:r>
              <a:rPr lang="en-US" dirty="0"/>
              <a:t>Employers </a:t>
            </a:r>
            <a:r>
              <a:rPr lang="en-US" b="1" dirty="0"/>
              <a:t>cannot</a:t>
            </a:r>
            <a:r>
              <a:rPr lang="en-US" dirty="0"/>
              <a:t> offer promotions, gifts, or benefits to stop someone from joining or staying in a union.</a:t>
            </a:r>
          </a:p>
          <a:p>
            <a:pPr marL="0" indent="0">
              <a:buNone/>
            </a:pPr>
            <a:r>
              <a:rPr lang="en-US" dirty="0"/>
              <a:t>5️⃣ </a:t>
            </a:r>
            <a:r>
              <a:rPr lang="en-US" b="1" dirty="0"/>
              <a:t>No forcing union leaders</a:t>
            </a:r>
            <a:br>
              <a:rPr lang="en-US" dirty="0"/>
            </a:br>
            <a:r>
              <a:rPr lang="en-US" dirty="0"/>
              <a:t>Employers </a:t>
            </a:r>
            <a:r>
              <a:rPr lang="en-US" b="1" dirty="0"/>
              <a:t>cannot</a:t>
            </a:r>
            <a:r>
              <a:rPr lang="en-US" dirty="0"/>
              <a:t> force union leaders to sign agreements or settlements using threats, confinement, cutting off utilities, or violence.</a:t>
            </a:r>
          </a:p>
          <a:p>
            <a:pPr marL="0" indent="0">
              <a:buNone/>
            </a:pPr>
            <a:endParaRPr lang="en-US" dirty="0"/>
          </a:p>
        </p:txBody>
      </p:sp>
      <p:sp>
        <p:nvSpPr>
          <p:cNvPr id="2" name="Title 1">
            <a:extLst>
              <a:ext uri="{FF2B5EF4-FFF2-40B4-BE49-F238E27FC236}">
                <a16:creationId xmlns:a16="http://schemas.microsoft.com/office/drawing/2014/main" id="{DC75907B-840B-5391-A131-A95F651B6592}"/>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195. Unfair labour practices by employer</a:t>
            </a:r>
          </a:p>
        </p:txBody>
      </p:sp>
    </p:spTree>
    <p:extLst>
      <p:ext uri="{BB962C8B-B14F-4D97-AF65-F5344CB8AC3E}">
        <p14:creationId xmlns:p14="http://schemas.microsoft.com/office/powerpoint/2010/main" val="353153008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22B43-1FF8-4D42-15AB-2E6864D0422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03448E-F3FA-C1D9-591F-EAC7A6589E6E}"/>
              </a:ext>
            </a:extLst>
          </p:cNvPr>
          <p:cNvSpPr>
            <a:spLocks noGrp="1"/>
          </p:cNvSpPr>
          <p:nvPr>
            <p:ph idx="1"/>
          </p:nvPr>
        </p:nvSpPr>
        <p:spPr>
          <a:xfrm>
            <a:off x="753979" y="1351320"/>
            <a:ext cx="10515600" cy="5097605"/>
          </a:xfrm>
        </p:spPr>
        <p:txBody>
          <a:bodyPr>
            <a:normAutofit fontScale="85000" lnSpcReduction="20000"/>
          </a:bodyPr>
          <a:lstStyle/>
          <a:p>
            <a:pPr marL="0" indent="0">
              <a:buNone/>
            </a:pPr>
            <a:r>
              <a:rPr lang="en-US" dirty="0"/>
              <a:t>6️⃣ </a:t>
            </a:r>
            <a:r>
              <a:rPr lang="en-US" b="1" dirty="0"/>
              <a:t>No interference in elections</a:t>
            </a:r>
            <a:br>
              <a:rPr lang="en-US" dirty="0"/>
            </a:br>
            <a:r>
              <a:rPr lang="en-US" dirty="0"/>
              <a:t>Employers </a:t>
            </a:r>
            <a:r>
              <a:rPr lang="en-US" b="1" dirty="0"/>
              <a:t>cannot</a:t>
            </a:r>
            <a:r>
              <a:rPr lang="en-US" dirty="0"/>
              <a:t> interfere with trade union elections.</a:t>
            </a:r>
          </a:p>
          <a:p>
            <a:pPr marL="0" indent="0">
              <a:buNone/>
            </a:pPr>
            <a:r>
              <a:rPr lang="en-US" dirty="0"/>
              <a:t>7️⃣ </a:t>
            </a:r>
            <a:r>
              <a:rPr lang="en-US" b="1" dirty="0"/>
              <a:t>No hiring during legal strikes</a:t>
            </a:r>
            <a:br>
              <a:rPr lang="en-US" dirty="0"/>
            </a:br>
            <a:r>
              <a:rPr lang="en-US" dirty="0"/>
              <a:t>During a legal strike, employers generally </a:t>
            </a:r>
            <a:r>
              <a:rPr lang="en-US" b="1" dirty="0"/>
              <a:t>cannot</a:t>
            </a:r>
            <a:r>
              <a:rPr lang="en-US" dirty="0"/>
              <a:t> hire new workers — unless to prevent serious damage, and even then only with permission.</a:t>
            </a:r>
          </a:p>
          <a:p>
            <a:pPr marL="0" indent="0">
              <a:buNone/>
            </a:pPr>
            <a:r>
              <a:rPr lang="en-US" dirty="0"/>
              <a:t>8️⃣ </a:t>
            </a:r>
            <a:r>
              <a:rPr lang="en-US" b="1" dirty="0"/>
              <a:t>Respect committee advice</a:t>
            </a:r>
            <a:br>
              <a:rPr lang="en-US" dirty="0"/>
            </a:br>
            <a:r>
              <a:rPr lang="en-US" dirty="0"/>
              <a:t>Employers must not ignore the Participation Committee’s recommendations.</a:t>
            </a:r>
          </a:p>
          <a:p>
            <a:pPr marL="0" indent="0">
              <a:buNone/>
            </a:pPr>
            <a:r>
              <a:rPr lang="en-US" dirty="0"/>
              <a:t>9️⃣ </a:t>
            </a:r>
            <a:r>
              <a:rPr lang="en-US" b="1" dirty="0"/>
              <a:t>Must reply to unions</a:t>
            </a:r>
            <a:br>
              <a:rPr lang="en-US" dirty="0"/>
            </a:br>
            <a:r>
              <a:rPr lang="en-US" dirty="0"/>
              <a:t>Employers must respond to official communications from the workers’ union about disputes.</a:t>
            </a:r>
          </a:p>
          <a:p>
            <a:pPr marL="0" indent="0">
              <a:buNone/>
            </a:pPr>
            <a:r>
              <a:rPr lang="en-US" dirty="0"/>
              <a:t>🔟 </a:t>
            </a:r>
            <a:r>
              <a:rPr lang="en-US" b="1" dirty="0"/>
              <a:t>No unfair transfers</a:t>
            </a:r>
            <a:br>
              <a:rPr lang="en-US" dirty="0"/>
            </a:br>
            <a:r>
              <a:rPr lang="en-US" dirty="0"/>
              <a:t>They </a:t>
            </a:r>
            <a:r>
              <a:rPr lang="en-US" b="1" dirty="0"/>
              <a:t>cannot</a:t>
            </a:r>
            <a:r>
              <a:rPr lang="en-US" dirty="0"/>
              <a:t> unfairly transfer key union leaders (like chairman, general secretary, etc.).</a:t>
            </a:r>
          </a:p>
          <a:p>
            <a:pPr marL="0" indent="0">
              <a:buNone/>
            </a:pPr>
            <a:r>
              <a:rPr lang="en-US" dirty="0"/>
              <a:t>1️⃣1️⃣ </a:t>
            </a:r>
            <a:r>
              <a:rPr lang="en-US" b="1" dirty="0"/>
              <a:t>No illegal lock-outs</a:t>
            </a:r>
            <a:br>
              <a:rPr lang="en-US" dirty="0"/>
            </a:br>
            <a:r>
              <a:rPr lang="en-US" dirty="0"/>
              <a:t>Employers </a:t>
            </a:r>
            <a:r>
              <a:rPr lang="en-US" b="1" dirty="0"/>
              <a:t>cannot</a:t>
            </a:r>
            <a:r>
              <a:rPr lang="en-US" dirty="0"/>
              <a:t> start or continue an illegal lock-out (closing the workplace to stop workers).</a:t>
            </a:r>
          </a:p>
          <a:p>
            <a:pPr marL="0" indent="0">
              <a:buNone/>
            </a:pPr>
            <a:endParaRPr lang="en-US" dirty="0"/>
          </a:p>
        </p:txBody>
      </p:sp>
      <p:sp>
        <p:nvSpPr>
          <p:cNvPr id="2" name="Title 1">
            <a:extLst>
              <a:ext uri="{FF2B5EF4-FFF2-40B4-BE49-F238E27FC236}">
                <a16:creationId xmlns:a16="http://schemas.microsoft.com/office/drawing/2014/main" id="{E252B223-86D1-B2A2-7CAE-A73921745DD0}"/>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195. Unfair labour practices by employer…</a:t>
            </a:r>
          </a:p>
        </p:txBody>
      </p:sp>
    </p:spTree>
    <p:extLst>
      <p:ext uri="{BB962C8B-B14F-4D97-AF65-F5344CB8AC3E}">
        <p14:creationId xmlns:p14="http://schemas.microsoft.com/office/powerpoint/2010/main" val="16001426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2E84F-0A23-84C6-A6E0-951EDF84F24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2BF14C-F9D9-EABA-CE4B-03CC50724FA6}"/>
              </a:ext>
            </a:extLst>
          </p:cNvPr>
          <p:cNvSpPr>
            <a:spLocks noGrp="1"/>
          </p:cNvSpPr>
          <p:nvPr>
            <p:ph idx="1"/>
          </p:nvPr>
        </p:nvSpPr>
        <p:spPr>
          <a:xfrm>
            <a:off x="753979" y="1351320"/>
            <a:ext cx="10515600" cy="5097605"/>
          </a:xfrm>
        </p:spPr>
        <p:txBody>
          <a:bodyPr>
            <a:normAutofit fontScale="92500" lnSpcReduction="20000"/>
          </a:bodyPr>
          <a:lstStyle/>
          <a:p>
            <a:pPr marL="0" indent="0">
              <a:buNone/>
            </a:pPr>
            <a:r>
              <a:rPr lang="en-US" dirty="0"/>
              <a:t>✅ </a:t>
            </a:r>
            <a:r>
              <a:rPr lang="en-US" b="1" dirty="0"/>
              <a:t>Key points</a:t>
            </a:r>
            <a:endParaRPr lang="en-US" dirty="0"/>
          </a:p>
          <a:p>
            <a:pPr marL="0" indent="0">
              <a:buNone/>
            </a:pPr>
            <a:r>
              <a:rPr lang="en-US" dirty="0"/>
              <a:t>1️⃣ </a:t>
            </a:r>
            <a:r>
              <a:rPr lang="en-US" b="1" dirty="0"/>
              <a:t>No union work during work hours (without permission)</a:t>
            </a:r>
            <a:br>
              <a:rPr lang="en-US" dirty="0"/>
            </a:br>
            <a:r>
              <a:rPr lang="en-US" dirty="0"/>
              <a:t>Workers </a:t>
            </a:r>
            <a:r>
              <a:rPr lang="en-US" b="1" dirty="0"/>
              <a:t>cannot</a:t>
            </a:r>
            <a:r>
              <a:rPr lang="en-US" dirty="0"/>
              <a:t> do trade union activities during working hours unless the employer allows it.</a:t>
            </a:r>
            <a:br>
              <a:rPr lang="en-US" dirty="0"/>
            </a:br>
            <a:r>
              <a:rPr lang="en-US" dirty="0"/>
              <a:t>👉 </a:t>
            </a:r>
            <a:r>
              <a:rPr lang="en-US" i="1" dirty="0"/>
              <a:t>Exception</a:t>
            </a:r>
            <a:r>
              <a:rPr lang="en-US" dirty="0"/>
              <a:t>: The </a:t>
            </a:r>
            <a:r>
              <a:rPr lang="en-US" b="1" dirty="0"/>
              <a:t>Chairman or General Secretary</a:t>
            </a:r>
            <a:r>
              <a:rPr lang="en-US" dirty="0"/>
              <a:t> of the main union (CBA) can do union work related to committees, negotiations, or legal matters — but they must inform the employer first.</a:t>
            </a:r>
          </a:p>
          <a:p>
            <a:pPr marL="0" indent="0">
              <a:buNone/>
            </a:pPr>
            <a:r>
              <a:rPr lang="en-US" dirty="0"/>
              <a:t>2️⃣ </a:t>
            </a:r>
            <a:r>
              <a:rPr lang="en-US" b="1" dirty="0"/>
              <a:t>No threats or force</a:t>
            </a:r>
            <a:br>
              <a:rPr lang="en-US" dirty="0"/>
            </a:br>
            <a:r>
              <a:rPr lang="en-US" dirty="0"/>
              <a:t>Workers or unions </a:t>
            </a:r>
            <a:r>
              <a:rPr lang="en-US" b="1" dirty="0"/>
              <a:t>cannot</a:t>
            </a:r>
            <a:r>
              <a:rPr lang="en-US" dirty="0"/>
              <a:t> threaten or intimidate anyone to join or leave a union or to stay in or leave a leadership position.</a:t>
            </a:r>
          </a:p>
          <a:p>
            <a:pPr marL="0" indent="0">
              <a:buNone/>
            </a:pPr>
            <a:r>
              <a:rPr lang="en-US" dirty="0"/>
              <a:t>3️⃣ </a:t>
            </a:r>
            <a:r>
              <a:rPr lang="en-US" b="1" dirty="0"/>
              <a:t>No bribing or luring</a:t>
            </a:r>
            <a:br>
              <a:rPr lang="en-US" dirty="0"/>
            </a:br>
            <a:r>
              <a:rPr lang="en-US" dirty="0"/>
              <a:t>They </a:t>
            </a:r>
            <a:r>
              <a:rPr lang="en-US" b="1" dirty="0"/>
              <a:t>cannot</a:t>
            </a:r>
            <a:r>
              <a:rPr lang="en-US" dirty="0"/>
              <a:t> offer advantages or benefits to convince someone to join or leave a union.</a:t>
            </a:r>
          </a:p>
          <a:p>
            <a:pPr marL="0" indent="0">
              <a:buNone/>
            </a:pPr>
            <a:r>
              <a:rPr lang="en-US" dirty="0"/>
              <a:t>4️⃣ </a:t>
            </a:r>
            <a:r>
              <a:rPr lang="en-US" b="1" dirty="0"/>
              <a:t>No forced payments</a:t>
            </a:r>
            <a:br>
              <a:rPr lang="en-US" dirty="0"/>
            </a:br>
            <a:r>
              <a:rPr lang="en-US" dirty="0"/>
              <a:t>No one can be forced or threatened to pay (or not pay) union fees.</a:t>
            </a:r>
          </a:p>
          <a:p>
            <a:pPr marL="0" indent="0">
              <a:buNone/>
            </a:pPr>
            <a:endParaRPr lang="en-US" dirty="0"/>
          </a:p>
        </p:txBody>
      </p:sp>
      <p:sp>
        <p:nvSpPr>
          <p:cNvPr id="2" name="Title 1">
            <a:extLst>
              <a:ext uri="{FF2B5EF4-FFF2-40B4-BE49-F238E27FC236}">
                <a16:creationId xmlns:a16="http://schemas.microsoft.com/office/drawing/2014/main" id="{3DF06746-28A9-0A52-0B8C-9B5E5FE175FF}"/>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196. Unfair labour practices by workers</a:t>
            </a:r>
          </a:p>
        </p:txBody>
      </p:sp>
    </p:spTree>
    <p:extLst>
      <p:ext uri="{BB962C8B-B14F-4D97-AF65-F5344CB8AC3E}">
        <p14:creationId xmlns:p14="http://schemas.microsoft.com/office/powerpoint/2010/main" val="154450459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471BA-047A-1D7A-205E-BBD2A4E88FB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0A1DF1-EE10-27D3-BD9C-7CC03F0720AD}"/>
              </a:ext>
            </a:extLst>
          </p:cNvPr>
          <p:cNvSpPr>
            <a:spLocks noGrp="1"/>
          </p:cNvSpPr>
          <p:nvPr>
            <p:ph idx="1"/>
          </p:nvPr>
        </p:nvSpPr>
        <p:spPr>
          <a:xfrm>
            <a:off x="753979" y="1351320"/>
            <a:ext cx="10515600" cy="5097605"/>
          </a:xfrm>
        </p:spPr>
        <p:txBody>
          <a:bodyPr>
            <a:normAutofit lnSpcReduction="10000"/>
          </a:bodyPr>
          <a:lstStyle/>
          <a:p>
            <a:pPr marL="0" indent="0">
              <a:buNone/>
            </a:pPr>
            <a:r>
              <a:rPr lang="en-US" dirty="0"/>
              <a:t>5️⃣ </a:t>
            </a:r>
            <a:r>
              <a:rPr lang="en-US" b="1" dirty="0"/>
              <a:t>No forcing employers</a:t>
            </a:r>
            <a:br>
              <a:rPr lang="en-US" dirty="0"/>
            </a:br>
            <a:r>
              <a:rPr lang="en-US" dirty="0"/>
              <a:t>Workers and unions </a:t>
            </a:r>
            <a:r>
              <a:rPr lang="en-US" b="1" dirty="0"/>
              <a:t>cannot</a:t>
            </a:r>
            <a:r>
              <a:rPr lang="en-US" dirty="0"/>
              <a:t> use threats, force, or pressure to make an employer sign agreements or accept demands.</a:t>
            </a:r>
          </a:p>
          <a:p>
            <a:pPr marL="0" indent="0">
              <a:buNone/>
            </a:pPr>
            <a:r>
              <a:rPr lang="en-US" dirty="0"/>
              <a:t>6️⃣ </a:t>
            </a:r>
            <a:r>
              <a:rPr lang="en-US" b="1" dirty="0"/>
              <a:t>No illegal strikes or slowdowns</a:t>
            </a:r>
            <a:br>
              <a:rPr lang="en-US" dirty="0"/>
            </a:br>
            <a:r>
              <a:rPr lang="en-US" dirty="0"/>
              <a:t>Workers </a:t>
            </a:r>
            <a:r>
              <a:rPr lang="en-US" b="1" dirty="0"/>
              <a:t>cannot</a:t>
            </a:r>
            <a:r>
              <a:rPr lang="en-US" dirty="0"/>
              <a:t> start or continue an illegal strike or "go-slow" (intentionally working very slowly), or force others to join.</a:t>
            </a:r>
          </a:p>
          <a:p>
            <a:pPr marL="0" indent="0">
              <a:buNone/>
            </a:pPr>
            <a:r>
              <a:rPr lang="en-US" dirty="0"/>
              <a:t>7️⃣ </a:t>
            </a:r>
            <a:r>
              <a:rPr lang="en-US" b="1" dirty="0"/>
              <a:t>No gherao or violence</a:t>
            </a:r>
            <a:br>
              <a:rPr lang="en-US" dirty="0"/>
            </a:br>
            <a:r>
              <a:rPr lang="en-US" dirty="0"/>
              <a:t>They </a:t>
            </a:r>
            <a:r>
              <a:rPr lang="en-US" b="1" dirty="0"/>
              <a:t>cannot</a:t>
            </a:r>
            <a:r>
              <a:rPr lang="en-US" dirty="0"/>
              <a:t> block transport, communication, or damage property to push union demands.</a:t>
            </a:r>
          </a:p>
          <a:p>
            <a:pPr marL="0" indent="0">
              <a:buNone/>
            </a:pPr>
            <a:r>
              <a:rPr lang="en-US" dirty="0"/>
              <a:t>8️⃣ </a:t>
            </a:r>
            <a:r>
              <a:rPr lang="en-US" b="1" dirty="0"/>
              <a:t>No election interference</a:t>
            </a:r>
            <a:br>
              <a:rPr lang="en-US" dirty="0"/>
            </a:br>
            <a:r>
              <a:rPr lang="en-US" dirty="0"/>
              <a:t>Unions </a:t>
            </a:r>
            <a:r>
              <a:rPr lang="en-US" b="1" dirty="0"/>
              <a:t>cannot</a:t>
            </a:r>
            <a:r>
              <a:rPr lang="en-US" dirty="0"/>
              <a:t> interfere with worker representative elections (like committee elections) using threats, bribes, impersonation, or any other trick.</a:t>
            </a:r>
          </a:p>
          <a:p>
            <a:pPr marL="0" indent="0">
              <a:buNone/>
            </a:pPr>
            <a:endParaRPr lang="en-US" dirty="0"/>
          </a:p>
        </p:txBody>
      </p:sp>
      <p:sp>
        <p:nvSpPr>
          <p:cNvPr id="2" name="Title 1">
            <a:extLst>
              <a:ext uri="{FF2B5EF4-FFF2-40B4-BE49-F238E27FC236}">
                <a16:creationId xmlns:a16="http://schemas.microsoft.com/office/drawing/2014/main" id="{F13CF56D-3939-8FD9-391B-3421A60025CC}"/>
              </a:ext>
            </a:extLst>
          </p:cNvPr>
          <p:cNvSpPr>
            <a:spLocks noGrp="1"/>
          </p:cNvSpPr>
          <p:nvPr>
            <p:ph type="ctrTitle" idx="4294967295"/>
          </p:nvPr>
        </p:nvSpPr>
        <p:spPr>
          <a:xfrm>
            <a:off x="0" y="212725"/>
            <a:ext cx="9640888" cy="893763"/>
          </a:xfrm>
          <a:prstGeom prst="rect">
            <a:avLst/>
          </a:prstGeom>
        </p:spPr>
        <p:txBody>
          <a:bodyPr/>
          <a:lstStyle/>
          <a:p>
            <a:r>
              <a:rPr lang="en-GB" sz="3200" b="1" dirty="0">
                <a:solidFill>
                  <a:schemeClr val="bg1"/>
                </a:solidFill>
                <a:latin typeface="Bell MT" panose="02020503060305020303" pitchFamily="18" charset="0"/>
              </a:rPr>
              <a:t>196 Unfair labour practices by workers…</a:t>
            </a:r>
          </a:p>
        </p:txBody>
      </p:sp>
    </p:spTree>
    <p:extLst>
      <p:ext uri="{BB962C8B-B14F-4D97-AF65-F5344CB8AC3E}">
        <p14:creationId xmlns:p14="http://schemas.microsoft.com/office/powerpoint/2010/main" val="116217981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AEA72-C2F7-F9BD-9A5B-B43727C388E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48535C-0632-6487-10BB-DC5585C014D2}"/>
              </a:ext>
            </a:extLst>
          </p:cNvPr>
          <p:cNvSpPr>
            <a:spLocks noGrp="1"/>
          </p:cNvSpPr>
          <p:nvPr>
            <p:ph idx="1"/>
          </p:nvPr>
        </p:nvSpPr>
        <p:spPr>
          <a:xfrm>
            <a:off x="753979" y="1351320"/>
            <a:ext cx="10515600" cy="5097605"/>
          </a:xfrm>
        </p:spPr>
        <p:txBody>
          <a:bodyPr>
            <a:normAutofit fontScale="85000" lnSpcReduction="20000"/>
          </a:bodyPr>
          <a:lstStyle/>
          <a:p>
            <a:pPr marL="0" indent="0" algn="just">
              <a:buNone/>
            </a:pPr>
            <a:r>
              <a:rPr lang="en-US" dirty="0"/>
              <a:t>Nasima has been working as a quality inspector at a knitwear factory in Gazipur for the past six years. In late June, she applied in writing for 10 days of annual leave to attend her brother’s wedding in Rangpur, providing her temporary address during the leave period. She submitted her application 15 days in advance. However, her supervisor ignored the application and gave no response even after repeated reminders. Two days before the planned leave date, Nasima verbally informed the HR officer about her situation, but HR simply said, “The manager is busy.”</a:t>
            </a:r>
          </a:p>
          <a:p>
            <a:pPr marL="0" indent="0" algn="just">
              <a:buNone/>
            </a:pPr>
            <a:r>
              <a:rPr lang="en-US" dirty="0"/>
              <a:t>Frustrated and without a formal decision, Nasima left for Rangpur to attend the wedding. Upon returning, she discovered that her absence had been marked as “unauthorized leave,” and her salary for the entire month had been deducted. The factory management also issued her a warning letter for misconduct, stating that she had “abandoned her duties without permission.” Nasima argues that she followed the proper leave application process and that the employer failed to respond in time. She now wants to know if her employer acted lawfully and what remedies are available to her under the </a:t>
            </a:r>
            <a:r>
              <a:rPr lang="en-US" dirty="0" err="1"/>
              <a:t>Labour</a:t>
            </a:r>
            <a:r>
              <a:rPr lang="en-US" dirty="0"/>
              <a:t> Act 2006.</a:t>
            </a:r>
          </a:p>
          <a:p>
            <a:pPr marL="0" indent="0">
              <a:buNone/>
            </a:pPr>
            <a:r>
              <a:rPr lang="en-US" b="1" dirty="0"/>
              <a:t>Question:</a:t>
            </a:r>
            <a:br>
              <a:rPr lang="en-US" dirty="0"/>
            </a:br>
            <a:r>
              <a:rPr lang="en-US" dirty="0"/>
              <a:t>Was the employer’s refusal (by silence and verbal dismissal) lawful under Section 10 of the </a:t>
            </a:r>
            <a:r>
              <a:rPr lang="en-US" dirty="0" err="1"/>
              <a:t>Labour</a:t>
            </a:r>
            <a:r>
              <a:rPr lang="en-US" dirty="0"/>
              <a:t> Act 2006? What legal remedies can Nasima pursue in this case?</a:t>
            </a:r>
          </a:p>
          <a:p>
            <a:pPr marL="0" indent="0">
              <a:buNone/>
            </a:pPr>
            <a:endParaRPr lang="en-US" dirty="0"/>
          </a:p>
        </p:txBody>
      </p:sp>
      <p:sp>
        <p:nvSpPr>
          <p:cNvPr id="2" name="Title 1">
            <a:extLst>
              <a:ext uri="{FF2B5EF4-FFF2-40B4-BE49-F238E27FC236}">
                <a16:creationId xmlns:a16="http://schemas.microsoft.com/office/drawing/2014/main" id="{FCB08984-8ADA-13A5-CA96-C2EC4672B691}"/>
              </a:ext>
            </a:extLst>
          </p:cNvPr>
          <p:cNvSpPr>
            <a:spLocks noGrp="1"/>
          </p:cNvSpPr>
          <p:nvPr>
            <p:ph type="ctrTitle" idx="4294967295"/>
          </p:nvPr>
        </p:nvSpPr>
        <p:spPr>
          <a:xfrm>
            <a:off x="1205344" y="316634"/>
            <a:ext cx="8435543" cy="701675"/>
          </a:xfrm>
          <a:prstGeom prst="rect">
            <a:avLst/>
          </a:prstGeom>
        </p:spPr>
        <p:txBody>
          <a:bodyPr/>
          <a:lstStyle/>
          <a:p>
            <a:r>
              <a:rPr lang="en-GB" sz="3200" b="1" dirty="0">
                <a:solidFill>
                  <a:schemeClr val="bg1"/>
                </a:solidFill>
                <a:latin typeface="Bell MT" panose="02020503060305020303" pitchFamily="18" charset="0"/>
              </a:rPr>
              <a:t>Practice Case 1</a:t>
            </a:r>
          </a:p>
        </p:txBody>
      </p:sp>
    </p:spTree>
    <p:extLst>
      <p:ext uri="{BB962C8B-B14F-4D97-AF65-F5344CB8AC3E}">
        <p14:creationId xmlns:p14="http://schemas.microsoft.com/office/powerpoint/2010/main" val="329709617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62061-0B36-6AE8-83BB-CB60E57607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5C01D7-89B8-BC53-6DA8-977F1683201E}"/>
              </a:ext>
            </a:extLst>
          </p:cNvPr>
          <p:cNvSpPr>
            <a:spLocks noGrp="1"/>
          </p:cNvSpPr>
          <p:nvPr>
            <p:ph idx="1"/>
          </p:nvPr>
        </p:nvSpPr>
        <p:spPr>
          <a:xfrm>
            <a:off x="753979" y="1351320"/>
            <a:ext cx="10515600" cy="5097605"/>
          </a:xfrm>
        </p:spPr>
        <p:txBody>
          <a:bodyPr>
            <a:normAutofit fontScale="92500" lnSpcReduction="20000"/>
          </a:bodyPr>
          <a:lstStyle/>
          <a:p>
            <a:pPr marL="0" indent="0">
              <a:buNone/>
            </a:pPr>
            <a:r>
              <a:rPr lang="en-US" dirty="0"/>
              <a:t>Jalal has been working as a permanent worker in a textile mill in Narayanganj for the past 5 years, and his name is on the muster roll. In February, due to machinery breakdown and shortage of imported raw materials, the mill management announced a temporary lay-off of 60 days. Jalal and several other workers were told not to report for work during this period. </a:t>
            </a:r>
          </a:p>
          <a:p>
            <a:pPr marL="0" indent="0">
              <a:buNone/>
            </a:pPr>
            <a:r>
              <a:rPr lang="en-US" dirty="0"/>
              <a:t>According to his pay slip, Jalal’s monthly salary includes a basic wage of 12,000 BDT, a dearness allowance of 3,000 BDT, and a housing allowance of 2,000 BDT, totaling 17,000 BDT per month. During the lay-off, the employer promised assistance but did not clarify how much compensation would be paid. At the end of the 60 days, Jalal received only 10,000 BDT as a lump sum “goodwill payment.” He believes this is less than what he is legally entitled to. Jalal now wants to know how much compensation he is entitled to receive.</a:t>
            </a:r>
          </a:p>
          <a:p>
            <a:pPr marL="0" indent="0">
              <a:buNone/>
            </a:pPr>
            <a:r>
              <a:rPr lang="en-US" b="1" dirty="0"/>
              <a:t>Question:</a:t>
            </a:r>
            <a:br>
              <a:rPr lang="en-US" dirty="0"/>
            </a:br>
            <a:r>
              <a:rPr lang="en-US" dirty="0"/>
              <a:t>How much compensation is Jalal legally entitled to for the 60-day lay-off? Did the employer comply with Section 16 of the </a:t>
            </a:r>
            <a:r>
              <a:rPr lang="en-US" dirty="0" err="1"/>
              <a:t>Labour</a:t>
            </a:r>
            <a:r>
              <a:rPr lang="en-US" dirty="0"/>
              <a:t> Act 2006?</a:t>
            </a:r>
          </a:p>
          <a:p>
            <a:pPr marL="0" indent="0">
              <a:buNone/>
            </a:pPr>
            <a:endParaRPr lang="en-US" dirty="0"/>
          </a:p>
        </p:txBody>
      </p:sp>
      <p:sp>
        <p:nvSpPr>
          <p:cNvPr id="2" name="Title 1">
            <a:extLst>
              <a:ext uri="{FF2B5EF4-FFF2-40B4-BE49-F238E27FC236}">
                <a16:creationId xmlns:a16="http://schemas.microsoft.com/office/drawing/2014/main" id="{DF25C4B1-8A90-0A5F-9625-08136766AD00}"/>
              </a:ext>
            </a:extLst>
          </p:cNvPr>
          <p:cNvSpPr>
            <a:spLocks noGrp="1"/>
          </p:cNvSpPr>
          <p:nvPr>
            <p:ph type="ctrTitle" idx="4294967295"/>
          </p:nvPr>
        </p:nvSpPr>
        <p:spPr>
          <a:xfrm>
            <a:off x="1205344" y="316634"/>
            <a:ext cx="8435543" cy="701675"/>
          </a:xfrm>
          <a:prstGeom prst="rect">
            <a:avLst/>
          </a:prstGeom>
        </p:spPr>
        <p:txBody>
          <a:bodyPr/>
          <a:lstStyle/>
          <a:p>
            <a:r>
              <a:rPr lang="en-GB" sz="3200" b="1" dirty="0">
                <a:solidFill>
                  <a:schemeClr val="bg1"/>
                </a:solidFill>
                <a:latin typeface="Bell MT" panose="02020503060305020303" pitchFamily="18" charset="0"/>
              </a:rPr>
              <a:t>Practice Case 2 </a:t>
            </a:r>
          </a:p>
        </p:txBody>
      </p:sp>
    </p:spTree>
    <p:extLst>
      <p:ext uri="{BB962C8B-B14F-4D97-AF65-F5344CB8AC3E}">
        <p14:creationId xmlns:p14="http://schemas.microsoft.com/office/powerpoint/2010/main" val="288021805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B81E8-D7DF-D15F-8492-866976924B5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E5981B-5897-B310-FBD9-03D24747A821}"/>
              </a:ext>
            </a:extLst>
          </p:cNvPr>
          <p:cNvSpPr>
            <a:spLocks noGrp="1"/>
          </p:cNvSpPr>
          <p:nvPr>
            <p:ph idx="1"/>
          </p:nvPr>
        </p:nvSpPr>
        <p:spPr>
          <a:xfrm>
            <a:off x="753979" y="1351320"/>
            <a:ext cx="10515600" cy="5097605"/>
          </a:xfrm>
        </p:spPr>
        <p:txBody>
          <a:bodyPr>
            <a:normAutofit fontScale="92500" lnSpcReduction="20000"/>
          </a:bodyPr>
          <a:lstStyle/>
          <a:p>
            <a:pPr marL="0" indent="0">
              <a:buNone/>
            </a:pPr>
            <a:r>
              <a:rPr lang="en-US" dirty="0"/>
              <a:t>Abdul Karim had been working as a permanent boiler operator in a large dyeing factory in Gazipur for 5 years. His monthly wage package consisted of a basic wage of </a:t>
            </a:r>
            <a:r>
              <a:rPr lang="en-US" b="1" dirty="0"/>
              <a:t>14,000 BDT</a:t>
            </a:r>
            <a:r>
              <a:rPr lang="en-US" dirty="0"/>
              <a:t>, a dearness allowance of </a:t>
            </a:r>
            <a:r>
              <a:rPr lang="en-US" b="1" dirty="0"/>
              <a:t>4,000 BDT</a:t>
            </a:r>
            <a:r>
              <a:rPr lang="en-US" dirty="0"/>
              <a:t>, and a housing allowance of </a:t>
            </a:r>
            <a:r>
              <a:rPr lang="en-US" b="1" dirty="0"/>
              <a:t>2,000 BDT</a:t>
            </a:r>
            <a:r>
              <a:rPr lang="en-US" dirty="0"/>
              <a:t>. Karim was well-regarded for his reliability and had no break in service during these 5 years. </a:t>
            </a:r>
          </a:p>
          <a:p>
            <a:pPr marL="0" indent="0">
              <a:buNone/>
            </a:pPr>
            <a:r>
              <a:rPr lang="en-US" dirty="0"/>
              <a:t>One morning, while on duty, an unexpected boiler blast occurred in the factory, and Karim died on the spot. His wife approached the factory management for compensation. The factory owner expressed condolences and offered to pay a lump sum of </a:t>
            </a:r>
            <a:r>
              <a:rPr lang="en-US" b="1" dirty="0"/>
              <a:t>100,000 BDT</a:t>
            </a:r>
            <a:r>
              <a:rPr lang="en-US" dirty="0"/>
              <a:t> as support. However, Karim’s wife insisted that under the </a:t>
            </a:r>
            <a:r>
              <a:rPr lang="en-US" dirty="0" err="1"/>
              <a:t>Labour</a:t>
            </a:r>
            <a:r>
              <a:rPr lang="en-US" dirty="0"/>
              <a:t> Act, she was entitled to proper compensation. The HR manager argued that 100,000 BDT was fair support, but some senior colleagues reminded management that Section 19 of the </a:t>
            </a:r>
            <a:r>
              <a:rPr lang="en-US" dirty="0" err="1"/>
              <a:t>Labour</a:t>
            </a:r>
            <a:r>
              <a:rPr lang="en-US" dirty="0"/>
              <a:t> Act 2006 required a specific calculation.</a:t>
            </a:r>
          </a:p>
          <a:p>
            <a:pPr marL="0" indent="0">
              <a:buNone/>
            </a:pPr>
            <a:r>
              <a:rPr lang="en-US" b="1" dirty="0"/>
              <a:t>Question</a:t>
            </a:r>
            <a:br>
              <a:rPr lang="en-US" dirty="0"/>
            </a:br>
            <a:r>
              <a:rPr lang="en-US" dirty="0"/>
              <a:t>How much compensation is Abdul Karim’s nominee entitled to under Section 19 of the Bangladesh </a:t>
            </a:r>
            <a:r>
              <a:rPr lang="en-US" dirty="0" err="1"/>
              <a:t>Labour</a:t>
            </a:r>
            <a:r>
              <a:rPr lang="en-US" dirty="0"/>
              <a:t> Act 2006? Was the employer’s offer of 100,000 BDT lawful?</a:t>
            </a:r>
          </a:p>
        </p:txBody>
      </p:sp>
      <p:sp>
        <p:nvSpPr>
          <p:cNvPr id="2" name="Title 1">
            <a:extLst>
              <a:ext uri="{FF2B5EF4-FFF2-40B4-BE49-F238E27FC236}">
                <a16:creationId xmlns:a16="http://schemas.microsoft.com/office/drawing/2014/main" id="{2EA3AC90-5286-5C19-8DBF-95506D847B16}"/>
              </a:ext>
            </a:extLst>
          </p:cNvPr>
          <p:cNvSpPr>
            <a:spLocks noGrp="1"/>
          </p:cNvSpPr>
          <p:nvPr>
            <p:ph type="ctrTitle" idx="4294967295"/>
          </p:nvPr>
        </p:nvSpPr>
        <p:spPr>
          <a:xfrm>
            <a:off x="1205344" y="316634"/>
            <a:ext cx="8435543" cy="701675"/>
          </a:xfrm>
          <a:prstGeom prst="rect">
            <a:avLst/>
          </a:prstGeom>
        </p:spPr>
        <p:txBody>
          <a:bodyPr/>
          <a:lstStyle/>
          <a:p>
            <a:r>
              <a:rPr lang="en-GB" sz="3200" b="1" dirty="0">
                <a:solidFill>
                  <a:schemeClr val="bg1"/>
                </a:solidFill>
                <a:latin typeface="Bell MT" panose="02020503060305020303" pitchFamily="18" charset="0"/>
              </a:rPr>
              <a:t>Practice Case 3 </a:t>
            </a:r>
          </a:p>
        </p:txBody>
      </p:sp>
    </p:spTree>
    <p:extLst>
      <p:ext uri="{BB962C8B-B14F-4D97-AF65-F5344CB8AC3E}">
        <p14:creationId xmlns:p14="http://schemas.microsoft.com/office/powerpoint/2010/main" val="241293322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BA629-D7D4-C6C9-F1A5-7D1393B00C8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1C7067-00F3-D41C-2364-A7A675D6B28E}"/>
              </a:ext>
            </a:extLst>
          </p:cNvPr>
          <p:cNvSpPr>
            <a:spLocks noGrp="1"/>
          </p:cNvSpPr>
          <p:nvPr>
            <p:ph idx="1"/>
          </p:nvPr>
        </p:nvSpPr>
        <p:spPr>
          <a:xfrm>
            <a:off x="753979" y="1351320"/>
            <a:ext cx="10515600" cy="5097605"/>
          </a:xfrm>
        </p:spPr>
        <p:txBody>
          <a:bodyPr>
            <a:normAutofit fontScale="92500" lnSpcReduction="10000"/>
          </a:bodyPr>
          <a:lstStyle/>
          <a:p>
            <a:pPr marL="0" indent="0" algn="just">
              <a:buNone/>
            </a:pPr>
            <a:r>
              <a:rPr lang="en-US" dirty="0"/>
              <a:t>Selim worked as a permanent loom operator in a textile mill in Narayanganj for 3 years. In early March, the mill faced a sudden drop in export orders, and management decided to reduce the workforce. On the morning of March 5, Selim was called by the HR manager and told verbally that his service was no longer required and that he should leave immediately. </a:t>
            </a:r>
          </a:p>
          <a:p>
            <a:pPr marL="0" indent="0" algn="just">
              <a:buNone/>
            </a:pPr>
            <a:r>
              <a:rPr lang="en-US" dirty="0"/>
              <a:t>At the end of March, Selim received a payment slip showing only his regular salary for the days worked until termination. Selim’s monthly wage, including allowances, was </a:t>
            </a:r>
            <a:r>
              <a:rPr lang="en-US" b="1" dirty="0"/>
              <a:t>18,000 BDT</a:t>
            </a:r>
            <a:r>
              <a:rPr lang="en-US" dirty="0"/>
              <a:t>. He complained that his termination was sudden, unlawful, and left him financially stranded. Selim now wants to know what legal compensation he is entitled to receive.</a:t>
            </a:r>
          </a:p>
          <a:p>
            <a:pPr marL="0" indent="0">
              <a:buNone/>
            </a:pPr>
            <a:r>
              <a:rPr lang="en-US" b="1" dirty="0"/>
              <a:t>Question:</a:t>
            </a:r>
            <a:br>
              <a:rPr lang="en-US" dirty="0"/>
            </a:br>
            <a:r>
              <a:rPr lang="en-US" dirty="0"/>
              <a:t>What are Selim’s legal entitlements under Section 20 of the </a:t>
            </a:r>
            <a:r>
              <a:rPr lang="en-US" dirty="0" err="1"/>
              <a:t>Labour</a:t>
            </a:r>
            <a:r>
              <a:rPr lang="en-US" dirty="0"/>
              <a:t> Act 2006, and how much compensation should he receive for 3 years of service in his case?</a:t>
            </a:r>
          </a:p>
          <a:p>
            <a:pPr marL="0" indent="0">
              <a:buNone/>
            </a:pPr>
            <a:endParaRPr lang="en-US" dirty="0"/>
          </a:p>
        </p:txBody>
      </p:sp>
      <p:sp>
        <p:nvSpPr>
          <p:cNvPr id="2" name="Title 1">
            <a:extLst>
              <a:ext uri="{FF2B5EF4-FFF2-40B4-BE49-F238E27FC236}">
                <a16:creationId xmlns:a16="http://schemas.microsoft.com/office/drawing/2014/main" id="{890BF6AA-B620-546F-F6B9-CA4F04364A0B}"/>
              </a:ext>
            </a:extLst>
          </p:cNvPr>
          <p:cNvSpPr>
            <a:spLocks noGrp="1"/>
          </p:cNvSpPr>
          <p:nvPr>
            <p:ph type="ctrTitle" idx="4294967295"/>
          </p:nvPr>
        </p:nvSpPr>
        <p:spPr>
          <a:xfrm>
            <a:off x="1205344" y="316634"/>
            <a:ext cx="8435543" cy="701675"/>
          </a:xfrm>
          <a:prstGeom prst="rect">
            <a:avLst/>
          </a:prstGeom>
        </p:spPr>
        <p:txBody>
          <a:bodyPr/>
          <a:lstStyle/>
          <a:p>
            <a:r>
              <a:rPr lang="en-GB" sz="3200" b="1" dirty="0">
                <a:solidFill>
                  <a:schemeClr val="bg1"/>
                </a:solidFill>
                <a:latin typeface="Bell MT" panose="02020503060305020303" pitchFamily="18" charset="0"/>
              </a:rPr>
              <a:t>Practice Case 4 </a:t>
            </a:r>
          </a:p>
        </p:txBody>
      </p:sp>
    </p:spTree>
    <p:extLst>
      <p:ext uri="{BB962C8B-B14F-4D97-AF65-F5344CB8AC3E}">
        <p14:creationId xmlns:p14="http://schemas.microsoft.com/office/powerpoint/2010/main" val="428381099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BD21-3342-5238-05E3-DD554C981B2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232AA8-D5CB-2023-89C9-ED86BF580DB1}"/>
              </a:ext>
            </a:extLst>
          </p:cNvPr>
          <p:cNvSpPr>
            <a:spLocks noGrp="1"/>
          </p:cNvSpPr>
          <p:nvPr>
            <p:ph idx="1"/>
          </p:nvPr>
        </p:nvSpPr>
        <p:spPr>
          <a:xfrm>
            <a:off x="753979" y="1351320"/>
            <a:ext cx="10515600" cy="5097605"/>
          </a:xfrm>
        </p:spPr>
        <p:txBody>
          <a:bodyPr>
            <a:normAutofit fontScale="85000" lnSpcReduction="20000"/>
          </a:bodyPr>
          <a:lstStyle/>
          <a:p>
            <a:pPr marL="0" indent="0" algn="just">
              <a:buNone/>
            </a:pPr>
            <a:r>
              <a:rPr lang="en-US" dirty="0"/>
              <a:t>Shahadat has been working as a machine operator in a dyeing factory in Narayanganj for 12 years. Over time, he built a reputation for being skilled but somewhat short-tempered. Last month, during a heated dispute about faulty fabrics, Shahadat shouted at his supervisor and refused to follow a direct instruction to shut down a malfunctioning machine. Two days later, the supervisor reported him for “willful disobedience.” The management suspended Shahadat immediately and began an inquiry. During the inquiry, Shahadat admitted that he had disobeyed the order but argued that he did so because shutting down the machine at that stage would have destroyed fabrics worth several lakhs of taka. He claimed he was protecting the company’s interests. However, the inquiry committee (with representatives from both employer and workers) still found him guilty of misconduct. The factory management, citing Section 23 of the </a:t>
            </a:r>
            <a:r>
              <a:rPr lang="en-US" dirty="0" err="1"/>
              <a:t>Labour</a:t>
            </a:r>
            <a:r>
              <a:rPr lang="en-US" dirty="0"/>
              <a:t> Act 2006, dismissed Shahadat without notice or compensation. Shahadat feels this is unfair, considering his 12 years of service and the circumstances under which he disobeyed the order. He now seeks advice on whether the dismissal was lawful or if he still has rights under the Act.</a:t>
            </a:r>
          </a:p>
          <a:p>
            <a:pPr marL="0" indent="0">
              <a:buNone/>
            </a:pPr>
            <a:r>
              <a:rPr lang="en-US" b="1" dirty="0"/>
              <a:t>Question:</a:t>
            </a:r>
            <a:br>
              <a:rPr lang="en-US" dirty="0"/>
            </a:br>
            <a:r>
              <a:rPr lang="en-US" dirty="0"/>
              <a:t>Was Shahadat’s dismissal lawful under the Bangladesh </a:t>
            </a:r>
            <a:r>
              <a:rPr lang="en-US" dirty="0" err="1"/>
              <a:t>Labour</a:t>
            </a:r>
            <a:r>
              <a:rPr lang="en-US" dirty="0"/>
              <a:t> Act 2006? What remedies, if any, are available to him?</a:t>
            </a:r>
          </a:p>
          <a:p>
            <a:pPr marL="0" indent="0">
              <a:buNone/>
            </a:pPr>
            <a:endParaRPr lang="en-US" dirty="0"/>
          </a:p>
        </p:txBody>
      </p:sp>
      <p:sp>
        <p:nvSpPr>
          <p:cNvPr id="2" name="Title 1">
            <a:extLst>
              <a:ext uri="{FF2B5EF4-FFF2-40B4-BE49-F238E27FC236}">
                <a16:creationId xmlns:a16="http://schemas.microsoft.com/office/drawing/2014/main" id="{33C0C569-237F-7CB6-7DE6-5BBFD3E573D4}"/>
              </a:ext>
            </a:extLst>
          </p:cNvPr>
          <p:cNvSpPr>
            <a:spLocks noGrp="1"/>
          </p:cNvSpPr>
          <p:nvPr>
            <p:ph type="ctrTitle" idx="4294967295"/>
          </p:nvPr>
        </p:nvSpPr>
        <p:spPr>
          <a:xfrm>
            <a:off x="1205344" y="316634"/>
            <a:ext cx="8435543" cy="701675"/>
          </a:xfrm>
          <a:prstGeom prst="rect">
            <a:avLst/>
          </a:prstGeom>
        </p:spPr>
        <p:txBody>
          <a:bodyPr/>
          <a:lstStyle/>
          <a:p>
            <a:r>
              <a:rPr lang="en-GB" sz="3200" b="1" dirty="0">
                <a:solidFill>
                  <a:schemeClr val="bg1"/>
                </a:solidFill>
                <a:latin typeface="Bell MT" panose="02020503060305020303" pitchFamily="18" charset="0"/>
              </a:rPr>
              <a:t>Practice Case 5 </a:t>
            </a:r>
          </a:p>
        </p:txBody>
      </p:sp>
    </p:spTree>
    <p:extLst>
      <p:ext uri="{BB962C8B-B14F-4D97-AF65-F5344CB8AC3E}">
        <p14:creationId xmlns:p14="http://schemas.microsoft.com/office/powerpoint/2010/main" val="376355090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8A6B6-C570-B90F-0F39-B2DF2B985A0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C063C0-09BA-E0A0-8F9B-4AB00230934C}"/>
              </a:ext>
            </a:extLst>
          </p:cNvPr>
          <p:cNvSpPr>
            <a:spLocks noGrp="1"/>
          </p:cNvSpPr>
          <p:nvPr>
            <p:ph idx="1"/>
          </p:nvPr>
        </p:nvSpPr>
        <p:spPr>
          <a:xfrm>
            <a:off x="753979" y="1351320"/>
            <a:ext cx="10515600" cy="5097605"/>
          </a:xfrm>
        </p:spPr>
        <p:txBody>
          <a:bodyPr>
            <a:normAutofit fontScale="92500" lnSpcReduction="10000"/>
          </a:bodyPr>
          <a:lstStyle/>
          <a:p>
            <a:pPr marL="0" indent="0">
              <a:buNone/>
            </a:pPr>
            <a:r>
              <a:rPr lang="en-US" dirty="0"/>
              <a:t>Farida had been working as a senior sewing operator in a large garment factory in </a:t>
            </a:r>
            <a:r>
              <a:rPr lang="en-US" dirty="0" err="1"/>
              <a:t>Ashulia</a:t>
            </a:r>
            <a:r>
              <a:rPr lang="en-US" dirty="0"/>
              <a:t> for the last 7 years. She was a monthly-rated permanent worker whose name was on the muster roll. In September, the factory management decided to reduce the senior staff to cut costs. On 10th September, Farida was suddenly called into the HR office and told that her employment was terminated with immediate effect. She was asked to leave the factory on the same day.</a:t>
            </a:r>
          </a:p>
          <a:p>
            <a:pPr marL="0" indent="0">
              <a:buNone/>
            </a:pPr>
            <a:r>
              <a:rPr lang="en-US" dirty="0"/>
              <a:t>Later, when she received her final dues slip, she saw only her salary for the first 10 days of September but no additional compensation. Farida’s monthly wage was </a:t>
            </a:r>
            <a:r>
              <a:rPr lang="en-US" b="1" dirty="0"/>
              <a:t>20,000 BDT</a:t>
            </a:r>
            <a:r>
              <a:rPr lang="en-US" dirty="0"/>
              <a:t>. Shocked by the sudden decision, she consulted some colleagues. Farida now wants to know how much she is legally entitled to.</a:t>
            </a:r>
          </a:p>
          <a:p>
            <a:pPr marL="0" indent="0">
              <a:buNone/>
            </a:pPr>
            <a:r>
              <a:rPr lang="en-US" b="1" dirty="0"/>
              <a:t>Question:</a:t>
            </a:r>
            <a:br>
              <a:rPr lang="en-US" dirty="0"/>
            </a:br>
            <a:r>
              <a:rPr lang="en-US" dirty="0"/>
              <a:t>What are Farida’s entitlements under Section 26 of the Bangladesh </a:t>
            </a:r>
            <a:r>
              <a:rPr lang="en-US" dirty="0" err="1"/>
              <a:t>Labour</a:t>
            </a:r>
            <a:r>
              <a:rPr lang="en-US" dirty="0"/>
              <a:t> Act 2006? How much compensation should she receive?</a:t>
            </a:r>
          </a:p>
        </p:txBody>
      </p:sp>
      <p:sp>
        <p:nvSpPr>
          <p:cNvPr id="2" name="Title 1">
            <a:extLst>
              <a:ext uri="{FF2B5EF4-FFF2-40B4-BE49-F238E27FC236}">
                <a16:creationId xmlns:a16="http://schemas.microsoft.com/office/drawing/2014/main" id="{DF379437-77CC-A684-0DAA-F7CF6B12FD35}"/>
              </a:ext>
            </a:extLst>
          </p:cNvPr>
          <p:cNvSpPr>
            <a:spLocks noGrp="1"/>
          </p:cNvSpPr>
          <p:nvPr>
            <p:ph type="ctrTitle" idx="4294967295"/>
          </p:nvPr>
        </p:nvSpPr>
        <p:spPr>
          <a:xfrm>
            <a:off x="1205344" y="316634"/>
            <a:ext cx="8435543" cy="701675"/>
          </a:xfrm>
          <a:prstGeom prst="rect">
            <a:avLst/>
          </a:prstGeom>
        </p:spPr>
        <p:txBody>
          <a:bodyPr/>
          <a:lstStyle/>
          <a:p>
            <a:r>
              <a:rPr lang="en-GB" sz="3200" b="1" dirty="0">
                <a:solidFill>
                  <a:schemeClr val="bg1"/>
                </a:solidFill>
                <a:latin typeface="Bell MT" panose="02020503060305020303" pitchFamily="18" charset="0"/>
              </a:rPr>
              <a:t>Practice </a:t>
            </a:r>
            <a:r>
              <a:rPr lang="en-GB" sz="3200" b="1">
                <a:solidFill>
                  <a:schemeClr val="bg1"/>
                </a:solidFill>
                <a:latin typeface="Bell MT" panose="02020503060305020303" pitchFamily="18" charset="0"/>
              </a:rPr>
              <a:t>Case 6 </a:t>
            </a:r>
            <a:endParaRPr lang="en-GB" sz="3200" b="1" dirty="0">
              <a:solidFill>
                <a:schemeClr val="bg1"/>
              </a:solidFill>
              <a:latin typeface="Bell MT" panose="02020503060305020303" pitchFamily="18" charset="0"/>
            </a:endParaRPr>
          </a:p>
        </p:txBody>
      </p:sp>
    </p:spTree>
    <p:extLst>
      <p:ext uri="{BB962C8B-B14F-4D97-AF65-F5344CB8AC3E}">
        <p14:creationId xmlns:p14="http://schemas.microsoft.com/office/powerpoint/2010/main" val="5868363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4700</TotalTime>
  <Words>9592</Words>
  <Application>Microsoft Office PowerPoint</Application>
  <PresentationFormat>Widescreen</PresentationFormat>
  <Paragraphs>548</Paragraphs>
  <Slides>93</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93</vt:i4>
      </vt:variant>
    </vt:vector>
  </HeadingPairs>
  <TitlesOfParts>
    <vt:vector size="101" baseType="lpstr">
      <vt:lpstr>Arial</vt:lpstr>
      <vt:lpstr>Bell MT</vt:lpstr>
      <vt:lpstr>Calibri</vt:lpstr>
      <vt:lpstr>Calibri Light</vt:lpstr>
      <vt:lpstr>Cooper Hewitt Bold</vt:lpstr>
      <vt:lpstr>Cooper Hewitt Italics</vt:lpstr>
      <vt:lpstr>Office Theme</vt:lpstr>
      <vt:lpstr>1_Office Theme</vt:lpstr>
      <vt:lpstr>PowerPoint Presentation</vt:lpstr>
      <vt:lpstr>Introduction &amp; Learning Objectives</vt:lpstr>
      <vt:lpstr>4. Classification of Workers and Probation Period</vt:lpstr>
      <vt:lpstr>4. Classification of Workers and Probation Period…</vt:lpstr>
      <vt:lpstr>6. Service Book</vt:lpstr>
      <vt:lpstr>6. Service Book…</vt:lpstr>
      <vt:lpstr>10. Procedure for Leave</vt:lpstr>
      <vt:lpstr>10. Procedure for Leave…</vt:lpstr>
      <vt:lpstr>11. Payment of Wages for Unavailed Leave</vt:lpstr>
      <vt:lpstr>16. Right of laid-off workers for compensation</vt:lpstr>
      <vt:lpstr>16. Right of laid-off workers for compensation…</vt:lpstr>
      <vt:lpstr>19. Compensation for Death</vt:lpstr>
      <vt:lpstr>20. Retrenchment</vt:lpstr>
      <vt:lpstr>20. Retrenchment…</vt:lpstr>
      <vt:lpstr>22. Discharge from service</vt:lpstr>
      <vt:lpstr>23. Punishment for Misconduct and Conviction</vt:lpstr>
      <vt:lpstr>23. Punishment for Misconduct and Conviction…</vt:lpstr>
      <vt:lpstr>23. Punishment for Misconduct and Conviction…</vt:lpstr>
      <vt:lpstr>26. Termination by employer</vt:lpstr>
      <vt:lpstr>26. Termination by employer…</vt:lpstr>
      <vt:lpstr>27. Termination by workers…</vt:lpstr>
      <vt:lpstr>27. Termination by workers…</vt:lpstr>
      <vt:lpstr>28. Retirement</vt:lpstr>
      <vt:lpstr>34. Employment of Children and Adolescent </vt:lpstr>
      <vt:lpstr>41. Working hour for adolescent</vt:lpstr>
      <vt:lpstr>41. Working hour for adolescent…</vt:lpstr>
      <vt:lpstr>51. Cleanliness</vt:lpstr>
      <vt:lpstr>51. Cleanliness…</vt:lpstr>
      <vt:lpstr>52. Ventilation and Temperature</vt:lpstr>
      <vt:lpstr>53. Dust and Fumes</vt:lpstr>
      <vt:lpstr>55. Artificial Humidification</vt:lpstr>
      <vt:lpstr>56. Overcrowding</vt:lpstr>
      <vt:lpstr>57. Lighting</vt:lpstr>
      <vt:lpstr>58. Potable Water</vt:lpstr>
      <vt:lpstr>59. Toilets and Washrooms</vt:lpstr>
      <vt:lpstr>60. Dustbins and Spittoons</vt:lpstr>
      <vt:lpstr>61. Safety of Building and Machinery</vt:lpstr>
      <vt:lpstr>62. Precaution as to fire</vt:lpstr>
      <vt:lpstr>62. Precaution as to fire…</vt:lpstr>
      <vt:lpstr>63. Fencing of Machinery</vt:lpstr>
      <vt:lpstr>67. Casing of new Machinery</vt:lpstr>
      <vt:lpstr>68. Cranes and other lifting machinery </vt:lpstr>
      <vt:lpstr>69. Hoists and lifts</vt:lpstr>
      <vt:lpstr>69. Hoists and lifts…</vt:lpstr>
      <vt:lpstr>72. Floors, stairs, and passage</vt:lpstr>
      <vt:lpstr>73. Pits, sumps, tunnel mouths, etc.</vt:lpstr>
      <vt:lpstr>77. Precautionary measures against dangerous fumes</vt:lpstr>
      <vt:lpstr>78. Explosive or inflammable gas, dust, etc.</vt:lpstr>
      <vt:lpstr>78. Explosive or inflammable gas, dust, etc…</vt:lpstr>
      <vt:lpstr>89. First-aid appliances</vt:lpstr>
      <vt:lpstr>89. First-aid appliances…</vt:lpstr>
      <vt:lpstr>91. Washing facilities</vt:lpstr>
      <vt:lpstr>92. Canteen</vt:lpstr>
      <vt:lpstr>93. Dining room</vt:lpstr>
      <vt:lpstr>94. Rooms for children</vt:lpstr>
      <vt:lpstr>94. Rooms for children…</vt:lpstr>
      <vt:lpstr>99. Introduction of group insurance</vt:lpstr>
      <vt:lpstr>99. Introduction of group insurance…</vt:lpstr>
      <vt:lpstr>100. Daily working hour</vt:lpstr>
      <vt:lpstr>101. Interval for rest and meal</vt:lpstr>
      <vt:lpstr>102. Weekly working hours</vt:lpstr>
      <vt:lpstr>103. Weekly holiday</vt:lpstr>
      <vt:lpstr>104. Compensatory weekly holiday</vt:lpstr>
      <vt:lpstr>106. Night shift</vt:lpstr>
      <vt:lpstr>108. Extra-allowance for overtime</vt:lpstr>
      <vt:lpstr>109/110</vt:lpstr>
      <vt:lpstr>114. Closure of shops etc.</vt:lpstr>
      <vt:lpstr>114. Closure of shops etc…</vt:lpstr>
      <vt:lpstr>115. Casual leave</vt:lpstr>
      <vt:lpstr>116. Sick leave</vt:lpstr>
      <vt:lpstr>117. Annual leave with wages</vt:lpstr>
      <vt:lpstr>117. Annual leave with wages…</vt:lpstr>
      <vt:lpstr>117. Annual leave with wages…</vt:lpstr>
      <vt:lpstr>120. Definition of Wage</vt:lpstr>
      <vt:lpstr>123. Time of payment of wages</vt:lpstr>
      <vt:lpstr>125. Deductions from wages</vt:lpstr>
      <vt:lpstr>125. Deductions from wages…</vt:lpstr>
      <vt:lpstr>150 Liability of employer to pay compensation</vt:lpstr>
      <vt:lpstr>176. Trade unions and workers</vt:lpstr>
      <vt:lpstr>176. Trade unions and workers…</vt:lpstr>
      <vt:lpstr>183. Trade unions in group of establishment</vt:lpstr>
      <vt:lpstr>183. Trade unions in group of establishment…</vt:lpstr>
      <vt:lpstr>183. Trade unions in group of establishment…</vt:lpstr>
      <vt:lpstr>195. Unfair labour practices by employer</vt:lpstr>
      <vt:lpstr>195. Unfair labour practices by employer…</vt:lpstr>
      <vt:lpstr>196. Unfair labour practices by workers</vt:lpstr>
      <vt:lpstr>196 Unfair labour practices by workers…</vt:lpstr>
      <vt:lpstr>Practice Case 1</vt:lpstr>
      <vt:lpstr>Practice Case 2 </vt:lpstr>
      <vt:lpstr>Practice Case 3 </vt:lpstr>
      <vt:lpstr>Practice Case 4 </vt:lpstr>
      <vt:lpstr>Practice Case 5 </vt:lpstr>
      <vt:lpstr>Practice Case 6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Badhan Das</dc:creator>
  <cp:lastModifiedBy>ASUS</cp:lastModifiedBy>
  <cp:revision>50</cp:revision>
  <dcterms:created xsi:type="dcterms:W3CDTF">2025-06-16T05:16:08Z</dcterms:created>
  <dcterms:modified xsi:type="dcterms:W3CDTF">2026-02-25T06:11:35Z</dcterms:modified>
</cp:coreProperties>
</file>